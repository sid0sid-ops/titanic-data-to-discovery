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81" r:id="rId11"/>
    <p:sldId id="265" r:id="rId12"/>
    <p:sldId id="266" r:id="rId13"/>
    <p:sldId id="276" r:id="rId14"/>
    <p:sldId id="267" r:id="rId15"/>
    <p:sldId id="268" r:id="rId16"/>
    <p:sldId id="269" r:id="rId17"/>
    <p:sldId id="270" r:id="rId18"/>
    <p:sldId id="271" r:id="rId19"/>
    <p:sldId id="272" r:id="rId20"/>
    <p:sldId id="273" r:id="rId21"/>
    <p:sldId id="274" r:id="rId22"/>
    <p:sldId id="275" r:id="rId23"/>
    <p:sldId id="277" r:id="rId24"/>
    <p:sldId id="278" r:id="rId25"/>
    <p:sldId id="279" r:id="rId26"/>
    <p:sldId id="280" r:id="rId27"/>
    <p:sldId id="285" r:id="rId28"/>
    <p:sldId id="283" r:id="rId29"/>
    <p:sldId id="284" r:id="rId30"/>
    <p:sldId id="286" r:id="rId31"/>
    <p:sldId id="287" r:id="rId32"/>
    <p:sldId id="282"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BDC283-CA55-4F48-BEF9-B76ACEF67D3B}" v="21" dt="2026-06-24T07:15:55.2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118" autoAdjust="0"/>
  </p:normalViewPr>
  <p:slideViewPr>
    <p:cSldViewPr snapToGrid="0">
      <p:cViewPr varScale="1">
        <p:scale>
          <a:sx n="77" d="100"/>
          <a:sy n="77" d="100"/>
        </p:scale>
        <p:origin x="91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ok Gopalakrishnan" userId="d8b748a0ad7c7b3a" providerId="LiveId" clId="{59FD0868-84F1-432F-883D-B36E85A19EB2}"/>
    <pc:docChg chg="undo custSel addSld delSld modSld sldOrd">
      <pc:chgData name="Ashok Gopalakrishnan" userId="d8b748a0ad7c7b3a" providerId="LiveId" clId="{59FD0868-84F1-432F-883D-B36E85A19EB2}" dt="2026-06-24T07:22:25.440" v="1224" actId="123"/>
      <pc:docMkLst>
        <pc:docMk/>
      </pc:docMkLst>
      <pc:sldChg chg="addSp delSp modSp add mod">
        <pc:chgData name="Ashok Gopalakrishnan" userId="d8b748a0ad7c7b3a" providerId="LiveId" clId="{59FD0868-84F1-432F-883D-B36E85A19EB2}" dt="2026-06-24T03:15:10.980" v="35" actId="20577"/>
        <pc:sldMkLst>
          <pc:docMk/>
          <pc:sldMk cId="2706735188" sldId="257"/>
        </pc:sldMkLst>
        <pc:spChg chg="del">
          <ac:chgData name="Ashok Gopalakrishnan" userId="d8b748a0ad7c7b3a" providerId="LiveId" clId="{59FD0868-84F1-432F-883D-B36E85A19EB2}" dt="2026-06-24T03:09:52.301" v="2" actId="478"/>
          <ac:spMkLst>
            <pc:docMk/>
            <pc:sldMk cId="2706735188" sldId="257"/>
            <ac:spMk id="3" creationId="{DA221320-B29D-5A0B-5DA0-4FDE84ACA8C2}"/>
          </ac:spMkLst>
        </pc:spChg>
        <pc:spChg chg="add del mod">
          <ac:chgData name="Ashok Gopalakrishnan" userId="d8b748a0ad7c7b3a" providerId="LiveId" clId="{59FD0868-84F1-432F-883D-B36E85A19EB2}" dt="2026-06-24T03:09:55.726" v="3" actId="478"/>
          <ac:spMkLst>
            <pc:docMk/>
            <pc:sldMk cId="2706735188" sldId="257"/>
            <ac:spMk id="6" creationId="{F7914D27-C243-C693-7B83-351F1F8B6D2D}"/>
          </ac:spMkLst>
        </pc:spChg>
        <pc:spChg chg="add mod">
          <ac:chgData name="Ashok Gopalakrishnan" userId="d8b748a0ad7c7b3a" providerId="LiveId" clId="{59FD0868-84F1-432F-883D-B36E85A19EB2}" dt="2026-06-24T03:11:03.998" v="10" actId="207"/>
          <ac:spMkLst>
            <pc:docMk/>
            <pc:sldMk cId="2706735188" sldId="257"/>
            <ac:spMk id="8" creationId="{157812E1-E2CF-6D4A-ED0B-A3C80FDDD39D}"/>
          </ac:spMkLst>
        </pc:spChg>
        <pc:spChg chg="add mod">
          <ac:chgData name="Ashok Gopalakrishnan" userId="d8b748a0ad7c7b3a" providerId="LiveId" clId="{59FD0868-84F1-432F-883D-B36E85A19EB2}" dt="2026-06-24T03:12:53.742" v="27" actId="207"/>
          <ac:spMkLst>
            <pc:docMk/>
            <pc:sldMk cId="2706735188" sldId="257"/>
            <ac:spMk id="10" creationId="{B8BDA865-CFFA-8EB3-83DE-3A398C3C4DCA}"/>
          </ac:spMkLst>
        </pc:spChg>
        <pc:spChg chg="add mod">
          <ac:chgData name="Ashok Gopalakrishnan" userId="d8b748a0ad7c7b3a" providerId="LiveId" clId="{59FD0868-84F1-432F-883D-B36E85A19EB2}" dt="2026-06-24T03:15:10.980" v="35" actId="20577"/>
          <ac:spMkLst>
            <pc:docMk/>
            <pc:sldMk cId="2706735188" sldId="257"/>
            <ac:spMk id="12" creationId="{D3A312E6-9C36-BC6F-6B38-8CDA04B1E947}"/>
          </ac:spMkLst>
        </pc:spChg>
        <pc:picChg chg="del">
          <ac:chgData name="Ashok Gopalakrishnan" userId="d8b748a0ad7c7b3a" providerId="LiveId" clId="{59FD0868-84F1-432F-883D-B36E85A19EB2}" dt="2026-06-24T03:09:49.068" v="1" actId="478"/>
          <ac:picMkLst>
            <pc:docMk/>
            <pc:sldMk cId="2706735188" sldId="257"/>
            <ac:picMk id="5" creationId="{6858C191-E406-D50F-D8A3-66C1106C0750}"/>
          </ac:picMkLst>
        </pc:picChg>
      </pc:sldChg>
      <pc:sldChg chg="addSp delSp modSp add mod">
        <pc:chgData name="Ashok Gopalakrishnan" userId="d8b748a0ad7c7b3a" providerId="LiveId" clId="{59FD0868-84F1-432F-883D-B36E85A19EB2}" dt="2026-06-24T03:19:30.449" v="75" actId="207"/>
        <pc:sldMkLst>
          <pc:docMk/>
          <pc:sldMk cId="3285300447" sldId="258"/>
        </pc:sldMkLst>
        <pc:spChg chg="add mod">
          <ac:chgData name="Ashok Gopalakrishnan" userId="d8b748a0ad7c7b3a" providerId="LiveId" clId="{59FD0868-84F1-432F-883D-B36E85A19EB2}" dt="2026-06-24T03:19:30.449" v="75" actId="207"/>
          <ac:spMkLst>
            <pc:docMk/>
            <pc:sldMk cId="3285300447" sldId="258"/>
            <ac:spMk id="7" creationId="{D0CE09F6-3855-7D64-5F10-E926E44A79B4}"/>
          </ac:spMkLst>
        </pc:spChg>
        <pc:spChg chg="mod">
          <ac:chgData name="Ashok Gopalakrishnan" userId="d8b748a0ad7c7b3a" providerId="LiveId" clId="{59FD0868-84F1-432F-883D-B36E85A19EB2}" dt="2026-06-24T03:16:52.640" v="49" actId="122"/>
          <ac:spMkLst>
            <pc:docMk/>
            <pc:sldMk cId="3285300447" sldId="258"/>
            <ac:spMk id="12" creationId="{94D06DFF-AAFA-9AF9-9B62-E790F6C0E012}"/>
          </ac:spMkLst>
        </pc:spChg>
        <pc:cxnChg chg="add del mod">
          <ac:chgData name="Ashok Gopalakrishnan" userId="d8b748a0ad7c7b3a" providerId="LiveId" clId="{59FD0868-84F1-432F-883D-B36E85A19EB2}" dt="2026-06-24T03:17:46.692" v="52" actId="478"/>
          <ac:cxnSpMkLst>
            <pc:docMk/>
            <pc:sldMk cId="3285300447" sldId="258"/>
            <ac:cxnSpMk id="4" creationId="{97B2FD9D-297E-CB6E-3920-368B29E599DC}"/>
          </ac:cxnSpMkLst>
        </pc:cxnChg>
        <pc:cxnChg chg="add del">
          <ac:chgData name="Ashok Gopalakrishnan" userId="d8b748a0ad7c7b3a" providerId="LiveId" clId="{59FD0868-84F1-432F-883D-B36E85A19EB2}" dt="2026-06-24T03:18:16.293" v="54" actId="478"/>
          <ac:cxnSpMkLst>
            <pc:docMk/>
            <pc:sldMk cId="3285300447" sldId="258"/>
            <ac:cxnSpMk id="6" creationId="{4A24C9E2-66D5-C3AB-2163-03493813CB9E}"/>
          </ac:cxnSpMkLst>
        </pc:cxnChg>
      </pc:sldChg>
      <pc:sldChg chg="addSp delSp modSp add mod">
        <pc:chgData name="Ashok Gopalakrishnan" userId="d8b748a0ad7c7b3a" providerId="LiveId" clId="{59FD0868-84F1-432F-883D-B36E85A19EB2}" dt="2026-06-24T03:22:38.100" v="100" actId="1076"/>
        <pc:sldMkLst>
          <pc:docMk/>
          <pc:sldMk cId="886297037" sldId="259"/>
        </pc:sldMkLst>
        <pc:spChg chg="add mod">
          <ac:chgData name="Ashok Gopalakrishnan" userId="d8b748a0ad7c7b3a" providerId="LiveId" clId="{59FD0868-84F1-432F-883D-B36E85A19EB2}" dt="2026-06-24T03:22:38.100" v="100" actId="1076"/>
          <ac:spMkLst>
            <pc:docMk/>
            <pc:sldMk cId="886297037" sldId="259"/>
            <ac:spMk id="4" creationId="{507FE04C-A2D2-BE1A-0ECD-A882B47E8B35}"/>
          </ac:spMkLst>
        </pc:spChg>
        <pc:spChg chg="del">
          <ac:chgData name="Ashok Gopalakrishnan" userId="d8b748a0ad7c7b3a" providerId="LiveId" clId="{59FD0868-84F1-432F-883D-B36E85A19EB2}" dt="2026-06-24T03:20:34.558" v="78" actId="478"/>
          <ac:spMkLst>
            <pc:docMk/>
            <pc:sldMk cId="886297037" sldId="259"/>
            <ac:spMk id="7" creationId="{F0B8752E-B3EF-6CBC-2CDF-89EEA6291A40}"/>
          </ac:spMkLst>
        </pc:spChg>
        <pc:spChg chg="del mod">
          <ac:chgData name="Ashok Gopalakrishnan" userId="d8b748a0ad7c7b3a" providerId="LiveId" clId="{59FD0868-84F1-432F-883D-B36E85A19EB2}" dt="2026-06-24T03:21:44.255" v="86" actId="478"/>
          <ac:spMkLst>
            <pc:docMk/>
            <pc:sldMk cId="886297037" sldId="259"/>
            <ac:spMk id="8" creationId="{8D04886D-F18E-6092-DBA4-7CB5D68FC388}"/>
          </ac:spMkLst>
        </pc:spChg>
        <pc:spChg chg="mod">
          <ac:chgData name="Ashok Gopalakrishnan" userId="d8b748a0ad7c7b3a" providerId="LiveId" clId="{59FD0868-84F1-432F-883D-B36E85A19EB2}" dt="2026-06-24T03:21:50.377" v="87" actId="1076"/>
          <ac:spMkLst>
            <pc:docMk/>
            <pc:sldMk cId="886297037" sldId="259"/>
            <ac:spMk id="10" creationId="{A236903A-A411-1667-A703-1B8737EA4F08}"/>
          </ac:spMkLst>
        </pc:spChg>
        <pc:spChg chg="del">
          <ac:chgData name="Ashok Gopalakrishnan" userId="d8b748a0ad7c7b3a" providerId="LiveId" clId="{59FD0868-84F1-432F-883D-B36E85A19EB2}" dt="2026-06-24T03:20:01.703" v="77" actId="478"/>
          <ac:spMkLst>
            <pc:docMk/>
            <pc:sldMk cId="886297037" sldId="259"/>
            <ac:spMk id="12" creationId="{3009DD70-DB6B-7295-839C-7D1036378ED6}"/>
          </ac:spMkLst>
        </pc:spChg>
      </pc:sldChg>
      <pc:sldChg chg="addSp delSp modSp add mod">
        <pc:chgData name="Ashok Gopalakrishnan" userId="d8b748a0ad7c7b3a" providerId="LiveId" clId="{59FD0868-84F1-432F-883D-B36E85A19EB2}" dt="2026-06-24T03:25:02.138" v="123" actId="12"/>
        <pc:sldMkLst>
          <pc:docMk/>
          <pc:sldMk cId="1663402568" sldId="260"/>
        </pc:sldMkLst>
        <pc:spChg chg="del">
          <ac:chgData name="Ashok Gopalakrishnan" userId="d8b748a0ad7c7b3a" providerId="LiveId" clId="{59FD0868-84F1-432F-883D-B36E85A19EB2}" dt="2026-06-24T03:23:15.473" v="102" actId="478"/>
          <ac:spMkLst>
            <pc:docMk/>
            <pc:sldMk cId="1663402568" sldId="260"/>
            <ac:spMk id="4" creationId="{C672F105-BA37-ABFB-6D6A-224D750CE8C7}"/>
          </ac:spMkLst>
        </pc:spChg>
        <pc:spChg chg="add mod">
          <ac:chgData name="Ashok Gopalakrishnan" userId="d8b748a0ad7c7b3a" providerId="LiveId" clId="{59FD0868-84F1-432F-883D-B36E85A19EB2}" dt="2026-06-24T03:25:02.138" v="123" actId="12"/>
          <ac:spMkLst>
            <pc:docMk/>
            <pc:sldMk cId="1663402568" sldId="260"/>
            <ac:spMk id="5" creationId="{3B0765FC-66D9-FD70-E6A7-011EF5AF1141}"/>
          </ac:spMkLst>
        </pc:spChg>
      </pc:sldChg>
      <pc:sldChg chg="addSp delSp modSp add mod">
        <pc:chgData name="Ashok Gopalakrishnan" userId="d8b748a0ad7c7b3a" providerId="LiveId" clId="{59FD0868-84F1-432F-883D-B36E85A19EB2}" dt="2026-06-24T03:28:40.568" v="186" actId="12"/>
        <pc:sldMkLst>
          <pc:docMk/>
          <pc:sldMk cId="2094960384" sldId="261"/>
        </pc:sldMkLst>
        <pc:spChg chg="add mod">
          <ac:chgData name="Ashok Gopalakrishnan" userId="d8b748a0ad7c7b3a" providerId="LiveId" clId="{59FD0868-84F1-432F-883D-B36E85A19EB2}" dt="2026-06-24T03:27:12.301" v="157" actId="20577"/>
          <ac:spMkLst>
            <pc:docMk/>
            <pc:sldMk cId="2094960384" sldId="261"/>
            <ac:spMk id="4" creationId="{EE10DAE0-B528-8255-BE9F-1E9664FDA013}"/>
          </ac:spMkLst>
        </pc:spChg>
        <pc:spChg chg="del">
          <ac:chgData name="Ashok Gopalakrishnan" userId="d8b748a0ad7c7b3a" providerId="LiveId" clId="{59FD0868-84F1-432F-883D-B36E85A19EB2}" dt="2026-06-24T03:25:20.674" v="125" actId="478"/>
          <ac:spMkLst>
            <pc:docMk/>
            <pc:sldMk cId="2094960384" sldId="261"/>
            <ac:spMk id="5" creationId="{CAFECD16-2B3C-925F-BF95-04AADEFAF8CF}"/>
          </ac:spMkLst>
        </pc:spChg>
        <pc:spChg chg="add mod">
          <ac:chgData name="Ashok Gopalakrishnan" userId="d8b748a0ad7c7b3a" providerId="LiveId" clId="{59FD0868-84F1-432F-883D-B36E85A19EB2}" dt="2026-06-24T03:28:40.568" v="186" actId="12"/>
          <ac:spMkLst>
            <pc:docMk/>
            <pc:sldMk cId="2094960384" sldId="261"/>
            <ac:spMk id="7" creationId="{A202F403-9677-F5F3-BAFE-EA59843C4EAC}"/>
          </ac:spMkLst>
        </pc:spChg>
      </pc:sldChg>
      <pc:sldChg chg="addSp delSp modSp add mod">
        <pc:chgData name="Ashok Gopalakrishnan" userId="d8b748a0ad7c7b3a" providerId="LiveId" clId="{59FD0868-84F1-432F-883D-B36E85A19EB2}" dt="2026-06-24T03:30:23.613" v="203" actId="207"/>
        <pc:sldMkLst>
          <pc:docMk/>
          <pc:sldMk cId="1573977467" sldId="262"/>
        </pc:sldMkLst>
        <pc:spChg chg="del">
          <ac:chgData name="Ashok Gopalakrishnan" userId="d8b748a0ad7c7b3a" providerId="LiveId" clId="{59FD0868-84F1-432F-883D-B36E85A19EB2}" dt="2026-06-24T03:28:56.870" v="188" actId="478"/>
          <ac:spMkLst>
            <pc:docMk/>
            <pc:sldMk cId="1573977467" sldId="262"/>
            <ac:spMk id="4" creationId="{E1BA9259-22EC-9F35-6224-BE038045AAC5}"/>
          </ac:spMkLst>
        </pc:spChg>
        <pc:spChg chg="add mod">
          <ac:chgData name="Ashok Gopalakrishnan" userId="d8b748a0ad7c7b3a" providerId="LiveId" clId="{59FD0868-84F1-432F-883D-B36E85A19EB2}" dt="2026-06-24T03:30:23.613" v="203" actId="207"/>
          <ac:spMkLst>
            <pc:docMk/>
            <pc:sldMk cId="1573977467" sldId="262"/>
            <ac:spMk id="5" creationId="{F95EE60B-EAFD-61F1-84B9-A987F3B6B27A}"/>
          </ac:spMkLst>
        </pc:spChg>
        <pc:spChg chg="del">
          <ac:chgData name="Ashok Gopalakrishnan" userId="d8b748a0ad7c7b3a" providerId="LiveId" clId="{59FD0868-84F1-432F-883D-B36E85A19EB2}" dt="2026-06-24T03:28:59.414" v="189" actId="478"/>
          <ac:spMkLst>
            <pc:docMk/>
            <pc:sldMk cId="1573977467" sldId="262"/>
            <ac:spMk id="7" creationId="{C004391F-5230-B1FF-CFFC-5C414F7800EB}"/>
          </ac:spMkLst>
        </pc:spChg>
      </pc:sldChg>
      <pc:sldChg chg="addSp delSp modSp add mod">
        <pc:chgData name="Ashok Gopalakrishnan" userId="d8b748a0ad7c7b3a" providerId="LiveId" clId="{59FD0868-84F1-432F-883D-B36E85A19EB2}" dt="2026-06-24T03:35:40.877" v="227" actId="1076"/>
        <pc:sldMkLst>
          <pc:docMk/>
          <pc:sldMk cId="751688631" sldId="263"/>
        </pc:sldMkLst>
        <pc:spChg chg="del">
          <ac:chgData name="Ashok Gopalakrishnan" userId="d8b748a0ad7c7b3a" providerId="LiveId" clId="{59FD0868-84F1-432F-883D-B36E85A19EB2}" dt="2026-06-24T03:30:44.233" v="205" actId="478"/>
          <ac:spMkLst>
            <pc:docMk/>
            <pc:sldMk cId="751688631" sldId="263"/>
            <ac:spMk id="5" creationId="{76760B46-D31A-ECA6-43FF-DDE2B87FAC85}"/>
          </ac:spMkLst>
        </pc:spChg>
        <pc:spChg chg="add mod">
          <ac:chgData name="Ashok Gopalakrishnan" userId="d8b748a0ad7c7b3a" providerId="LiveId" clId="{59FD0868-84F1-432F-883D-B36E85A19EB2}" dt="2026-06-24T03:35:40.877" v="227" actId="1076"/>
          <ac:spMkLst>
            <pc:docMk/>
            <pc:sldMk cId="751688631" sldId="263"/>
            <ac:spMk id="7" creationId="{A4EA73EF-8D25-5B16-5F88-3D0E11F96D7F}"/>
          </ac:spMkLst>
        </pc:spChg>
        <pc:spChg chg="del">
          <ac:chgData name="Ashok Gopalakrishnan" userId="d8b748a0ad7c7b3a" providerId="LiveId" clId="{59FD0868-84F1-432F-883D-B36E85A19EB2}" dt="2026-06-24T03:30:47.153" v="206" actId="478"/>
          <ac:spMkLst>
            <pc:docMk/>
            <pc:sldMk cId="751688631" sldId="263"/>
            <ac:spMk id="10" creationId="{4E21C12A-7FEE-FE94-14EB-40243CBCEA9B}"/>
          </ac:spMkLst>
        </pc:spChg>
        <pc:picChg chg="add mod">
          <ac:chgData name="Ashok Gopalakrishnan" userId="d8b748a0ad7c7b3a" providerId="LiveId" clId="{59FD0868-84F1-432F-883D-B36E85A19EB2}" dt="2026-06-24T03:34:13.845" v="214" actId="1076"/>
          <ac:picMkLst>
            <pc:docMk/>
            <pc:sldMk cId="751688631" sldId="263"/>
            <ac:picMk id="4" creationId="{1ECB8394-7764-D7C9-7380-5D490B35421D}"/>
          </ac:picMkLst>
        </pc:picChg>
      </pc:sldChg>
      <pc:sldChg chg="new del">
        <pc:chgData name="Ashok Gopalakrishnan" userId="d8b748a0ad7c7b3a" providerId="LiveId" clId="{59FD0868-84F1-432F-883D-B36E85A19EB2}" dt="2026-06-24T03:35:57.130" v="228" actId="47"/>
        <pc:sldMkLst>
          <pc:docMk/>
          <pc:sldMk cId="988135141" sldId="264"/>
        </pc:sldMkLst>
      </pc:sldChg>
      <pc:sldChg chg="addSp delSp modSp add mod">
        <pc:chgData name="Ashok Gopalakrishnan" userId="d8b748a0ad7c7b3a" providerId="LiveId" clId="{59FD0868-84F1-432F-883D-B36E85A19EB2}" dt="2026-06-24T04:08:01.302" v="319" actId="207"/>
        <pc:sldMkLst>
          <pc:docMk/>
          <pc:sldMk cId="4209297181" sldId="264"/>
        </pc:sldMkLst>
        <pc:spChg chg="mod">
          <ac:chgData name="Ashok Gopalakrishnan" userId="d8b748a0ad7c7b3a" providerId="LiveId" clId="{59FD0868-84F1-432F-883D-B36E85A19EB2}" dt="2026-06-24T04:03:21.606" v="264" actId="20577"/>
          <ac:spMkLst>
            <pc:docMk/>
            <pc:sldMk cId="4209297181" sldId="264"/>
            <ac:spMk id="2" creationId="{6B822968-C553-09E1-3D53-E7DE8D2982A8}"/>
          </ac:spMkLst>
        </pc:spChg>
        <pc:spChg chg="del">
          <ac:chgData name="Ashok Gopalakrishnan" userId="d8b748a0ad7c7b3a" providerId="LiveId" clId="{59FD0868-84F1-432F-883D-B36E85A19EB2}" dt="2026-06-24T03:59:59.011" v="231" actId="478"/>
          <ac:spMkLst>
            <pc:docMk/>
            <pc:sldMk cId="4209297181" sldId="264"/>
            <ac:spMk id="7" creationId="{F9D6C47A-69C7-51AC-4B63-CABA4735B0ED}"/>
          </ac:spMkLst>
        </pc:spChg>
        <pc:spChg chg="add del mod">
          <ac:chgData name="Ashok Gopalakrishnan" userId="d8b748a0ad7c7b3a" providerId="LiveId" clId="{59FD0868-84F1-432F-883D-B36E85A19EB2}" dt="2026-06-24T04:06:24.447" v="303" actId="478"/>
          <ac:spMkLst>
            <pc:docMk/>
            <pc:sldMk cId="4209297181" sldId="264"/>
            <ac:spMk id="8" creationId="{51B8FF12-2248-C61D-0A40-877B07632CED}"/>
          </ac:spMkLst>
        </pc:spChg>
        <pc:spChg chg="add mod">
          <ac:chgData name="Ashok Gopalakrishnan" userId="d8b748a0ad7c7b3a" providerId="LiveId" clId="{59FD0868-84F1-432F-883D-B36E85A19EB2}" dt="2026-06-24T04:07:23.964" v="313" actId="207"/>
          <ac:spMkLst>
            <pc:docMk/>
            <pc:sldMk cId="4209297181" sldId="264"/>
            <ac:spMk id="11" creationId="{7E87F07A-279D-A146-D57D-D84F32501CA6}"/>
          </ac:spMkLst>
        </pc:spChg>
        <pc:graphicFrameChg chg="add mod modGraphic">
          <ac:chgData name="Ashok Gopalakrishnan" userId="d8b748a0ad7c7b3a" providerId="LiveId" clId="{59FD0868-84F1-432F-883D-B36E85A19EB2}" dt="2026-06-24T04:08:01.302" v="319" actId="207"/>
          <ac:graphicFrameMkLst>
            <pc:docMk/>
            <pc:sldMk cId="4209297181" sldId="264"/>
            <ac:graphicFrameMk id="9" creationId="{D7D5C416-8E73-23D0-4E55-91EB2997E4FD}"/>
          </ac:graphicFrameMkLst>
        </pc:graphicFrameChg>
        <pc:picChg chg="del">
          <ac:chgData name="Ashok Gopalakrishnan" userId="d8b748a0ad7c7b3a" providerId="LiveId" clId="{59FD0868-84F1-432F-883D-B36E85A19EB2}" dt="2026-06-24T03:59:56.605" v="230" actId="478"/>
          <ac:picMkLst>
            <pc:docMk/>
            <pc:sldMk cId="4209297181" sldId="264"/>
            <ac:picMk id="4" creationId="{918CBDF5-F996-C75E-B935-41F3E554DBF5}"/>
          </ac:picMkLst>
        </pc:picChg>
        <pc:picChg chg="add del mod">
          <ac:chgData name="Ashok Gopalakrishnan" userId="d8b748a0ad7c7b3a" providerId="LiveId" clId="{59FD0868-84F1-432F-883D-B36E85A19EB2}" dt="2026-06-24T04:06:21.750" v="302" actId="478"/>
          <ac:picMkLst>
            <pc:docMk/>
            <pc:sldMk cId="4209297181" sldId="264"/>
            <ac:picMk id="5" creationId="{29A70D52-6098-71A4-C805-2615E8A9A07B}"/>
          </ac:picMkLst>
        </pc:picChg>
      </pc:sldChg>
      <pc:sldChg chg="addSp delSp modSp add del mod">
        <pc:chgData name="Ashok Gopalakrishnan" userId="d8b748a0ad7c7b3a" providerId="LiveId" clId="{59FD0868-84F1-432F-883D-B36E85A19EB2}" dt="2026-06-24T04:08:36.597" v="325" actId="47"/>
        <pc:sldMkLst>
          <pc:docMk/>
          <pc:sldMk cId="2154782852" sldId="265"/>
        </pc:sldMkLst>
        <pc:spChg chg="del">
          <ac:chgData name="Ashok Gopalakrishnan" userId="d8b748a0ad7c7b3a" providerId="LiveId" clId="{59FD0868-84F1-432F-883D-B36E85A19EB2}" dt="2026-06-24T04:08:22.576" v="321" actId="478"/>
          <ac:spMkLst>
            <pc:docMk/>
            <pc:sldMk cId="2154782852" sldId="265"/>
            <ac:spMk id="2" creationId="{B80D952F-926F-4D5A-FF1E-020A5C7335F2}"/>
          </ac:spMkLst>
        </pc:spChg>
        <pc:spChg chg="add del mod">
          <ac:chgData name="Ashok Gopalakrishnan" userId="d8b748a0ad7c7b3a" providerId="LiveId" clId="{59FD0868-84F1-432F-883D-B36E85A19EB2}" dt="2026-06-24T04:08:26.475" v="322" actId="478"/>
          <ac:spMkLst>
            <pc:docMk/>
            <pc:sldMk cId="2154782852" sldId="265"/>
            <ac:spMk id="4" creationId="{D65232A9-C3B3-8B26-0D24-3EA91ADAC5B1}"/>
          </ac:spMkLst>
        </pc:spChg>
        <pc:spChg chg="del">
          <ac:chgData name="Ashok Gopalakrishnan" userId="d8b748a0ad7c7b3a" providerId="LiveId" clId="{59FD0868-84F1-432F-883D-B36E85A19EB2}" dt="2026-06-24T04:08:29.284" v="323" actId="478"/>
          <ac:spMkLst>
            <pc:docMk/>
            <pc:sldMk cId="2154782852" sldId="265"/>
            <ac:spMk id="11" creationId="{A10CFD0D-DF44-281E-31A8-FFFA46B491B7}"/>
          </ac:spMkLst>
        </pc:spChg>
        <pc:graphicFrameChg chg="del">
          <ac:chgData name="Ashok Gopalakrishnan" userId="d8b748a0ad7c7b3a" providerId="LiveId" clId="{59FD0868-84F1-432F-883D-B36E85A19EB2}" dt="2026-06-24T04:08:31.414" v="324" actId="478"/>
          <ac:graphicFrameMkLst>
            <pc:docMk/>
            <pc:sldMk cId="2154782852" sldId="265"/>
            <ac:graphicFrameMk id="9" creationId="{F74EAF89-5CF9-F4D5-00D1-C7BCF51FA1EA}"/>
          </ac:graphicFrameMkLst>
        </pc:graphicFrameChg>
      </pc:sldChg>
      <pc:sldChg chg="addSp delSp modSp add mod ord">
        <pc:chgData name="Ashok Gopalakrishnan" userId="d8b748a0ad7c7b3a" providerId="LiveId" clId="{59FD0868-84F1-432F-883D-B36E85A19EB2}" dt="2026-06-24T04:14:58.883" v="381" actId="207"/>
        <pc:sldMkLst>
          <pc:docMk/>
          <pc:sldMk cId="3728299858" sldId="265"/>
        </pc:sldMkLst>
        <pc:spChg chg="del">
          <ac:chgData name="Ashok Gopalakrishnan" userId="d8b748a0ad7c7b3a" providerId="LiveId" clId="{59FD0868-84F1-432F-883D-B36E85A19EB2}" dt="2026-06-24T04:09:15.579" v="330" actId="478"/>
          <ac:spMkLst>
            <pc:docMk/>
            <pc:sldMk cId="3728299858" sldId="265"/>
            <ac:spMk id="4" creationId="{EA6B55C6-2A31-DA11-DC39-DEFE6EFEC19D}"/>
          </ac:spMkLst>
        </pc:spChg>
        <pc:spChg chg="add mod">
          <ac:chgData name="Ashok Gopalakrishnan" userId="d8b748a0ad7c7b3a" providerId="LiveId" clId="{59FD0868-84F1-432F-883D-B36E85A19EB2}" dt="2026-06-24T04:13:40.460" v="364" actId="1076"/>
          <ac:spMkLst>
            <pc:docMk/>
            <pc:sldMk cId="3728299858" sldId="265"/>
            <ac:spMk id="5" creationId="{F386CFFD-6C6A-6426-F0E0-F3C94FF34527}"/>
          </ac:spMkLst>
        </pc:spChg>
        <pc:spChg chg="add mod">
          <ac:chgData name="Ashok Gopalakrishnan" userId="d8b748a0ad7c7b3a" providerId="LiveId" clId="{59FD0868-84F1-432F-883D-B36E85A19EB2}" dt="2026-06-24T04:13:46.617" v="365" actId="1076"/>
          <ac:spMkLst>
            <pc:docMk/>
            <pc:sldMk cId="3728299858" sldId="265"/>
            <ac:spMk id="7" creationId="{6817D7B3-8FC6-01D1-7DAC-B6DBE8A621EB}"/>
          </ac:spMkLst>
        </pc:spChg>
        <pc:spChg chg="add mod">
          <ac:chgData name="Ashok Gopalakrishnan" userId="d8b748a0ad7c7b3a" providerId="LiveId" clId="{59FD0868-84F1-432F-883D-B36E85A19EB2}" dt="2026-06-24T04:14:58.883" v="381" actId="207"/>
          <ac:spMkLst>
            <pc:docMk/>
            <pc:sldMk cId="3728299858" sldId="265"/>
            <ac:spMk id="9" creationId="{721CC432-BB07-1C4C-8D31-62789FCB4BC3}"/>
          </ac:spMkLst>
        </pc:spChg>
        <pc:spChg chg="del mod">
          <ac:chgData name="Ashok Gopalakrishnan" userId="d8b748a0ad7c7b3a" providerId="LiveId" clId="{59FD0868-84F1-432F-883D-B36E85A19EB2}" dt="2026-06-24T04:13:34.899" v="363" actId="478"/>
          <ac:spMkLst>
            <pc:docMk/>
            <pc:sldMk cId="3728299858" sldId="265"/>
            <ac:spMk id="10" creationId="{AA2CCC8D-ABA2-56F8-7621-1E354736B882}"/>
          </ac:spMkLst>
        </pc:spChg>
      </pc:sldChg>
      <pc:sldChg chg="addSp delSp modSp add mod">
        <pc:chgData name="Ashok Gopalakrishnan" userId="d8b748a0ad7c7b3a" providerId="LiveId" clId="{59FD0868-84F1-432F-883D-B36E85A19EB2}" dt="2026-06-24T04:17:59.700" v="412" actId="12"/>
        <pc:sldMkLst>
          <pc:docMk/>
          <pc:sldMk cId="2219356011" sldId="266"/>
        </pc:sldMkLst>
        <pc:spChg chg="del">
          <ac:chgData name="Ashok Gopalakrishnan" userId="d8b748a0ad7c7b3a" providerId="LiveId" clId="{59FD0868-84F1-432F-883D-B36E85A19EB2}" dt="2026-06-24T04:15:19.854" v="385" actId="478"/>
          <ac:spMkLst>
            <pc:docMk/>
            <pc:sldMk cId="2219356011" sldId="266"/>
            <ac:spMk id="5" creationId="{F55BBEE7-DA53-4B41-65BD-24F820D6FDDC}"/>
          </ac:spMkLst>
        </pc:spChg>
        <pc:spChg chg="add mod">
          <ac:chgData name="Ashok Gopalakrishnan" userId="d8b748a0ad7c7b3a" providerId="LiveId" clId="{59FD0868-84F1-432F-883D-B36E85A19EB2}" dt="2026-06-24T04:16:30.812" v="396" actId="207"/>
          <ac:spMkLst>
            <pc:docMk/>
            <pc:sldMk cId="2219356011" sldId="266"/>
            <ac:spMk id="6" creationId="{AEB732ED-1703-F381-DC4F-4E2F229E6963}"/>
          </ac:spMkLst>
        </pc:spChg>
        <pc:spChg chg="del">
          <ac:chgData name="Ashok Gopalakrishnan" userId="d8b748a0ad7c7b3a" providerId="LiveId" clId="{59FD0868-84F1-432F-883D-B36E85A19EB2}" dt="2026-06-24T04:15:15.047" v="383" actId="478"/>
          <ac:spMkLst>
            <pc:docMk/>
            <pc:sldMk cId="2219356011" sldId="266"/>
            <ac:spMk id="7" creationId="{8FCD78FD-89B7-A6C6-F378-C93B3D3EC66D}"/>
          </ac:spMkLst>
        </pc:spChg>
        <pc:spChg chg="del">
          <ac:chgData name="Ashok Gopalakrishnan" userId="d8b748a0ad7c7b3a" providerId="LiveId" clId="{59FD0868-84F1-432F-883D-B36E85A19EB2}" dt="2026-06-24T04:15:17.336" v="384" actId="478"/>
          <ac:spMkLst>
            <pc:docMk/>
            <pc:sldMk cId="2219356011" sldId="266"/>
            <ac:spMk id="9" creationId="{F36101C4-1AB2-D74D-015F-DAC6856B4DF3}"/>
          </ac:spMkLst>
        </pc:spChg>
        <pc:spChg chg="add mod">
          <ac:chgData name="Ashok Gopalakrishnan" userId="d8b748a0ad7c7b3a" providerId="LiveId" clId="{59FD0868-84F1-432F-883D-B36E85A19EB2}" dt="2026-06-24T04:17:59.700" v="412" actId="12"/>
          <ac:spMkLst>
            <pc:docMk/>
            <pc:sldMk cId="2219356011" sldId="266"/>
            <ac:spMk id="10" creationId="{44C2AAF8-2F42-98BB-3510-CB732FBEA44D}"/>
          </ac:spMkLst>
        </pc:spChg>
        <pc:graphicFrameChg chg="add mod modGraphic">
          <ac:chgData name="Ashok Gopalakrishnan" userId="d8b748a0ad7c7b3a" providerId="LiveId" clId="{59FD0868-84F1-432F-883D-B36E85A19EB2}" dt="2026-06-24T04:16:22.981" v="395" actId="207"/>
          <ac:graphicFrameMkLst>
            <pc:docMk/>
            <pc:sldMk cId="2219356011" sldId="266"/>
            <ac:graphicFrameMk id="3" creationId="{BD1B1B8C-4B17-C39E-9B21-BD272321E19B}"/>
          </ac:graphicFrameMkLst>
        </pc:graphicFrameChg>
      </pc:sldChg>
      <pc:sldChg chg="addSp delSp modSp add mod">
        <pc:chgData name="Ashok Gopalakrishnan" userId="d8b748a0ad7c7b3a" providerId="LiveId" clId="{59FD0868-84F1-432F-883D-B36E85A19EB2}" dt="2026-06-24T04:25:33.421" v="464" actId="1076"/>
        <pc:sldMkLst>
          <pc:docMk/>
          <pc:sldMk cId="16869259" sldId="267"/>
        </pc:sldMkLst>
        <pc:spChg chg="del">
          <ac:chgData name="Ashok Gopalakrishnan" userId="d8b748a0ad7c7b3a" providerId="LiveId" clId="{59FD0868-84F1-432F-883D-B36E85A19EB2}" dt="2026-06-24T04:18:37.125" v="416" actId="478"/>
          <ac:spMkLst>
            <pc:docMk/>
            <pc:sldMk cId="16869259" sldId="267"/>
            <ac:spMk id="6" creationId="{42CEFDC7-73D5-53F7-FD8F-DE45968D07CA}"/>
          </ac:spMkLst>
        </pc:spChg>
        <pc:spChg chg="add mod">
          <ac:chgData name="Ashok Gopalakrishnan" userId="d8b748a0ad7c7b3a" providerId="LiveId" clId="{59FD0868-84F1-432F-883D-B36E85A19EB2}" dt="2026-06-24T04:22:22.876" v="428" actId="1076"/>
          <ac:spMkLst>
            <pc:docMk/>
            <pc:sldMk cId="16869259" sldId="267"/>
            <ac:spMk id="7" creationId="{AF326539-9D9F-40D4-AF40-000D6882CAB2}"/>
          </ac:spMkLst>
        </pc:spChg>
        <pc:spChg chg="add mod">
          <ac:chgData name="Ashok Gopalakrishnan" userId="d8b748a0ad7c7b3a" providerId="LiveId" clId="{59FD0868-84F1-432F-883D-B36E85A19EB2}" dt="2026-06-24T04:23:50.520" v="447" actId="12"/>
          <ac:spMkLst>
            <pc:docMk/>
            <pc:sldMk cId="16869259" sldId="267"/>
            <ac:spMk id="9" creationId="{49881B8B-BDCC-1742-3635-A802BBF63EC4}"/>
          </ac:spMkLst>
        </pc:spChg>
        <pc:spChg chg="del">
          <ac:chgData name="Ashok Gopalakrishnan" userId="d8b748a0ad7c7b3a" providerId="LiveId" clId="{59FD0868-84F1-432F-883D-B36E85A19EB2}" dt="2026-06-24T04:18:31.209" v="415" actId="478"/>
          <ac:spMkLst>
            <pc:docMk/>
            <pc:sldMk cId="16869259" sldId="267"/>
            <ac:spMk id="10" creationId="{F3107BA3-25F4-E8DF-CF2B-37EF048CE282}"/>
          </ac:spMkLst>
        </pc:spChg>
        <pc:spChg chg="add mod">
          <ac:chgData name="Ashok Gopalakrishnan" userId="d8b748a0ad7c7b3a" providerId="LiveId" clId="{59FD0868-84F1-432F-883D-B36E85A19EB2}" dt="2026-06-24T04:25:33.421" v="464" actId="1076"/>
          <ac:spMkLst>
            <pc:docMk/>
            <pc:sldMk cId="16869259" sldId="267"/>
            <ac:spMk id="12" creationId="{B8877A03-185E-62F7-EC89-F320F0FB2DC3}"/>
          </ac:spMkLst>
        </pc:spChg>
        <pc:graphicFrameChg chg="del">
          <ac:chgData name="Ashok Gopalakrishnan" userId="d8b748a0ad7c7b3a" providerId="LiveId" clId="{59FD0868-84F1-432F-883D-B36E85A19EB2}" dt="2026-06-24T04:18:27.500" v="414" actId="478"/>
          <ac:graphicFrameMkLst>
            <pc:docMk/>
            <pc:sldMk cId="16869259" sldId="267"/>
            <ac:graphicFrameMk id="3" creationId="{5D72EA8A-0784-D302-35B6-60946A8D2227}"/>
          </ac:graphicFrameMkLst>
        </pc:graphicFrameChg>
        <pc:graphicFrameChg chg="add mod modGraphic">
          <ac:chgData name="Ashok Gopalakrishnan" userId="d8b748a0ad7c7b3a" providerId="LiveId" clId="{59FD0868-84F1-432F-883D-B36E85A19EB2}" dt="2026-06-24T04:22:27.316" v="429" actId="1076"/>
          <ac:graphicFrameMkLst>
            <pc:docMk/>
            <pc:sldMk cId="16869259" sldId="267"/>
            <ac:graphicFrameMk id="4" creationId="{3DB08D5B-1C98-80F1-6A3A-2DF07D058D7A}"/>
          </ac:graphicFrameMkLst>
        </pc:graphicFrameChg>
      </pc:sldChg>
      <pc:sldChg chg="addSp delSp modSp add mod">
        <pc:chgData name="Ashok Gopalakrishnan" userId="d8b748a0ad7c7b3a" providerId="LiveId" clId="{59FD0868-84F1-432F-883D-B36E85A19EB2}" dt="2026-06-24T04:34:33.518" v="516" actId="207"/>
        <pc:sldMkLst>
          <pc:docMk/>
          <pc:sldMk cId="134671648" sldId="268"/>
        </pc:sldMkLst>
        <pc:spChg chg="add mod">
          <ac:chgData name="Ashok Gopalakrishnan" userId="d8b748a0ad7c7b3a" providerId="LiveId" clId="{59FD0868-84F1-432F-883D-B36E85A19EB2}" dt="2026-06-24T04:29:28.442" v="476" actId="1076"/>
          <ac:spMkLst>
            <pc:docMk/>
            <pc:sldMk cId="134671648" sldId="268"/>
            <ac:spMk id="5" creationId="{B1214814-B242-07A3-E49D-438A3DEA5124}"/>
          </ac:spMkLst>
        </pc:spChg>
        <pc:spChg chg="del">
          <ac:chgData name="Ashok Gopalakrishnan" userId="d8b748a0ad7c7b3a" providerId="LiveId" clId="{59FD0868-84F1-432F-883D-B36E85A19EB2}" dt="2026-06-24T04:26:25.553" v="469" actId="478"/>
          <ac:spMkLst>
            <pc:docMk/>
            <pc:sldMk cId="134671648" sldId="268"/>
            <ac:spMk id="7" creationId="{0F72B4EA-918D-53C2-B4CB-DC12E5240B6C}"/>
          </ac:spMkLst>
        </pc:spChg>
        <pc:spChg chg="add mod">
          <ac:chgData name="Ashok Gopalakrishnan" userId="d8b748a0ad7c7b3a" providerId="LiveId" clId="{59FD0868-84F1-432F-883D-B36E85A19EB2}" dt="2026-06-24T04:30:30.104" v="484" actId="123"/>
          <ac:spMkLst>
            <pc:docMk/>
            <pc:sldMk cId="134671648" sldId="268"/>
            <ac:spMk id="8" creationId="{4AB4E2A1-7032-78DE-AA82-06D0F45A508F}"/>
          </ac:spMkLst>
        </pc:spChg>
        <pc:spChg chg="del">
          <ac:chgData name="Ashok Gopalakrishnan" userId="d8b748a0ad7c7b3a" providerId="LiveId" clId="{59FD0868-84F1-432F-883D-B36E85A19EB2}" dt="2026-06-24T04:26:11.792" v="466" actId="478"/>
          <ac:spMkLst>
            <pc:docMk/>
            <pc:sldMk cId="134671648" sldId="268"/>
            <ac:spMk id="9" creationId="{125D9214-3A67-9245-E35C-C33A96BF2848}"/>
          </ac:spMkLst>
        </pc:spChg>
        <pc:spChg chg="add mod">
          <ac:chgData name="Ashok Gopalakrishnan" userId="d8b748a0ad7c7b3a" providerId="LiveId" clId="{59FD0868-84F1-432F-883D-B36E85A19EB2}" dt="2026-06-24T04:34:33.518" v="516" actId="207"/>
          <ac:spMkLst>
            <pc:docMk/>
            <pc:sldMk cId="134671648" sldId="268"/>
            <ac:spMk id="11" creationId="{D0A1C558-DA79-E8CC-AD11-733C27CCBCF9}"/>
          </ac:spMkLst>
        </pc:spChg>
        <pc:spChg chg="del">
          <ac:chgData name="Ashok Gopalakrishnan" userId="d8b748a0ad7c7b3a" providerId="LiveId" clId="{59FD0868-84F1-432F-883D-B36E85A19EB2}" dt="2026-06-24T04:26:16.144" v="467" actId="478"/>
          <ac:spMkLst>
            <pc:docMk/>
            <pc:sldMk cId="134671648" sldId="268"/>
            <ac:spMk id="12" creationId="{9226155B-D552-B500-56BD-D3A2BA4C98D7}"/>
          </ac:spMkLst>
        </pc:spChg>
        <pc:graphicFrameChg chg="del">
          <ac:chgData name="Ashok Gopalakrishnan" userId="d8b748a0ad7c7b3a" providerId="LiveId" clId="{59FD0868-84F1-432F-883D-B36E85A19EB2}" dt="2026-06-24T04:26:20.731" v="468" actId="478"/>
          <ac:graphicFrameMkLst>
            <pc:docMk/>
            <pc:sldMk cId="134671648" sldId="268"/>
            <ac:graphicFrameMk id="4" creationId="{8A8B3C3D-129C-E2E5-4EA7-6664C66A5FB5}"/>
          </ac:graphicFrameMkLst>
        </pc:graphicFrameChg>
      </pc:sldChg>
      <pc:sldChg chg="addSp delSp modSp add mod">
        <pc:chgData name="Ashok Gopalakrishnan" userId="d8b748a0ad7c7b3a" providerId="LiveId" clId="{59FD0868-84F1-432F-883D-B36E85A19EB2}" dt="2026-06-24T04:35:05.826" v="522" actId="207"/>
        <pc:sldMkLst>
          <pc:docMk/>
          <pc:sldMk cId="434981206" sldId="269"/>
        </pc:sldMkLst>
        <pc:spChg chg="add mod">
          <ac:chgData name="Ashok Gopalakrishnan" userId="d8b748a0ad7c7b3a" providerId="LiveId" clId="{59FD0868-84F1-432F-883D-B36E85A19EB2}" dt="2026-06-24T04:35:05.826" v="522" actId="207"/>
          <ac:spMkLst>
            <pc:docMk/>
            <pc:sldMk cId="434981206" sldId="269"/>
            <ac:spMk id="4" creationId="{1A9C9DC6-2FD9-80D1-EB5E-EB44664CBE70}"/>
          </ac:spMkLst>
        </pc:spChg>
        <pc:spChg chg="del">
          <ac:chgData name="Ashok Gopalakrishnan" userId="d8b748a0ad7c7b3a" providerId="LiveId" clId="{59FD0868-84F1-432F-883D-B36E85A19EB2}" dt="2026-06-24T04:33:12.029" v="496" actId="478"/>
          <ac:spMkLst>
            <pc:docMk/>
            <pc:sldMk cId="434981206" sldId="269"/>
            <ac:spMk id="11" creationId="{C80EDE72-937B-33FD-181B-95BBF0099A52}"/>
          </ac:spMkLst>
        </pc:spChg>
      </pc:sldChg>
      <pc:sldChg chg="addSp delSp modSp add mod">
        <pc:chgData name="Ashok Gopalakrishnan" userId="d8b748a0ad7c7b3a" providerId="LiveId" clId="{59FD0868-84F1-432F-883D-B36E85A19EB2}" dt="2026-06-24T04:51:20.402" v="565" actId="14100"/>
        <pc:sldMkLst>
          <pc:docMk/>
          <pc:sldMk cId="3741299631" sldId="270"/>
        </pc:sldMkLst>
        <pc:spChg chg="del">
          <ac:chgData name="Ashok Gopalakrishnan" userId="d8b748a0ad7c7b3a" providerId="LiveId" clId="{59FD0868-84F1-432F-883D-B36E85A19EB2}" dt="2026-06-24T04:35:24.620" v="524" actId="478"/>
          <ac:spMkLst>
            <pc:docMk/>
            <pc:sldMk cId="3741299631" sldId="270"/>
            <ac:spMk id="4" creationId="{57530E63-08B1-CA17-8492-402686E77D67}"/>
          </ac:spMkLst>
        </pc:spChg>
        <pc:spChg chg="del">
          <ac:chgData name="Ashok Gopalakrishnan" userId="d8b748a0ad7c7b3a" providerId="LiveId" clId="{59FD0868-84F1-432F-883D-B36E85A19EB2}" dt="2026-06-24T04:35:33.612" v="526" actId="478"/>
          <ac:spMkLst>
            <pc:docMk/>
            <pc:sldMk cId="3741299631" sldId="270"/>
            <ac:spMk id="5" creationId="{128F4A7F-88A9-7CC4-19E4-FA0D01D1CDF1}"/>
          </ac:spMkLst>
        </pc:spChg>
        <pc:spChg chg="add mod">
          <ac:chgData name="Ashok Gopalakrishnan" userId="d8b748a0ad7c7b3a" providerId="LiveId" clId="{59FD0868-84F1-432F-883D-B36E85A19EB2}" dt="2026-06-24T04:49:49.020" v="553" actId="1076"/>
          <ac:spMkLst>
            <pc:docMk/>
            <pc:sldMk cId="3741299631" sldId="270"/>
            <ac:spMk id="6" creationId="{C60ED29A-7CC4-DDC3-AA20-449DED7FA7B4}"/>
          </ac:spMkLst>
        </pc:spChg>
        <pc:spChg chg="del">
          <ac:chgData name="Ashok Gopalakrishnan" userId="d8b748a0ad7c7b3a" providerId="LiveId" clId="{59FD0868-84F1-432F-883D-B36E85A19EB2}" dt="2026-06-24T04:35:29.414" v="525" actId="478"/>
          <ac:spMkLst>
            <pc:docMk/>
            <pc:sldMk cId="3741299631" sldId="270"/>
            <ac:spMk id="8" creationId="{A6408868-8DFE-94B2-09D7-96DF1E2241CE}"/>
          </ac:spMkLst>
        </pc:spChg>
        <pc:spChg chg="add mod">
          <ac:chgData name="Ashok Gopalakrishnan" userId="d8b748a0ad7c7b3a" providerId="LiveId" clId="{59FD0868-84F1-432F-883D-B36E85A19EB2}" dt="2026-06-24T04:51:06.855" v="563" actId="1076"/>
          <ac:spMkLst>
            <pc:docMk/>
            <pc:sldMk cId="3741299631" sldId="270"/>
            <ac:spMk id="9" creationId="{354AE1B3-0B55-03EF-A237-1790072F6265}"/>
          </ac:spMkLst>
        </pc:spChg>
        <pc:picChg chg="add mod">
          <ac:chgData name="Ashok Gopalakrishnan" userId="d8b748a0ad7c7b3a" providerId="LiveId" clId="{59FD0868-84F1-432F-883D-B36E85A19EB2}" dt="2026-06-24T04:51:20.402" v="565" actId="14100"/>
          <ac:picMkLst>
            <pc:docMk/>
            <pc:sldMk cId="3741299631" sldId="270"/>
            <ac:picMk id="11" creationId="{5E1A580F-9840-0FA8-1CD1-702C11006FC4}"/>
          </ac:picMkLst>
        </pc:picChg>
      </pc:sldChg>
      <pc:sldChg chg="addSp delSp modSp add mod">
        <pc:chgData name="Ashok Gopalakrishnan" userId="d8b748a0ad7c7b3a" providerId="LiveId" clId="{59FD0868-84F1-432F-883D-B36E85A19EB2}" dt="2026-06-24T04:58:21.434" v="596" actId="6549"/>
        <pc:sldMkLst>
          <pc:docMk/>
          <pc:sldMk cId="1211528128" sldId="271"/>
        </pc:sldMkLst>
        <pc:spChg chg="add mod">
          <ac:chgData name="Ashok Gopalakrishnan" userId="d8b748a0ad7c7b3a" providerId="LiveId" clId="{59FD0868-84F1-432F-883D-B36E85A19EB2}" dt="2026-06-24T04:58:21.434" v="596" actId="6549"/>
          <ac:spMkLst>
            <pc:docMk/>
            <pc:sldMk cId="1211528128" sldId="271"/>
            <ac:spMk id="4" creationId="{4FE62CD6-C9B5-18CB-E9DC-DE8E6F844F96}"/>
          </ac:spMkLst>
        </pc:spChg>
        <pc:spChg chg="del">
          <ac:chgData name="Ashok Gopalakrishnan" userId="d8b748a0ad7c7b3a" providerId="LiveId" clId="{59FD0868-84F1-432F-883D-B36E85A19EB2}" dt="2026-06-24T04:51:47.268" v="567" actId="478"/>
          <ac:spMkLst>
            <pc:docMk/>
            <pc:sldMk cId="1211528128" sldId="271"/>
            <ac:spMk id="9" creationId="{604247B7-14B8-60D0-3E2D-EA0C35F112C5}"/>
          </ac:spMkLst>
        </pc:spChg>
        <pc:spChg chg="add mod">
          <ac:chgData name="Ashok Gopalakrishnan" userId="d8b748a0ad7c7b3a" providerId="LiveId" clId="{59FD0868-84F1-432F-883D-B36E85A19EB2}" dt="2026-06-24T04:57:47.093" v="595" actId="1076"/>
          <ac:spMkLst>
            <pc:docMk/>
            <pc:sldMk cId="1211528128" sldId="271"/>
            <ac:spMk id="10" creationId="{330DE4FC-BA76-FC20-7BAE-B0E4B319FA7B}"/>
          </ac:spMkLst>
        </pc:spChg>
        <pc:picChg chg="add mod">
          <ac:chgData name="Ashok Gopalakrishnan" userId="d8b748a0ad7c7b3a" providerId="LiveId" clId="{59FD0868-84F1-432F-883D-B36E85A19EB2}" dt="2026-06-24T04:55:01.130" v="582" actId="14100"/>
          <ac:picMkLst>
            <pc:docMk/>
            <pc:sldMk cId="1211528128" sldId="271"/>
            <ac:picMk id="7" creationId="{75ED5A7A-B4E1-C838-CBBD-EF0435AB46FB}"/>
          </ac:picMkLst>
        </pc:picChg>
        <pc:picChg chg="del">
          <ac:chgData name="Ashok Gopalakrishnan" userId="d8b748a0ad7c7b3a" providerId="LiveId" clId="{59FD0868-84F1-432F-883D-B36E85A19EB2}" dt="2026-06-24T04:51:51.732" v="568" actId="478"/>
          <ac:picMkLst>
            <pc:docMk/>
            <pc:sldMk cId="1211528128" sldId="271"/>
            <ac:picMk id="11" creationId="{5157E808-5484-42B4-D0BA-8778A6E48C72}"/>
          </ac:picMkLst>
        </pc:picChg>
      </pc:sldChg>
      <pc:sldChg chg="addSp delSp modSp add mod">
        <pc:chgData name="Ashok Gopalakrishnan" userId="d8b748a0ad7c7b3a" providerId="LiveId" clId="{59FD0868-84F1-432F-883D-B36E85A19EB2}" dt="2026-06-24T05:03:18.142" v="638" actId="123"/>
        <pc:sldMkLst>
          <pc:docMk/>
          <pc:sldMk cId="1120814238" sldId="272"/>
        </pc:sldMkLst>
        <pc:spChg chg="del">
          <ac:chgData name="Ashok Gopalakrishnan" userId="d8b748a0ad7c7b3a" providerId="LiveId" clId="{59FD0868-84F1-432F-883D-B36E85A19EB2}" dt="2026-06-24T04:55:28.369" v="585" actId="478"/>
          <ac:spMkLst>
            <pc:docMk/>
            <pc:sldMk cId="1120814238" sldId="272"/>
            <ac:spMk id="4" creationId="{1F9B4D3D-2E89-4CAE-EF33-309D511C32AB}"/>
          </ac:spMkLst>
        </pc:spChg>
        <pc:spChg chg="add mod">
          <ac:chgData name="Ashok Gopalakrishnan" userId="d8b748a0ad7c7b3a" providerId="LiveId" clId="{59FD0868-84F1-432F-883D-B36E85A19EB2}" dt="2026-06-24T04:59:32.684" v="605" actId="14100"/>
          <ac:spMkLst>
            <pc:docMk/>
            <pc:sldMk cId="1120814238" sldId="272"/>
            <ac:spMk id="5" creationId="{022088F6-C7D8-9C2A-EE11-873E4BD3983D}"/>
          </ac:spMkLst>
        </pc:spChg>
        <pc:spChg chg="del">
          <ac:chgData name="Ashok Gopalakrishnan" userId="d8b748a0ad7c7b3a" providerId="LiveId" clId="{59FD0868-84F1-432F-883D-B36E85A19EB2}" dt="2026-06-24T04:58:56.959" v="597" actId="478"/>
          <ac:spMkLst>
            <pc:docMk/>
            <pc:sldMk cId="1120814238" sldId="272"/>
            <ac:spMk id="6" creationId="{E04C6B8C-2757-1C60-1957-3100F574C379}"/>
          </ac:spMkLst>
        </pc:spChg>
        <pc:spChg chg="add mod">
          <ac:chgData name="Ashok Gopalakrishnan" userId="d8b748a0ad7c7b3a" providerId="LiveId" clId="{59FD0868-84F1-432F-883D-B36E85A19EB2}" dt="2026-06-24T05:03:18.142" v="638" actId="123"/>
          <ac:spMkLst>
            <pc:docMk/>
            <pc:sldMk cId="1120814238" sldId="272"/>
            <ac:spMk id="9" creationId="{D9289749-4C8F-EBD6-0731-A7E3A1DFBDAD}"/>
          </ac:spMkLst>
        </pc:spChg>
        <pc:spChg chg="add mod">
          <ac:chgData name="Ashok Gopalakrishnan" userId="d8b748a0ad7c7b3a" providerId="LiveId" clId="{59FD0868-84F1-432F-883D-B36E85A19EB2}" dt="2026-06-24T05:03:02.478" v="636" actId="207"/>
          <ac:spMkLst>
            <pc:docMk/>
            <pc:sldMk cId="1120814238" sldId="272"/>
            <ac:spMk id="11" creationId="{B3F548D8-B7AE-E2FE-78FF-9E9A3AD55FFD}"/>
          </ac:spMkLst>
        </pc:spChg>
        <pc:picChg chg="del">
          <ac:chgData name="Ashok Gopalakrishnan" userId="d8b748a0ad7c7b3a" providerId="LiveId" clId="{59FD0868-84F1-432F-883D-B36E85A19EB2}" dt="2026-06-24T04:55:33.506" v="586" actId="478"/>
          <ac:picMkLst>
            <pc:docMk/>
            <pc:sldMk cId="1120814238" sldId="272"/>
            <ac:picMk id="7" creationId="{69CBFA7D-15BA-DE95-A77C-5D9F76935F97}"/>
          </ac:picMkLst>
        </pc:picChg>
      </pc:sldChg>
      <pc:sldChg chg="addSp delSp modSp add mod">
        <pc:chgData name="Ashok Gopalakrishnan" userId="d8b748a0ad7c7b3a" providerId="LiveId" clId="{59FD0868-84F1-432F-883D-B36E85A19EB2}" dt="2026-06-24T05:10:20.261" v="700" actId="1076"/>
        <pc:sldMkLst>
          <pc:docMk/>
          <pc:sldMk cId="2316896268" sldId="273"/>
        </pc:sldMkLst>
        <pc:spChg chg="add mod">
          <ac:chgData name="Ashok Gopalakrishnan" userId="d8b748a0ad7c7b3a" providerId="LiveId" clId="{59FD0868-84F1-432F-883D-B36E85A19EB2}" dt="2026-06-24T05:09:39.486" v="677" actId="122"/>
          <ac:spMkLst>
            <pc:docMk/>
            <pc:sldMk cId="2316896268" sldId="273"/>
            <ac:spMk id="4" creationId="{A115662A-3CF8-CE0C-AB4E-B10CE296EA4C}"/>
          </ac:spMkLst>
        </pc:spChg>
        <pc:spChg chg="del">
          <ac:chgData name="Ashok Gopalakrishnan" userId="d8b748a0ad7c7b3a" providerId="LiveId" clId="{59FD0868-84F1-432F-883D-B36E85A19EB2}" dt="2026-06-24T05:05:53.241" v="642" actId="478"/>
          <ac:spMkLst>
            <pc:docMk/>
            <pc:sldMk cId="2316896268" sldId="273"/>
            <ac:spMk id="5" creationId="{08E8F5F3-285F-BA6F-D848-996C4A6D8ABB}"/>
          </ac:spMkLst>
        </pc:spChg>
        <pc:spChg chg="add mod">
          <ac:chgData name="Ashok Gopalakrishnan" userId="d8b748a0ad7c7b3a" providerId="LiveId" clId="{59FD0868-84F1-432F-883D-B36E85A19EB2}" dt="2026-06-24T05:09:34.726" v="676" actId="122"/>
          <ac:spMkLst>
            <pc:docMk/>
            <pc:sldMk cId="2316896268" sldId="273"/>
            <ac:spMk id="7" creationId="{54FE0CE3-DC22-0115-1F90-D45691663D7D}"/>
          </ac:spMkLst>
        </pc:spChg>
        <pc:spChg chg="add mod">
          <ac:chgData name="Ashok Gopalakrishnan" userId="d8b748a0ad7c7b3a" providerId="LiveId" clId="{59FD0868-84F1-432F-883D-B36E85A19EB2}" dt="2026-06-24T05:10:20.261" v="700" actId="1076"/>
          <ac:spMkLst>
            <pc:docMk/>
            <pc:sldMk cId="2316896268" sldId="273"/>
            <ac:spMk id="8" creationId="{AA1D0815-B0DB-8E78-0FDD-D02FC31CFE3B}"/>
          </ac:spMkLst>
        </pc:spChg>
        <pc:spChg chg="del">
          <ac:chgData name="Ashok Gopalakrishnan" userId="d8b748a0ad7c7b3a" providerId="LiveId" clId="{59FD0868-84F1-432F-883D-B36E85A19EB2}" dt="2026-06-24T05:05:46.341" v="640" actId="478"/>
          <ac:spMkLst>
            <pc:docMk/>
            <pc:sldMk cId="2316896268" sldId="273"/>
            <ac:spMk id="9" creationId="{47B1A92B-F16C-C8B9-5F53-59C305E1F55A}"/>
          </ac:spMkLst>
        </pc:spChg>
        <pc:spChg chg="del">
          <ac:chgData name="Ashok Gopalakrishnan" userId="d8b748a0ad7c7b3a" providerId="LiveId" clId="{59FD0868-84F1-432F-883D-B36E85A19EB2}" dt="2026-06-24T05:05:50.351" v="641" actId="478"/>
          <ac:spMkLst>
            <pc:docMk/>
            <pc:sldMk cId="2316896268" sldId="273"/>
            <ac:spMk id="11" creationId="{3655536E-8829-2ED8-D97B-33EEEB100ED6}"/>
          </ac:spMkLst>
        </pc:spChg>
      </pc:sldChg>
      <pc:sldChg chg="addSp delSp modSp add mod">
        <pc:chgData name="Ashok Gopalakrishnan" userId="d8b748a0ad7c7b3a" providerId="LiveId" clId="{59FD0868-84F1-432F-883D-B36E85A19EB2}" dt="2026-06-24T05:14:42.011" v="725" actId="207"/>
        <pc:sldMkLst>
          <pc:docMk/>
          <pc:sldMk cId="4260033256" sldId="274"/>
        </pc:sldMkLst>
        <pc:spChg chg="del">
          <ac:chgData name="Ashok Gopalakrishnan" userId="d8b748a0ad7c7b3a" providerId="LiveId" clId="{59FD0868-84F1-432F-883D-B36E85A19EB2}" dt="2026-06-24T05:10:51.045" v="702" actId="478"/>
          <ac:spMkLst>
            <pc:docMk/>
            <pc:sldMk cId="4260033256" sldId="274"/>
            <ac:spMk id="4" creationId="{8A592368-53DE-28D6-4042-B369D529A4AD}"/>
          </ac:spMkLst>
        </pc:spChg>
        <pc:spChg chg="add mod">
          <ac:chgData name="Ashok Gopalakrishnan" userId="d8b748a0ad7c7b3a" providerId="LiveId" clId="{59FD0868-84F1-432F-883D-B36E85A19EB2}" dt="2026-06-24T05:14:42.011" v="725" actId="207"/>
          <ac:spMkLst>
            <pc:docMk/>
            <pc:sldMk cId="4260033256" sldId="274"/>
            <ac:spMk id="5" creationId="{168AFE4A-C6FA-3CC3-05FD-137CDC3468DF}"/>
          </ac:spMkLst>
        </pc:spChg>
        <pc:spChg chg="del">
          <ac:chgData name="Ashok Gopalakrishnan" userId="d8b748a0ad7c7b3a" providerId="LiveId" clId="{59FD0868-84F1-432F-883D-B36E85A19EB2}" dt="2026-06-24T05:10:53.540" v="703" actId="478"/>
          <ac:spMkLst>
            <pc:docMk/>
            <pc:sldMk cId="4260033256" sldId="274"/>
            <ac:spMk id="7" creationId="{BC449BD1-6366-0023-5986-1B9943BF3047}"/>
          </ac:spMkLst>
        </pc:spChg>
        <pc:spChg chg="del">
          <ac:chgData name="Ashok Gopalakrishnan" userId="d8b748a0ad7c7b3a" providerId="LiveId" clId="{59FD0868-84F1-432F-883D-B36E85A19EB2}" dt="2026-06-24T05:10:56.682" v="704" actId="478"/>
          <ac:spMkLst>
            <pc:docMk/>
            <pc:sldMk cId="4260033256" sldId="274"/>
            <ac:spMk id="8" creationId="{8CE24C7D-C75C-B32A-33F9-50A74DC36AD1}"/>
          </ac:spMkLst>
        </pc:spChg>
      </pc:sldChg>
      <pc:sldChg chg="addSp delSp modSp add mod">
        <pc:chgData name="Ashok Gopalakrishnan" userId="d8b748a0ad7c7b3a" providerId="LiveId" clId="{59FD0868-84F1-432F-883D-B36E85A19EB2}" dt="2026-06-24T05:19:16.303" v="738" actId="207"/>
        <pc:sldMkLst>
          <pc:docMk/>
          <pc:sldMk cId="2797524373" sldId="275"/>
        </pc:sldMkLst>
        <pc:spChg chg="add mod">
          <ac:chgData name="Ashok Gopalakrishnan" userId="d8b748a0ad7c7b3a" providerId="LiveId" clId="{59FD0868-84F1-432F-883D-B36E85A19EB2}" dt="2026-06-24T05:19:16.303" v="738" actId="207"/>
          <ac:spMkLst>
            <pc:docMk/>
            <pc:sldMk cId="2797524373" sldId="275"/>
            <ac:spMk id="4" creationId="{8187C4A8-7010-552B-C39F-104F1292ED1A}"/>
          </ac:spMkLst>
        </pc:spChg>
        <pc:spChg chg="del">
          <ac:chgData name="Ashok Gopalakrishnan" userId="d8b748a0ad7c7b3a" providerId="LiveId" clId="{59FD0868-84F1-432F-883D-B36E85A19EB2}" dt="2026-06-24T05:17:05.651" v="727" actId="478"/>
          <ac:spMkLst>
            <pc:docMk/>
            <pc:sldMk cId="2797524373" sldId="275"/>
            <ac:spMk id="5" creationId="{6733AFF6-AF53-417C-5F1F-B81AC0E22676}"/>
          </ac:spMkLst>
        </pc:spChg>
      </pc:sldChg>
      <pc:sldChg chg="addSp delSp add mod">
        <pc:chgData name="Ashok Gopalakrishnan" userId="d8b748a0ad7c7b3a" providerId="LiveId" clId="{59FD0868-84F1-432F-883D-B36E85A19EB2}" dt="2026-06-24T05:22:39.889" v="745" actId="478"/>
        <pc:sldMkLst>
          <pc:docMk/>
          <pc:sldMk cId="1379521442" sldId="276"/>
        </pc:sldMkLst>
        <pc:spChg chg="add del">
          <ac:chgData name="Ashok Gopalakrishnan" userId="d8b748a0ad7c7b3a" providerId="LiveId" clId="{59FD0868-84F1-432F-883D-B36E85A19EB2}" dt="2026-06-24T05:22:38.981" v="744" actId="478"/>
          <ac:spMkLst>
            <pc:docMk/>
            <pc:sldMk cId="1379521442" sldId="276"/>
            <ac:spMk id="6" creationId="{265E1D4F-1370-A4E6-EEAE-FFED0BCD45F7}"/>
          </ac:spMkLst>
        </pc:spChg>
        <pc:spChg chg="add del">
          <ac:chgData name="Ashok Gopalakrishnan" userId="d8b748a0ad7c7b3a" providerId="LiveId" clId="{59FD0868-84F1-432F-883D-B36E85A19EB2}" dt="2026-06-24T05:22:35.588" v="743" actId="478"/>
          <ac:spMkLst>
            <pc:docMk/>
            <pc:sldMk cId="1379521442" sldId="276"/>
            <ac:spMk id="10" creationId="{D5A8EF04-C59C-8CE1-E584-EA8CD524A413}"/>
          </ac:spMkLst>
        </pc:spChg>
        <pc:graphicFrameChg chg="add del">
          <ac:chgData name="Ashok Gopalakrishnan" userId="d8b748a0ad7c7b3a" providerId="LiveId" clId="{59FD0868-84F1-432F-883D-B36E85A19EB2}" dt="2026-06-24T05:22:39.889" v="745" actId="478"/>
          <ac:graphicFrameMkLst>
            <pc:docMk/>
            <pc:sldMk cId="1379521442" sldId="276"/>
            <ac:graphicFrameMk id="3" creationId="{375143B9-4617-1D48-1071-07A64626CDAC}"/>
          </ac:graphicFrameMkLst>
        </pc:graphicFrameChg>
      </pc:sldChg>
      <pc:sldChg chg="addSp delSp modSp add mod">
        <pc:chgData name="Ashok Gopalakrishnan" userId="d8b748a0ad7c7b3a" providerId="LiveId" clId="{59FD0868-84F1-432F-883D-B36E85A19EB2}" dt="2026-06-24T05:27:21.221" v="789" actId="2711"/>
        <pc:sldMkLst>
          <pc:docMk/>
          <pc:sldMk cId="719810348" sldId="277"/>
        </pc:sldMkLst>
        <pc:spChg chg="del">
          <ac:chgData name="Ashok Gopalakrishnan" userId="d8b748a0ad7c7b3a" providerId="LiveId" clId="{59FD0868-84F1-432F-883D-B36E85A19EB2}" dt="2026-06-24T05:22:58.941" v="747" actId="478"/>
          <ac:spMkLst>
            <pc:docMk/>
            <pc:sldMk cId="719810348" sldId="277"/>
            <ac:spMk id="4" creationId="{A5C9EE88-9B2B-E386-83CD-F2C5CFC5CB0B}"/>
          </ac:spMkLst>
        </pc:spChg>
        <pc:spChg chg="add mod">
          <ac:chgData name="Ashok Gopalakrishnan" userId="d8b748a0ad7c7b3a" providerId="LiveId" clId="{59FD0868-84F1-432F-883D-B36E85A19EB2}" dt="2026-06-24T05:23:35.541" v="755" actId="123"/>
          <ac:spMkLst>
            <pc:docMk/>
            <pc:sldMk cId="719810348" sldId="277"/>
            <ac:spMk id="5" creationId="{E2EAF370-8A1D-3B5B-3C72-248269958065}"/>
          </ac:spMkLst>
        </pc:spChg>
        <pc:spChg chg="add mod">
          <ac:chgData name="Ashok Gopalakrishnan" userId="d8b748a0ad7c7b3a" providerId="LiveId" clId="{59FD0868-84F1-432F-883D-B36E85A19EB2}" dt="2026-06-24T05:27:03.766" v="788" actId="255"/>
          <ac:spMkLst>
            <pc:docMk/>
            <pc:sldMk cId="719810348" sldId="277"/>
            <ac:spMk id="7" creationId="{7776F53A-7911-21E0-D132-DF0C824F678D}"/>
          </ac:spMkLst>
        </pc:spChg>
        <pc:spChg chg="add mod">
          <ac:chgData name="Ashok Gopalakrishnan" userId="d8b748a0ad7c7b3a" providerId="LiveId" clId="{59FD0868-84F1-432F-883D-B36E85A19EB2}" dt="2026-06-24T05:27:21.221" v="789" actId="2711"/>
          <ac:spMkLst>
            <pc:docMk/>
            <pc:sldMk cId="719810348" sldId="277"/>
            <ac:spMk id="9" creationId="{7F24D5DC-717E-8C92-62C9-585E00B33785}"/>
          </ac:spMkLst>
        </pc:spChg>
      </pc:sldChg>
      <pc:sldChg chg="addSp delSp modSp add mod">
        <pc:chgData name="Ashok Gopalakrishnan" userId="d8b748a0ad7c7b3a" providerId="LiveId" clId="{59FD0868-84F1-432F-883D-B36E85A19EB2}" dt="2026-06-24T05:35:35.948" v="847" actId="20577"/>
        <pc:sldMkLst>
          <pc:docMk/>
          <pc:sldMk cId="3299214766" sldId="278"/>
        </pc:sldMkLst>
        <pc:spChg chg="add mod">
          <ac:chgData name="Ashok Gopalakrishnan" userId="d8b748a0ad7c7b3a" providerId="LiveId" clId="{59FD0868-84F1-432F-883D-B36E85A19EB2}" dt="2026-06-24T05:31:41.410" v="808" actId="1076"/>
          <ac:spMkLst>
            <pc:docMk/>
            <pc:sldMk cId="3299214766" sldId="278"/>
            <ac:spMk id="4" creationId="{9F42DCDD-1B9F-AE86-6EDB-DFBDE57EFC25}"/>
          </ac:spMkLst>
        </pc:spChg>
        <pc:spChg chg="del">
          <ac:chgData name="Ashok Gopalakrishnan" userId="d8b748a0ad7c7b3a" providerId="LiveId" clId="{59FD0868-84F1-432F-883D-B36E85A19EB2}" dt="2026-06-24T05:27:54.034" v="791" actId="478"/>
          <ac:spMkLst>
            <pc:docMk/>
            <pc:sldMk cId="3299214766" sldId="278"/>
            <ac:spMk id="7" creationId="{89B9D711-940E-5589-C592-C041E078C46A}"/>
          </ac:spMkLst>
        </pc:spChg>
        <pc:spChg chg="add mod">
          <ac:chgData name="Ashok Gopalakrishnan" userId="d8b748a0ad7c7b3a" providerId="LiveId" clId="{59FD0868-84F1-432F-883D-B36E85A19EB2}" dt="2026-06-24T05:35:35.948" v="847" actId="20577"/>
          <ac:spMkLst>
            <pc:docMk/>
            <pc:sldMk cId="3299214766" sldId="278"/>
            <ac:spMk id="8" creationId="{1781DAB4-4E0C-F9FB-ECAA-A89D6E33F38E}"/>
          </ac:spMkLst>
        </pc:spChg>
        <pc:spChg chg="del">
          <ac:chgData name="Ashok Gopalakrishnan" userId="d8b748a0ad7c7b3a" providerId="LiveId" clId="{59FD0868-84F1-432F-883D-B36E85A19EB2}" dt="2026-06-24T05:27:56.608" v="792" actId="478"/>
          <ac:spMkLst>
            <pc:docMk/>
            <pc:sldMk cId="3299214766" sldId="278"/>
            <ac:spMk id="9" creationId="{0BA0B7D3-BAFD-695A-F01C-DA4EDD9677EA}"/>
          </ac:spMkLst>
        </pc:spChg>
      </pc:sldChg>
      <pc:sldChg chg="addSp delSp modSp add mod">
        <pc:chgData name="Ashok Gopalakrishnan" userId="d8b748a0ad7c7b3a" providerId="LiveId" clId="{59FD0868-84F1-432F-883D-B36E85A19EB2}" dt="2026-06-24T05:39:45.349" v="896" actId="12"/>
        <pc:sldMkLst>
          <pc:docMk/>
          <pc:sldMk cId="1116545603" sldId="279"/>
        </pc:sldMkLst>
        <pc:spChg chg="del">
          <ac:chgData name="Ashok Gopalakrishnan" userId="d8b748a0ad7c7b3a" providerId="LiveId" clId="{59FD0868-84F1-432F-883D-B36E85A19EB2}" dt="2026-06-24T05:35:55.835" v="849" actId="478"/>
          <ac:spMkLst>
            <pc:docMk/>
            <pc:sldMk cId="1116545603" sldId="279"/>
            <ac:spMk id="4" creationId="{8DA2E88F-9A9C-B47A-E843-983318FF1A66}"/>
          </ac:spMkLst>
        </pc:spChg>
        <pc:spChg chg="del">
          <ac:chgData name="Ashok Gopalakrishnan" userId="d8b748a0ad7c7b3a" providerId="LiveId" clId="{59FD0868-84F1-432F-883D-B36E85A19EB2}" dt="2026-06-24T05:36:00.618" v="851" actId="478"/>
          <ac:spMkLst>
            <pc:docMk/>
            <pc:sldMk cId="1116545603" sldId="279"/>
            <ac:spMk id="5" creationId="{B1F579A0-DF0C-2B4B-D46B-4C6105989A4B}"/>
          </ac:spMkLst>
        </pc:spChg>
        <pc:spChg chg="add mod">
          <ac:chgData name="Ashok Gopalakrishnan" userId="d8b748a0ad7c7b3a" providerId="LiveId" clId="{59FD0868-84F1-432F-883D-B36E85A19EB2}" dt="2026-06-24T05:37:53.849" v="872" actId="255"/>
          <ac:spMkLst>
            <pc:docMk/>
            <pc:sldMk cId="1116545603" sldId="279"/>
            <ac:spMk id="6" creationId="{FB6C11AC-6802-A9FD-6FA7-ABE954D8E3CF}"/>
          </ac:spMkLst>
        </pc:spChg>
        <pc:spChg chg="del">
          <ac:chgData name="Ashok Gopalakrishnan" userId="d8b748a0ad7c7b3a" providerId="LiveId" clId="{59FD0868-84F1-432F-883D-B36E85A19EB2}" dt="2026-06-24T05:35:58.669" v="850" actId="478"/>
          <ac:spMkLst>
            <pc:docMk/>
            <pc:sldMk cId="1116545603" sldId="279"/>
            <ac:spMk id="8" creationId="{0CA749B2-5A5F-D59A-73D2-50298DCD52B8}"/>
          </ac:spMkLst>
        </pc:spChg>
        <pc:spChg chg="add mod">
          <ac:chgData name="Ashok Gopalakrishnan" userId="d8b748a0ad7c7b3a" providerId="LiveId" clId="{59FD0868-84F1-432F-883D-B36E85A19EB2}" dt="2026-06-24T05:38:23.308" v="881" actId="12"/>
          <ac:spMkLst>
            <pc:docMk/>
            <pc:sldMk cId="1116545603" sldId="279"/>
            <ac:spMk id="9" creationId="{9F2240D2-AC36-31FF-B2E4-06D7BEAF7A0C}"/>
          </ac:spMkLst>
        </pc:spChg>
        <pc:spChg chg="add mod">
          <ac:chgData name="Ashok Gopalakrishnan" userId="d8b748a0ad7c7b3a" providerId="LiveId" clId="{59FD0868-84F1-432F-883D-B36E85A19EB2}" dt="2026-06-24T05:39:45.349" v="896" actId="12"/>
          <ac:spMkLst>
            <pc:docMk/>
            <pc:sldMk cId="1116545603" sldId="279"/>
            <ac:spMk id="11" creationId="{C77BE6DA-C422-8734-E644-FD6AA68EA53B}"/>
          </ac:spMkLst>
        </pc:spChg>
      </pc:sldChg>
      <pc:sldChg chg="addSp delSp modSp add mod">
        <pc:chgData name="Ashok Gopalakrishnan" userId="d8b748a0ad7c7b3a" providerId="LiveId" clId="{59FD0868-84F1-432F-883D-B36E85A19EB2}" dt="2026-06-24T05:42:51.833" v="924" actId="207"/>
        <pc:sldMkLst>
          <pc:docMk/>
          <pc:sldMk cId="2721563400" sldId="280"/>
        </pc:sldMkLst>
        <pc:spChg chg="add mod">
          <ac:chgData name="Ashok Gopalakrishnan" userId="d8b748a0ad7c7b3a" providerId="LiveId" clId="{59FD0868-84F1-432F-883D-B36E85A19EB2}" dt="2026-06-24T05:42:32.808" v="918" actId="1076"/>
          <ac:spMkLst>
            <pc:docMk/>
            <pc:sldMk cId="2721563400" sldId="280"/>
            <ac:spMk id="4" creationId="{39A3F3CC-0C54-F33E-66AC-71A41DF7DA3E}"/>
          </ac:spMkLst>
        </pc:spChg>
        <pc:spChg chg="del">
          <ac:chgData name="Ashok Gopalakrishnan" userId="d8b748a0ad7c7b3a" providerId="LiveId" clId="{59FD0868-84F1-432F-883D-B36E85A19EB2}" dt="2026-06-24T05:40:22.923" v="899" actId="478"/>
          <ac:spMkLst>
            <pc:docMk/>
            <pc:sldMk cId="2721563400" sldId="280"/>
            <ac:spMk id="6" creationId="{39CABEE6-41DA-51FB-B6EE-F959F76315AB}"/>
          </ac:spMkLst>
        </pc:spChg>
        <pc:spChg chg="add mod">
          <ac:chgData name="Ashok Gopalakrishnan" userId="d8b748a0ad7c7b3a" providerId="LiveId" clId="{59FD0868-84F1-432F-883D-B36E85A19EB2}" dt="2026-06-24T05:42:51.833" v="924" actId="207"/>
          <ac:spMkLst>
            <pc:docMk/>
            <pc:sldMk cId="2721563400" sldId="280"/>
            <ac:spMk id="7" creationId="{BB0C1159-1DCF-955F-20F3-86786C74E76B}"/>
          </ac:spMkLst>
        </pc:spChg>
        <pc:spChg chg="del">
          <ac:chgData name="Ashok Gopalakrishnan" userId="d8b748a0ad7c7b3a" providerId="LiveId" clId="{59FD0868-84F1-432F-883D-B36E85A19EB2}" dt="2026-06-24T05:40:20.131" v="898" actId="478"/>
          <ac:spMkLst>
            <pc:docMk/>
            <pc:sldMk cId="2721563400" sldId="280"/>
            <ac:spMk id="9" creationId="{C0C69AFB-F6DD-76B8-6692-D04FB7B7712D}"/>
          </ac:spMkLst>
        </pc:spChg>
        <pc:spChg chg="del">
          <ac:chgData name="Ashok Gopalakrishnan" userId="d8b748a0ad7c7b3a" providerId="LiveId" clId="{59FD0868-84F1-432F-883D-B36E85A19EB2}" dt="2026-06-24T05:40:25.993" v="900" actId="478"/>
          <ac:spMkLst>
            <pc:docMk/>
            <pc:sldMk cId="2721563400" sldId="280"/>
            <ac:spMk id="11" creationId="{75BC5DA6-0551-8215-5958-8D3FB1D8A980}"/>
          </ac:spMkLst>
        </pc:spChg>
      </pc:sldChg>
      <pc:sldChg chg="addSp delSp modSp add mod ord">
        <pc:chgData name="Ashok Gopalakrishnan" userId="d8b748a0ad7c7b3a" providerId="LiveId" clId="{59FD0868-84F1-432F-883D-B36E85A19EB2}" dt="2026-06-24T05:57:22.175" v="963" actId="6549"/>
        <pc:sldMkLst>
          <pc:docMk/>
          <pc:sldMk cId="3057024216" sldId="281"/>
        </pc:sldMkLst>
        <pc:spChg chg="mod">
          <ac:chgData name="Ashok Gopalakrishnan" userId="d8b748a0ad7c7b3a" providerId="LiveId" clId="{59FD0868-84F1-432F-883D-B36E85A19EB2}" dt="2026-06-24T05:52:55.598" v="942" actId="1076"/>
          <ac:spMkLst>
            <pc:docMk/>
            <pc:sldMk cId="3057024216" sldId="281"/>
            <ac:spMk id="2" creationId="{02257C56-8628-4A0D-BF9B-18C08ED473B3}"/>
          </ac:spMkLst>
        </pc:spChg>
        <pc:spChg chg="del">
          <ac:chgData name="Ashok Gopalakrishnan" userId="d8b748a0ad7c7b3a" providerId="LiveId" clId="{59FD0868-84F1-432F-883D-B36E85A19EB2}" dt="2026-06-24T05:44:40.402" v="926" actId="478"/>
          <ac:spMkLst>
            <pc:docMk/>
            <pc:sldMk cId="3057024216" sldId="281"/>
            <ac:spMk id="4" creationId="{F647A896-44D6-59E4-7137-D500F4E280E4}"/>
          </ac:spMkLst>
        </pc:spChg>
        <pc:spChg chg="del">
          <ac:chgData name="Ashok Gopalakrishnan" userId="d8b748a0ad7c7b3a" providerId="LiveId" clId="{59FD0868-84F1-432F-883D-B36E85A19EB2}" dt="2026-06-24T05:44:46.952" v="927" actId="478"/>
          <ac:spMkLst>
            <pc:docMk/>
            <pc:sldMk cId="3057024216" sldId="281"/>
            <ac:spMk id="7" creationId="{FBDDD961-D33E-00B3-CC1A-6FDDC7D5C033}"/>
          </ac:spMkLst>
        </pc:spChg>
        <pc:spChg chg="add mod">
          <ac:chgData name="Ashok Gopalakrishnan" userId="d8b748a0ad7c7b3a" providerId="LiveId" clId="{59FD0868-84F1-432F-883D-B36E85A19EB2}" dt="2026-06-24T05:57:22.175" v="963" actId="6549"/>
          <ac:spMkLst>
            <pc:docMk/>
            <pc:sldMk cId="3057024216" sldId="281"/>
            <ac:spMk id="8" creationId="{B7EAB836-21A3-4BDA-0315-EED76C3EB552}"/>
          </ac:spMkLst>
        </pc:spChg>
        <pc:picChg chg="add mod">
          <ac:chgData name="Ashok Gopalakrishnan" userId="d8b748a0ad7c7b3a" providerId="LiveId" clId="{59FD0868-84F1-432F-883D-B36E85A19EB2}" dt="2026-06-24T05:53:02.781" v="943" actId="1076"/>
          <ac:picMkLst>
            <pc:docMk/>
            <pc:sldMk cId="3057024216" sldId="281"/>
            <ac:picMk id="5" creationId="{287DC452-737A-D423-9ECE-6655449B6FF4}"/>
          </ac:picMkLst>
        </pc:picChg>
      </pc:sldChg>
      <pc:sldChg chg="addSp delSp modSp add mod">
        <pc:chgData name="Ashok Gopalakrishnan" userId="d8b748a0ad7c7b3a" providerId="LiveId" clId="{59FD0868-84F1-432F-883D-B36E85A19EB2}" dt="2026-06-24T06:45:29.991" v="982" actId="123"/>
        <pc:sldMkLst>
          <pc:docMk/>
          <pc:sldMk cId="521184720" sldId="282"/>
        </pc:sldMkLst>
        <pc:spChg chg="del">
          <ac:chgData name="Ashok Gopalakrishnan" userId="d8b748a0ad7c7b3a" providerId="LiveId" clId="{59FD0868-84F1-432F-883D-B36E85A19EB2}" dt="2026-06-24T06:44:05.036" v="966" actId="478"/>
          <ac:spMkLst>
            <pc:docMk/>
            <pc:sldMk cId="521184720" sldId="282"/>
            <ac:spMk id="4" creationId="{2CE0C198-B9F7-CD22-80C4-E0EC07DF81E5}"/>
          </ac:spMkLst>
        </pc:spChg>
        <pc:spChg chg="add mod">
          <ac:chgData name="Ashok Gopalakrishnan" userId="d8b748a0ad7c7b3a" providerId="LiveId" clId="{59FD0868-84F1-432F-883D-B36E85A19EB2}" dt="2026-06-24T06:44:48.975" v="975" actId="20577"/>
          <ac:spMkLst>
            <pc:docMk/>
            <pc:sldMk cId="521184720" sldId="282"/>
            <ac:spMk id="5" creationId="{1595E499-8D27-9895-8386-CB9B91952CD4}"/>
          </ac:spMkLst>
        </pc:spChg>
        <pc:spChg chg="del">
          <ac:chgData name="Ashok Gopalakrishnan" userId="d8b748a0ad7c7b3a" providerId="LiveId" clId="{59FD0868-84F1-432F-883D-B36E85A19EB2}" dt="2026-06-24T06:44:02.454" v="965" actId="478"/>
          <ac:spMkLst>
            <pc:docMk/>
            <pc:sldMk cId="521184720" sldId="282"/>
            <ac:spMk id="7" creationId="{A4D0D294-037B-04CC-A2E7-606470134D8B}"/>
          </ac:spMkLst>
        </pc:spChg>
        <pc:spChg chg="add mod">
          <ac:chgData name="Ashok Gopalakrishnan" userId="d8b748a0ad7c7b3a" providerId="LiveId" clId="{59FD0868-84F1-432F-883D-B36E85A19EB2}" dt="2026-06-24T06:45:29.991" v="982" actId="123"/>
          <ac:spMkLst>
            <pc:docMk/>
            <pc:sldMk cId="521184720" sldId="282"/>
            <ac:spMk id="8" creationId="{C0E0229E-732C-4F8F-F9AB-5B6820F4DBF0}"/>
          </ac:spMkLst>
        </pc:spChg>
      </pc:sldChg>
      <pc:sldChg chg="addSp delSp modSp add mod ord">
        <pc:chgData name="Ashok Gopalakrishnan" userId="d8b748a0ad7c7b3a" providerId="LiveId" clId="{59FD0868-84F1-432F-883D-B36E85A19EB2}" dt="2026-06-24T06:52:06.344" v="1042" actId="1076"/>
        <pc:sldMkLst>
          <pc:docMk/>
          <pc:sldMk cId="3498536291" sldId="283"/>
        </pc:sldMkLst>
        <pc:spChg chg="add mod">
          <ac:chgData name="Ashok Gopalakrishnan" userId="d8b748a0ad7c7b3a" providerId="LiveId" clId="{59FD0868-84F1-432F-883D-B36E85A19EB2}" dt="2026-06-24T06:48:48.458" v="1003" actId="1076"/>
          <ac:spMkLst>
            <pc:docMk/>
            <pc:sldMk cId="3498536291" sldId="283"/>
            <ac:spMk id="4" creationId="{25AB89D5-D7D3-E2A8-8D37-43B5AE483A99}"/>
          </ac:spMkLst>
        </pc:spChg>
        <pc:spChg chg="del">
          <ac:chgData name="Ashok Gopalakrishnan" userId="d8b748a0ad7c7b3a" providerId="LiveId" clId="{59FD0868-84F1-432F-883D-B36E85A19EB2}" dt="2026-06-24T06:45:47.771" v="984" actId="478"/>
          <ac:spMkLst>
            <pc:docMk/>
            <pc:sldMk cId="3498536291" sldId="283"/>
            <ac:spMk id="5" creationId="{8919317E-54F0-C825-0EC2-D34EA767AE44}"/>
          </ac:spMkLst>
        </pc:spChg>
        <pc:spChg chg="add mod">
          <ac:chgData name="Ashok Gopalakrishnan" userId="d8b748a0ad7c7b3a" providerId="LiveId" clId="{59FD0868-84F1-432F-883D-B36E85A19EB2}" dt="2026-06-24T06:50:03.659" v="1020" actId="12"/>
          <ac:spMkLst>
            <pc:docMk/>
            <pc:sldMk cId="3498536291" sldId="283"/>
            <ac:spMk id="7" creationId="{DF474697-FEAE-FBE6-AF2D-4D280DAF2EB0}"/>
          </ac:spMkLst>
        </pc:spChg>
        <pc:spChg chg="del">
          <ac:chgData name="Ashok Gopalakrishnan" userId="d8b748a0ad7c7b3a" providerId="LiveId" clId="{59FD0868-84F1-432F-883D-B36E85A19EB2}" dt="2026-06-24T06:45:49.990" v="985" actId="478"/>
          <ac:spMkLst>
            <pc:docMk/>
            <pc:sldMk cId="3498536291" sldId="283"/>
            <ac:spMk id="8" creationId="{5F278BF5-C699-980B-6D91-3C7952F41715}"/>
          </ac:spMkLst>
        </pc:spChg>
        <pc:spChg chg="add mod">
          <ac:chgData name="Ashok Gopalakrishnan" userId="d8b748a0ad7c7b3a" providerId="LiveId" clId="{59FD0868-84F1-432F-883D-B36E85A19EB2}" dt="2026-06-24T06:52:06.344" v="1042" actId="1076"/>
          <ac:spMkLst>
            <pc:docMk/>
            <pc:sldMk cId="3498536291" sldId="283"/>
            <ac:spMk id="10" creationId="{F8E524B0-F8C7-4FE9-FCBE-C0FF9E3249A7}"/>
          </ac:spMkLst>
        </pc:spChg>
      </pc:sldChg>
      <pc:sldChg chg="addSp delSp modSp add mod">
        <pc:chgData name="Ashok Gopalakrishnan" userId="d8b748a0ad7c7b3a" providerId="LiveId" clId="{59FD0868-84F1-432F-883D-B36E85A19EB2}" dt="2026-06-24T07:09:37.631" v="1094" actId="478"/>
        <pc:sldMkLst>
          <pc:docMk/>
          <pc:sldMk cId="1351270831" sldId="284"/>
        </pc:sldMkLst>
        <pc:spChg chg="del">
          <ac:chgData name="Ashok Gopalakrishnan" userId="d8b748a0ad7c7b3a" providerId="LiveId" clId="{59FD0868-84F1-432F-883D-B36E85A19EB2}" dt="2026-06-24T06:56:35.781" v="1046" actId="478"/>
          <ac:spMkLst>
            <pc:docMk/>
            <pc:sldMk cId="1351270831" sldId="284"/>
            <ac:spMk id="4" creationId="{3C7B0294-C068-17C9-1868-58E1E0772480}"/>
          </ac:spMkLst>
        </pc:spChg>
        <pc:spChg chg="add mod">
          <ac:chgData name="Ashok Gopalakrishnan" userId="d8b748a0ad7c7b3a" providerId="LiveId" clId="{59FD0868-84F1-432F-883D-B36E85A19EB2}" dt="2026-06-24T06:58:12.199" v="1062" actId="1076"/>
          <ac:spMkLst>
            <pc:docMk/>
            <pc:sldMk cId="1351270831" sldId="284"/>
            <ac:spMk id="5" creationId="{1B2799D6-7886-D304-E1C6-22A692D06AD7}"/>
          </ac:spMkLst>
        </pc:spChg>
        <pc:spChg chg="del">
          <ac:chgData name="Ashok Gopalakrishnan" userId="d8b748a0ad7c7b3a" providerId="LiveId" clId="{59FD0868-84F1-432F-883D-B36E85A19EB2}" dt="2026-06-24T06:56:33.759" v="1045" actId="478"/>
          <ac:spMkLst>
            <pc:docMk/>
            <pc:sldMk cId="1351270831" sldId="284"/>
            <ac:spMk id="7" creationId="{5FE638F6-55DA-C818-9C52-FB79690B841F}"/>
          </ac:spMkLst>
        </pc:spChg>
        <pc:spChg chg="add del mod">
          <ac:chgData name="Ashok Gopalakrishnan" userId="d8b748a0ad7c7b3a" providerId="LiveId" clId="{59FD0868-84F1-432F-883D-B36E85A19EB2}" dt="2026-06-24T07:09:37.631" v="1094" actId="478"/>
          <ac:spMkLst>
            <pc:docMk/>
            <pc:sldMk cId="1351270831" sldId="284"/>
            <ac:spMk id="8" creationId="{8CF26885-9A94-E0AD-DD49-24C37ADD1845}"/>
          </ac:spMkLst>
        </pc:spChg>
        <pc:spChg chg="del">
          <ac:chgData name="Ashok Gopalakrishnan" userId="d8b748a0ad7c7b3a" providerId="LiveId" clId="{59FD0868-84F1-432F-883D-B36E85A19EB2}" dt="2026-06-24T06:56:31.662" v="1044" actId="478"/>
          <ac:spMkLst>
            <pc:docMk/>
            <pc:sldMk cId="1351270831" sldId="284"/>
            <ac:spMk id="10" creationId="{01FC275A-500B-7E20-7E30-2F0DE505B85D}"/>
          </ac:spMkLst>
        </pc:spChg>
      </pc:sldChg>
      <pc:sldChg chg="addSp delSp modSp add mod">
        <pc:chgData name="Ashok Gopalakrishnan" userId="d8b748a0ad7c7b3a" providerId="LiveId" clId="{59FD0868-84F1-432F-883D-B36E85A19EB2}" dt="2026-06-24T07:03:18.755" v="1086" actId="1076"/>
        <pc:sldMkLst>
          <pc:docMk/>
          <pc:sldMk cId="1380218469" sldId="285"/>
        </pc:sldMkLst>
        <pc:spChg chg="del mod">
          <ac:chgData name="Ashok Gopalakrishnan" userId="d8b748a0ad7c7b3a" providerId="LiveId" clId="{59FD0868-84F1-432F-883D-B36E85A19EB2}" dt="2026-06-24T07:00:33.094" v="1066" actId="478"/>
          <ac:spMkLst>
            <pc:docMk/>
            <pc:sldMk cId="1380218469" sldId="285"/>
            <ac:spMk id="4" creationId="{4E48229F-F351-B591-0389-84EB0046DD02}"/>
          </ac:spMkLst>
        </pc:spChg>
        <pc:spChg chg="add mod">
          <ac:chgData name="Ashok Gopalakrishnan" userId="d8b748a0ad7c7b3a" providerId="LiveId" clId="{59FD0868-84F1-432F-883D-B36E85A19EB2}" dt="2026-06-24T07:01:42.993" v="1078" actId="113"/>
          <ac:spMkLst>
            <pc:docMk/>
            <pc:sldMk cId="1380218469" sldId="285"/>
            <ac:spMk id="5" creationId="{631D431A-C4BE-9F5A-A7A2-33B5992D7E6B}"/>
          </ac:spMkLst>
        </pc:spChg>
        <pc:spChg chg="del">
          <ac:chgData name="Ashok Gopalakrishnan" userId="d8b748a0ad7c7b3a" providerId="LiveId" clId="{59FD0868-84F1-432F-883D-B36E85A19EB2}" dt="2026-06-24T07:00:29.959" v="1064" actId="478"/>
          <ac:spMkLst>
            <pc:docMk/>
            <pc:sldMk cId="1380218469" sldId="285"/>
            <ac:spMk id="7" creationId="{E1794657-CAA6-C192-8985-7A70CCB7FD36}"/>
          </ac:spMkLst>
        </pc:spChg>
        <pc:spChg chg="add mod">
          <ac:chgData name="Ashok Gopalakrishnan" userId="d8b748a0ad7c7b3a" providerId="LiveId" clId="{59FD0868-84F1-432F-883D-B36E85A19EB2}" dt="2026-06-24T07:03:18.755" v="1086" actId="1076"/>
          <ac:spMkLst>
            <pc:docMk/>
            <pc:sldMk cId="1380218469" sldId="285"/>
            <ac:spMk id="8" creationId="{099DA376-651C-4F8F-47C0-52F70DF71167}"/>
          </ac:spMkLst>
        </pc:spChg>
      </pc:sldChg>
      <pc:sldChg chg="addSp delSp modSp add mod">
        <pc:chgData name="Ashok Gopalakrishnan" userId="d8b748a0ad7c7b3a" providerId="LiveId" clId="{59FD0868-84F1-432F-883D-B36E85A19EB2}" dt="2026-06-24T07:12:40.102" v="1137" actId="12"/>
        <pc:sldMkLst>
          <pc:docMk/>
          <pc:sldMk cId="2711411096" sldId="286"/>
        </pc:sldMkLst>
        <pc:spChg chg="add mod">
          <ac:chgData name="Ashok Gopalakrishnan" userId="d8b748a0ad7c7b3a" providerId="LiveId" clId="{59FD0868-84F1-432F-883D-B36E85A19EB2}" dt="2026-06-24T07:12:40.102" v="1137" actId="12"/>
          <ac:spMkLst>
            <pc:docMk/>
            <pc:sldMk cId="2711411096" sldId="286"/>
            <ac:spMk id="4" creationId="{EF4E03E5-6F65-54BA-6AC4-213D98B2B500}"/>
          </ac:spMkLst>
        </pc:spChg>
        <pc:spChg chg="del">
          <ac:chgData name="Ashok Gopalakrishnan" userId="d8b748a0ad7c7b3a" providerId="LiveId" clId="{59FD0868-84F1-432F-883D-B36E85A19EB2}" dt="2026-06-24T07:09:54.766" v="1096" actId="478"/>
          <ac:spMkLst>
            <pc:docMk/>
            <pc:sldMk cId="2711411096" sldId="286"/>
            <ac:spMk id="5" creationId="{01B70BC4-A527-B45D-3B11-29F6BB836974}"/>
          </ac:spMkLst>
        </pc:spChg>
      </pc:sldChg>
      <pc:sldChg chg="addSp delSp modSp add mod">
        <pc:chgData name="Ashok Gopalakrishnan" userId="d8b748a0ad7c7b3a" providerId="LiveId" clId="{59FD0868-84F1-432F-883D-B36E85A19EB2}" dt="2026-06-24T07:16:45.363" v="1205" actId="122"/>
        <pc:sldMkLst>
          <pc:docMk/>
          <pc:sldMk cId="2177552192" sldId="287"/>
        </pc:sldMkLst>
        <pc:spChg chg="del">
          <ac:chgData name="Ashok Gopalakrishnan" userId="d8b748a0ad7c7b3a" providerId="LiveId" clId="{59FD0868-84F1-432F-883D-B36E85A19EB2}" dt="2026-06-24T07:13:17.318" v="1139" actId="478"/>
          <ac:spMkLst>
            <pc:docMk/>
            <pc:sldMk cId="2177552192" sldId="287"/>
            <ac:spMk id="4" creationId="{8ED3BA92-1CDB-0422-B623-34AD0C300155}"/>
          </ac:spMkLst>
        </pc:spChg>
        <pc:spChg chg="add mod">
          <ac:chgData name="Ashok Gopalakrishnan" userId="d8b748a0ad7c7b3a" providerId="LiveId" clId="{59FD0868-84F1-432F-883D-B36E85A19EB2}" dt="2026-06-24T07:15:43.013" v="1160" actId="255"/>
          <ac:spMkLst>
            <pc:docMk/>
            <pc:sldMk cId="2177552192" sldId="287"/>
            <ac:spMk id="5" creationId="{10CBA413-D267-36E7-80BD-AE37212DF74E}"/>
          </ac:spMkLst>
        </pc:spChg>
        <pc:spChg chg="add mod">
          <ac:chgData name="Ashok Gopalakrishnan" userId="d8b748a0ad7c7b3a" providerId="LiveId" clId="{59FD0868-84F1-432F-883D-B36E85A19EB2}" dt="2026-06-24T07:16:45.363" v="1205" actId="122"/>
          <ac:spMkLst>
            <pc:docMk/>
            <pc:sldMk cId="2177552192" sldId="287"/>
            <ac:spMk id="6" creationId="{3772572E-7F36-FBF8-9CB9-423CF666F205}"/>
          </ac:spMkLst>
        </pc:spChg>
      </pc:sldChg>
      <pc:sldChg chg="addSp delSp modSp add mod">
        <pc:chgData name="Ashok Gopalakrishnan" userId="d8b748a0ad7c7b3a" providerId="LiveId" clId="{59FD0868-84F1-432F-883D-B36E85A19EB2}" dt="2026-06-24T07:22:25.440" v="1224" actId="123"/>
        <pc:sldMkLst>
          <pc:docMk/>
          <pc:sldMk cId="4201691478" sldId="288"/>
        </pc:sldMkLst>
        <pc:spChg chg="del">
          <ac:chgData name="Ashok Gopalakrishnan" userId="d8b748a0ad7c7b3a" providerId="LiveId" clId="{59FD0868-84F1-432F-883D-B36E85A19EB2}" dt="2026-06-24T07:20:19.002" v="1211" actId="478"/>
          <ac:spMkLst>
            <pc:docMk/>
            <pc:sldMk cId="4201691478" sldId="288"/>
            <ac:spMk id="2" creationId="{F8A7ED31-65FB-BB0D-82CE-D1241420B6E9}"/>
          </ac:spMkLst>
        </pc:spChg>
        <pc:spChg chg="del">
          <ac:chgData name="Ashok Gopalakrishnan" userId="d8b748a0ad7c7b3a" providerId="LiveId" clId="{59FD0868-84F1-432F-883D-B36E85A19EB2}" dt="2026-06-24T07:17:18.189" v="1207" actId="478"/>
          <ac:spMkLst>
            <pc:docMk/>
            <pc:sldMk cId="4201691478" sldId="288"/>
            <ac:spMk id="5" creationId="{7EAA8582-08C7-D714-F4E2-04DC53A2E085}"/>
          </ac:spMkLst>
        </pc:spChg>
        <pc:spChg chg="add del mod">
          <ac:chgData name="Ashok Gopalakrishnan" userId="d8b748a0ad7c7b3a" providerId="LiveId" clId="{59FD0868-84F1-432F-883D-B36E85A19EB2}" dt="2026-06-24T07:20:22.092" v="1212" actId="478"/>
          <ac:spMkLst>
            <pc:docMk/>
            <pc:sldMk cId="4201691478" sldId="288"/>
            <ac:spMk id="7" creationId="{19BB1CAC-D1C4-D836-69CB-98B9EA4163B3}"/>
          </ac:spMkLst>
        </pc:spChg>
        <pc:spChg chg="del">
          <ac:chgData name="Ashok Gopalakrishnan" userId="d8b748a0ad7c7b3a" providerId="LiveId" clId="{59FD0868-84F1-432F-883D-B36E85A19EB2}" dt="2026-06-24T07:17:20.731" v="1208" actId="478"/>
          <ac:spMkLst>
            <pc:docMk/>
            <pc:sldMk cId="4201691478" sldId="288"/>
            <ac:spMk id="8" creationId="{F498F3A5-C228-F9D5-3AC8-1D828FA17E05}"/>
          </ac:spMkLst>
        </pc:spChg>
        <pc:spChg chg="add mod">
          <ac:chgData name="Ashok Gopalakrishnan" userId="d8b748a0ad7c7b3a" providerId="LiveId" clId="{59FD0868-84F1-432F-883D-B36E85A19EB2}" dt="2026-06-24T07:22:25.440" v="1224" actId="123"/>
          <ac:spMkLst>
            <pc:docMk/>
            <pc:sldMk cId="4201691478" sldId="288"/>
            <ac:spMk id="10" creationId="{68559ED5-496F-35A3-E0EF-D7FDCAEB1A84}"/>
          </ac:spMkLst>
        </pc:spChg>
        <pc:picChg chg="add mod">
          <ac:chgData name="Ashok Gopalakrishnan" userId="d8b748a0ad7c7b3a" providerId="LiveId" clId="{59FD0868-84F1-432F-883D-B36E85A19EB2}" dt="2026-06-24T07:21:47.132" v="1217" actId="1076"/>
          <ac:picMkLst>
            <pc:docMk/>
            <pc:sldMk cId="4201691478" sldId="288"/>
            <ac:picMk id="4" creationId="{E3796652-30F6-47EC-6A20-9FCAC4994178}"/>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8C933-AA78-F481-25A2-B064D0499E3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C9E4507-13E3-0B15-0AFF-1D74BB566F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10F2768-1ADF-665F-7024-3109698EC3B6}"/>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5" name="Footer Placeholder 4">
            <a:extLst>
              <a:ext uri="{FF2B5EF4-FFF2-40B4-BE49-F238E27FC236}">
                <a16:creationId xmlns:a16="http://schemas.microsoft.com/office/drawing/2014/main" id="{A58423D3-E21E-5A8D-AF9C-CDEFDA76F3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48F3B5-E91C-4092-5FB4-5A8990E5A738}"/>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4017712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030CD-2B07-2325-A053-EFB66C8781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B73BE5A-B6FE-9704-6F19-B6495264A3C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9DD4B4-FDE8-B9A3-BF30-0D010C31FECF}"/>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5" name="Footer Placeholder 4">
            <a:extLst>
              <a:ext uri="{FF2B5EF4-FFF2-40B4-BE49-F238E27FC236}">
                <a16:creationId xmlns:a16="http://schemas.microsoft.com/office/drawing/2014/main" id="{5D733AD2-2D6C-00CD-496E-845C03DF4E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345548-0493-7131-BB58-6B3CB2DBC1A7}"/>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3199084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B3190-BFD5-1F28-D779-E15800405B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5DDDB0-B5B0-9EC9-3003-EA0E6A1551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099049-F8CF-F060-1790-16A190D41B25}"/>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5" name="Footer Placeholder 4">
            <a:extLst>
              <a:ext uri="{FF2B5EF4-FFF2-40B4-BE49-F238E27FC236}">
                <a16:creationId xmlns:a16="http://schemas.microsoft.com/office/drawing/2014/main" id="{7C635191-FA03-2941-E6CD-3D94776CF2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D96A03-6AB9-FA0B-48EC-C83CF0E83C6C}"/>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643409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11B16-175A-8DFB-FD2E-93403E000F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9CD19C9-DC5B-9783-6360-B4F20BA22C9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0AF474F-DD1C-5248-4067-82C24CBE0B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33A1449-D359-0A4F-A790-49CBD1E0D85B}"/>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6" name="Footer Placeholder 5">
            <a:extLst>
              <a:ext uri="{FF2B5EF4-FFF2-40B4-BE49-F238E27FC236}">
                <a16:creationId xmlns:a16="http://schemas.microsoft.com/office/drawing/2014/main" id="{546F6F74-645E-70AA-09BC-D15371E721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BDD843-3A03-BE3E-C56B-802959D357D8}"/>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414644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3F7C8-58B4-2E36-CD07-E7B71CADB2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5ACB97-FBAE-7622-2DAD-C7B0FC4120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E3A16C-4A72-079F-D66F-056BD8EC28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CFE927-1705-604F-2883-71CC3DE981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FF10871-1CA0-B3DA-6846-C6B68C9CE4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4EA4D1-5A96-282E-C494-267DF645385A}"/>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8" name="Footer Placeholder 7">
            <a:extLst>
              <a:ext uri="{FF2B5EF4-FFF2-40B4-BE49-F238E27FC236}">
                <a16:creationId xmlns:a16="http://schemas.microsoft.com/office/drawing/2014/main" id="{E0F4F3B1-F7AB-D242-E441-E5F26B6FCD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A9A379-510E-DD88-0A51-0FB53543C8A7}"/>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2947305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6E861-1034-90FD-F0AA-6645A90C4D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3E9F41-C943-E4CF-6E30-B849E44B7B00}"/>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4" name="Footer Placeholder 3">
            <a:extLst>
              <a:ext uri="{FF2B5EF4-FFF2-40B4-BE49-F238E27FC236}">
                <a16:creationId xmlns:a16="http://schemas.microsoft.com/office/drawing/2014/main" id="{B907C842-4DB9-53CE-6D33-0B0EE9A08F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2236B9-05E0-AFC3-16D7-A902E7E8AEF8}"/>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12453706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A45F02-470A-A7F2-4D7A-CF6F83072580}"/>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3" name="Footer Placeholder 2">
            <a:extLst>
              <a:ext uri="{FF2B5EF4-FFF2-40B4-BE49-F238E27FC236}">
                <a16:creationId xmlns:a16="http://schemas.microsoft.com/office/drawing/2014/main" id="{85631496-A5BC-97C9-4034-1486B6492E9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43BEF9-00AD-E835-3642-36982ED2BC04}"/>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356838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4001D-FF2D-EC47-70B3-DAF50A5401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BB3F81-5CC8-FAE6-AEEF-9714C428E3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5A320B-1F2D-0886-E707-34E7C6A5CE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69CAB40-2371-928D-32A8-E34A3CA633FE}"/>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6" name="Footer Placeholder 5">
            <a:extLst>
              <a:ext uri="{FF2B5EF4-FFF2-40B4-BE49-F238E27FC236}">
                <a16:creationId xmlns:a16="http://schemas.microsoft.com/office/drawing/2014/main" id="{AAA24B71-1A50-7D5F-E42C-35120CBFBD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9A3210-E989-1B96-3545-226968F4ABAD}"/>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1818240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50970-2C1E-8D2E-B7AF-EB169359A8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356DF05-7CFD-8C07-02CE-E46A4B9401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178C768-6334-69C2-995D-C8A396B22D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3B5209-C915-C0D9-0E8B-2A0940DF465E}"/>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6" name="Footer Placeholder 5">
            <a:extLst>
              <a:ext uri="{FF2B5EF4-FFF2-40B4-BE49-F238E27FC236}">
                <a16:creationId xmlns:a16="http://schemas.microsoft.com/office/drawing/2014/main" id="{57CF52C0-F952-1952-42FD-CE69CC5FFA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8BAC39-A854-57C0-5368-4F6CC2A18F77}"/>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3946111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9D940-6289-5AE2-1D2A-45E4276665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882A8A-C7B0-8AF6-457F-899A32A112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0C3C89-8D2B-6184-B92B-8002E9E9EF5C}"/>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5" name="Footer Placeholder 4">
            <a:extLst>
              <a:ext uri="{FF2B5EF4-FFF2-40B4-BE49-F238E27FC236}">
                <a16:creationId xmlns:a16="http://schemas.microsoft.com/office/drawing/2014/main" id="{AF16D5D3-6817-8937-10B7-FCAB8FB6A4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70F2AF-5E9E-065A-1F80-CF7468AE001A}"/>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1921584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621E6BC-10C3-79ED-95B8-77BFE795BFA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77B711D-6BA1-4C30-7792-3032BC692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6B784F-ADEE-21F6-71A5-30FFFE9940F5}"/>
              </a:ext>
            </a:extLst>
          </p:cNvPr>
          <p:cNvSpPr>
            <a:spLocks noGrp="1"/>
          </p:cNvSpPr>
          <p:nvPr>
            <p:ph type="dt" sz="half" idx="10"/>
          </p:nvPr>
        </p:nvSpPr>
        <p:spPr/>
        <p:txBody>
          <a:bodyPr/>
          <a:lstStyle/>
          <a:p>
            <a:fld id="{E0631B01-A39F-499E-915D-97C61C56FC1F}" type="datetimeFigureOut">
              <a:rPr lang="en-US" smtClean="0"/>
              <a:t>6/24/2026</a:t>
            </a:fld>
            <a:endParaRPr lang="en-US"/>
          </a:p>
        </p:txBody>
      </p:sp>
      <p:sp>
        <p:nvSpPr>
          <p:cNvPr id="5" name="Footer Placeholder 4">
            <a:extLst>
              <a:ext uri="{FF2B5EF4-FFF2-40B4-BE49-F238E27FC236}">
                <a16:creationId xmlns:a16="http://schemas.microsoft.com/office/drawing/2014/main" id="{0E594892-165F-4FB3-C081-34B06AC221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AE3847-5575-5186-D037-718F9E57A700}"/>
              </a:ext>
            </a:extLst>
          </p:cNvPr>
          <p:cNvSpPr>
            <a:spLocks noGrp="1"/>
          </p:cNvSpPr>
          <p:nvPr>
            <p:ph type="sldNum" sz="quarter" idx="12"/>
          </p:nvPr>
        </p:nvSpPr>
        <p:spPr/>
        <p:txBody>
          <a:bodyPr/>
          <a:lstStyle/>
          <a:p>
            <a:fld id="{A46A38E2-4997-4627-B805-4BF431B4E3A1}" type="slidenum">
              <a:rPr lang="en-US" smtClean="0"/>
              <a:t>‹#›</a:t>
            </a:fld>
            <a:endParaRPr lang="en-US"/>
          </a:p>
        </p:txBody>
      </p:sp>
    </p:spTree>
    <p:extLst>
      <p:ext uri="{BB962C8B-B14F-4D97-AF65-F5344CB8AC3E}">
        <p14:creationId xmlns:p14="http://schemas.microsoft.com/office/powerpoint/2010/main" val="3305350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AACCA2-452E-9D2A-6A8C-4E6C6AA139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172F1D-9E86-8693-3507-488FC26BE5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9407FA-10FD-38FB-8599-035CFE1C06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0631B01-A39F-499E-915D-97C61C56FC1F}" type="datetimeFigureOut">
              <a:rPr lang="en-US" smtClean="0"/>
              <a:t>6/24/2026</a:t>
            </a:fld>
            <a:endParaRPr lang="en-US"/>
          </a:p>
        </p:txBody>
      </p:sp>
      <p:sp>
        <p:nvSpPr>
          <p:cNvPr id="5" name="Footer Placeholder 4">
            <a:extLst>
              <a:ext uri="{FF2B5EF4-FFF2-40B4-BE49-F238E27FC236}">
                <a16:creationId xmlns:a16="http://schemas.microsoft.com/office/drawing/2014/main" id="{C5E04F4C-7736-15DB-A051-C23B17B8BE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7E1814-7D99-E85D-85F8-C5F8173E56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46A38E2-4997-4627-B805-4BF431B4E3A1}" type="slidenum">
              <a:rPr lang="en-US" smtClean="0"/>
              <a:t>‹#›</a:t>
            </a:fld>
            <a:endParaRPr lang="en-US"/>
          </a:p>
        </p:txBody>
      </p:sp>
    </p:spTree>
    <p:extLst>
      <p:ext uri="{BB962C8B-B14F-4D97-AF65-F5344CB8AC3E}">
        <p14:creationId xmlns:p14="http://schemas.microsoft.com/office/powerpoint/2010/main" val="18793715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83B8D-37D6-3EEC-C77F-FA1533B9088D}"/>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3" name="Subtitle 2">
            <a:extLst>
              <a:ext uri="{FF2B5EF4-FFF2-40B4-BE49-F238E27FC236}">
                <a16:creationId xmlns:a16="http://schemas.microsoft.com/office/drawing/2014/main" id="{AEF651EA-FEBD-C80A-E57E-3B68D92F8238}"/>
              </a:ext>
            </a:extLst>
          </p:cNvPr>
          <p:cNvSpPr>
            <a:spLocks noGrp="1"/>
          </p:cNvSpPr>
          <p:nvPr>
            <p:ph type="subTitle" idx="1"/>
          </p:nvPr>
        </p:nvSpPr>
        <p:spPr>
          <a:xfrm>
            <a:off x="8593394" y="2625212"/>
            <a:ext cx="3047999" cy="2635045"/>
          </a:xfrm>
        </p:spPr>
        <p:txBody>
          <a:bodyPr>
            <a:normAutofit/>
          </a:bodyPr>
          <a:lstStyle/>
          <a:p>
            <a:r>
              <a:rPr lang="en-US" dirty="0">
                <a:latin typeface="Arial Black" panose="020B0A04020102020204" pitchFamily="34" charset="0"/>
              </a:rPr>
              <a:t>Dr Ashok Gopalakrishnan</a:t>
            </a:r>
          </a:p>
          <a:p>
            <a:r>
              <a:rPr lang="en-US" dirty="0">
                <a:latin typeface="Arial Black" panose="020B0A04020102020204" pitchFamily="34" charset="0"/>
              </a:rPr>
              <a:t>Scientist Emeritus</a:t>
            </a:r>
          </a:p>
        </p:txBody>
      </p:sp>
      <p:pic>
        <p:nvPicPr>
          <p:cNvPr id="5" name="Picture 4">
            <a:extLst>
              <a:ext uri="{FF2B5EF4-FFF2-40B4-BE49-F238E27FC236}">
                <a16:creationId xmlns:a16="http://schemas.microsoft.com/office/drawing/2014/main" id="{76B06AF8-1ECB-7375-3B83-FC60FE75E2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48697"/>
            <a:ext cx="8170607" cy="5533105"/>
          </a:xfrm>
          <a:prstGeom prst="rect">
            <a:avLst/>
          </a:prstGeom>
        </p:spPr>
      </p:pic>
    </p:spTree>
    <p:extLst>
      <p:ext uri="{BB962C8B-B14F-4D97-AF65-F5344CB8AC3E}">
        <p14:creationId xmlns:p14="http://schemas.microsoft.com/office/powerpoint/2010/main" val="352190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4D2C-5052-A3B0-024A-85A36C9A20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3AB389-7516-7BA9-1A23-C99FD3B1D329}"/>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8" name="TextBox 7">
            <a:extLst>
              <a:ext uri="{FF2B5EF4-FFF2-40B4-BE49-F238E27FC236}">
                <a16:creationId xmlns:a16="http://schemas.microsoft.com/office/drawing/2014/main" id="{157812E1-E2CF-6D4A-ED0B-A3C80FDDD39D}"/>
              </a:ext>
            </a:extLst>
          </p:cNvPr>
          <p:cNvSpPr txBox="1"/>
          <p:nvPr/>
        </p:nvSpPr>
        <p:spPr>
          <a:xfrm>
            <a:off x="884903" y="1600566"/>
            <a:ext cx="10205884" cy="1200329"/>
          </a:xfrm>
          <a:prstGeom prst="rect">
            <a:avLst/>
          </a:prstGeom>
          <a:noFill/>
        </p:spPr>
        <p:txBody>
          <a:bodyPr wrap="square">
            <a:spAutoFit/>
          </a:bodyPr>
          <a:lstStyle/>
          <a:p>
            <a:pPr algn="just"/>
            <a:r>
              <a:rPr lang="en-US" b="0" i="0" dirty="0">
                <a:effectLst/>
                <a:latin typeface="Arial Black" panose="020B0A04020102020204" pitchFamily="34" charset="0"/>
              </a:rPr>
              <a:t>The </a:t>
            </a:r>
            <a:r>
              <a:rPr lang="en-US" b="1" i="0" dirty="0">
                <a:solidFill>
                  <a:srgbClr val="FF0000"/>
                </a:solidFill>
                <a:effectLst/>
                <a:latin typeface="Arial Black" panose="020B0A04020102020204" pitchFamily="34" charset="0"/>
              </a:rPr>
              <a:t>K-Nearest Neighbors (KNN)</a:t>
            </a:r>
            <a:r>
              <a:rPr lang="en-US" b="0" i="0" dirty="0">
                <a:solidFill>
                  <a:srgbClr val="FF0000"/>
                </a:solidFill>
                <a:effectLst/>
                <a:latin typeface="Arial Black" panose="020B0A04020102020204" pitchFamily="34" charset="0"/>
              </a:rPr>
              <a:t> algorithm </a:t>
            </a:r>
            <a:r>
              <a:rPr lang="en-US" b="0" i="0" dirty="0">
                <a:effectLst/>
                <a:latin typeface="Arial Black" panose="020B0A04020102020204" pitchFamily="34" charset="0"/>
              </a:rPr>
              <a:t>is a supervised machine learning technique used for both classification and regression tasks. It operates on the principle of proximity, predicting the output for a new data point based on the labels or values of its nearest neighbors in the training dataset.</a:t>
            </a:r>
            <a:endParaRPr lang="en-US" dirty="0">
              <a:latin typeface="Arial Black" panose="020B0A04020102020204" pitchFamily="34" charset="0"/>
            </a:endParaRPr>
          </a:p>
        </p:txBody>
      </p:sp>
      <p:sp>
        <p:nvSpPr>
          <p:cNvPr id="10" name="TextBox 9">
            <a:extLst>
              <a:ext uri="{FF2B5EF4-FFF2-40B4-BE49-F238E27FC236}">
                <a16:creationId xmlns:a16="http://schemas.microsoft.com/office/drawing/2014/main" id="{B8BDA865-CFFA-8EB3-83DE-3A398C3C4DCA}"/>
              </a:ext>
            </a:extLst>
          </p:cNvPr>
          <p:cNvSpPr txBox="1"/>
          <p:nvPr/>
        </p:nvSpPr>
        <p:spPr>
          <a:xfrm>
            <a:off x="884903" y="3132794"/>
            <a:ext cx="10078065" cy="1855508"/>
          </a:xfrm>
          <a:prstGeom prst="rect">
            <a:avLst/>
          </a:prstGeom>
          <a:noFill/>
        </p:spPr>
        <p:txBody>
          <a:bodyPr wrap="square">
            <a:spAutoFit/>
          </a:bodyPr>
          <a:lstStyle/>
          <a:p>
            <a:pPr algn="ctr">
              <a:lnSpc>
                <a:spcPts val="1650"/>
              </a:lnSpc>
              <a:spcBef>
                <a:spcPts val="600"/>
              </a:spcBef>
              <a:spcAft>
                <a:spcPts val="600"/>
              </a:spcAft>
              <a:buNone/>
            </a:pPr>
            <a:r>
              <a:rPr lang="en-US" b="1" i="0" dirty="0">
                <a:solidFill>
                  <a:srgbClr val="FF0000"/>
                </a:solidFill>
                <a:effectLst/>
                <a:latin typeface="Arial Black" panose="020B0A04020102020204" pitchFamily="34" charset="0"/>
              </a:rPr>
              <a:t>Key Characteristics of KNN</a:t>
            </a:r>
          </a:p>
          <a:p>
            <a:pPr algn="ctr">
              <a:lnSpc>
                <a:spcPts val="1650"/>
              </a:lnSpc>
              <a:spcBef>
                <a:spcPts val="600"/>
              </a:spcBef>
              <a:spcAft>
                <a:spcPts val="600"/>
              </a:spcAft>
              <a:buNone/>
            </a:pPr>
            <a:endParaRPr lang="en-US" b="1" i="0" dirty="0">
              <a:solidFill>
                <a:srgbClr val="FF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Lazy Learning</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KNN does not involve a training phase. Instead, it stores the entire dataset and performs computations only during prediction.</a:t>
            </a:r>
          </a:p>
          <a:p>
            <a:pPr algn="just">
              <a:lnSpc>
                <a:spcPts val="1650"/>
              </a:lnSpc>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Non-Parametric</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It makes no assumptions about the underlying data distribution, making it versatile for various datasets.</a:t>
            </a:r>
          </a:p>
        </p:txBody>
      </p:sp>
      <p:sp>
        <p:nvSpPr>
          <p:cNvPr id="12" name="TextBox 11">
            <a:extLst>
              <a:ext uri="{FF2B5EF4-FFF2-40B4-BE49-F238E27FC236}">
                <a16:creationId xmlns:a16="http://schemas.microsoft.com/office/drawing/2014/main" id="{D3A312E6-9C36-BC6F-6B38-8CDA04B1E947}"/>
              </a:ext>
            </a:extLst>
          </p:cNvPr>
          <p:cNvSpPr txBox="1"/>
          <p:nvPr/>
        </p:nvSpPr>
        <p:spPr>
          <a:xfrm>
            <a:off x="973394" y="5141026"/>
            <a:ext cx="9989574" cy="1477328"/>
          </a:xfrm>
          <a:prstGeom prst="rect">
            <a:avLst/>
          </a:prstGeom>
          <a:noFill/>
        </p:spPr>
        <p:txBody>
          <a:bodyPr wrap="square">
            <a:spAutoFit/>
          </a:bodyPr>
          <a:lstStyle/>
          <a:p>
            <a:pPr algn="just">
              <a:buNone/>
            </a:pPr>
            <a:r>
              <a:rPr lang="en-US" b="1" dirty="0">
                <a:solidFill>
                  <a:srgbClr val="FF0000"/>
                </a:solidFill>
                <a:latin typeface="Arial Black" panose="020B0A04020102020204" pitchFamily="34" charset="0"/>
              </a:rPr>
              <a:t>What Is Lazy Learning?</a:t>
            </a:r>
          </a:p>
          <a:p>
            <a:pPr algn="just">
              <a:buNone/>
            </a:pPr>
            <a:endParaRPr lang="en-US" b="1" dirty="0">
              <a:solidFill>
                <a:srgbClr val="FF0000"/>
              </a:solidFill>
              <a:latin typeface="Arial Black" panose="020B0A04020102020204" pitchFamily="34" charset="0"/>
            </a:endParaRPr>
          </a:p>
          <a:p>
            <a:pPr algn="just">
              <a:buNone/>
            </a:pPr>
            <a:r>
              <a:rPr lang="en-US" dirty="0">
                <a:effectLst/>
                <a:latin typeface="Arial Black" panose="020B0A04020102020204" pitchFamily="34" charset="0"/>
              </a:rPr>
              <a:t>Lazy learning means the algorithm </a:t>
            </a:r>
            <a:r>
              <a:rPr lang="en-US" b="1" dirty="0">
                <a:effectLst/>
                <a:latin typeface="Arial Black" panose="020B0A04020102020204" pitchFamily="34" charset="0"/>
              </a:rPr>
              <a:t>doesn’t learn from the data until it’s asked to make a prediction</a:t>
            </a:r>
            <a:r>
              <a:rPr lang="en-US" dirty="0">
                <a:effectLst/>
                <a:latin typeface="Arial Black" panose="020B0A04020102020204" pitchFamily="34" charset="0"/>
              </a:rPr>
              <a:t>. It’s like a student who doesn’t study before the exam but quickly looks up answers when the test starts.</a:t>
            </a:r>
            <a:endParaRPr lang="en-US" dirty="0">
              <a:latin typeface="Arial Black" panose="020B0A04020102020204" pitchFamily="34" charset="0"/>
            </a:endParaRPr>
          </a:p>
        </p:txBody>
      </p:sp>
    </p:spTree>
    <p:extLst>
      <p:ext uri="{BB962C8B-B14F-4D97-AF65-F5344CB8AC3E}">
        <p14:creationId xmlns:p14="http://schemas.microsoft.com/office/powerpoint/2010/main" val="2706735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C84A7B-742C-14F3-EDEE-1A11040F8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FDE97-5073-FB8F-BECD-F49E943F81B3}"/>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8" name="TextBox 7">
            <a:extLst>
              <a:ext uri="{FF2B5EF4-FFF2-40B4-BE49-F238E27FC236}">
                <a16:creationId xmlns:a16="http://schemas.microsoft.com/office/drawing/2014/main" id="{3731A33E-A0F8-297C-FCD2-10442D05B950}"/>
              </a:ext>
            </a:extLst>
          </p:cNvPr>
          <p:cNvSpPr txBox="1"/>
          <p:nvPr/>
        </p:nvSpPr>
        <p:spPr>
          <a:xfrm>
            <a:off x="884903" y="1600566"/>
            <a:ext cx="10205884" cy="1200329"/>
          </a:xfrm>
          <a:prstGeom prst="rect">
            <a:avLst/>
          </a:prstGeom>
          <a:noFill/>
        </p:spPr>
        <p:txBody>
          <a:bodyPr wrap="square">
            <a:spAutoFit/>
          </a:bodyPr>
          <a:lstStyle/>
          <a:p>
            <a:pPr algn="just"/>
            <a:r>
              <a:rPr lang="en-US" b="0" i="0" dirty="0">
                <a:effectLst/>
                <a:latin typeface="Arial Black" panose="020B0A04020102020204" pitchFamily="34" charset="0"/>
              </a:rPr>
              <a:t>The </a:t>
            </a:r>
            <a:r>
              <a:rPr lang="en-US" b="1" i="0" dirty="0">
                <a:solidFill>
                  <a:srgbClr val="FF0000"/>
                </a:solidFill>
                <a:effectLst/>
                <a:latin typeface="Arial Black" panose="020B0A04020102020204" pitchFamily="34" charset="0"/>
              </a:rPr>
              <a:t>K-Nearest Neighbors (KNN)</a:t>
            </a:r>
            <a:r>
              <a:rPr lang="en-US" b="0" i="0" dirty="0">
                <a:solidFill>
                  <a:srgbClr val="FF0000"/>
                </a:solidFill>
                <a:effectLst/>
                <a:latin typeface="Arial Black" panose="020B0A04020102020204" pitchFamily="34" charset="0"/>
              </a:rPr>
              <a:t> algorithm </a:t>
            </a:r>
            <a:r>
              <a:rPr lang="en-US" b="0" i="0" dirty="0">
                <a:effectLst/>
                <a:latin typeface="Arial Black" panose="020B0A04020102020204" pitchFamily="34" charset="0"/>
              </a:rPr>
              <a:t>is a supervised machine learning technique used for both classification and regression tasks. It operates on the principle of proximity, predicting the output for a new data point based on the labels or values of its nearest neighbors in the training dataset.</a:t>
            </a:r>
            <a:endParaRPr lang="en-US" dirty="0">
              <a:latin typeface="Arial Black" panose="020B0A04020102020204" pitchFamily="34" charset="0"/>
            </a:endParaRPr>
          </a:p>
        </p:txBody>
      </p:sp>
      <p:sp>
        <p:nvSpPr>
          <p:cNvPr id="10" name="TextBox 9">
            <a:extLst>
              <a:ext uri="{FF2B5EF4-FFF2-40B4-BE49-F238E27FC236}">
                <a16:creationId xmlns:a16="http://schemas.microsoft.com/office/drawing/2014/main" id="{32BC92A8-6AFA-A4E3-7E0A-97D6FC313608}"/>
              </a:ext>
            </a:extLst>
          </p:cNvPr>
          <p:cNvSpPr txBox="1"/>
          <p:nvPr/>
        </p:nvSpPr>
        <p:spPr>
          <a:xfrm>
            <a:off x="884903" y="3132794"/>
            <a:ext cx="10078065" cy="1855508"/>
          </a:xfrm>
          <a:prstGeom prst="rect">
            <a:avLst/>
          </a:prstGeom>
          <a:noFill/>
        </p:spPr>
        <p:txBody>
          <a:bodyPr wrap="square">
            <a:spAutoFit/>
          </a:bodyPr>
          <a:lstStyle/>
          <a:p>
            <a:pPr algn="ctr">
              <a:lnSpc>
                <a:spcPts val="1650"/>
              </a:lnSpc>
              <a:spcBef>
                <a:spcPts val="600"/>
              </a:spcBef>
              <a:spcAft>
                <a:spcPts val="600"/>
              </a:spcAft>
              <a:buNone/>
            </a:pPr>
            <a:r>
              <a:rPr lang="en-US" b="1" i="0" dirty="0">
                <a:solidFill>
                  <a:srgbClr val="FF0000"/>
                </a:solidFill>
                <a:effectLst/>
                <a:latin typeface="Arial Black" panose="020B0A04020102020204" pitchFamily="34" charset="0"/>
              </a:rPr>
              <a:t>Key Characteristics of KNN</a:t>
            </a:r>
          </a:p>
          <a:p>
            <a:pPr algn="ctr">
              <a:lnSpc>
                <a:spcPts val="1650"/>
              </a:lnSpc>
              <a:spcBef>
                <a:spcPts val="600"/>
              </a:spcBef>
              <a:spcAft>
                <a:spcPts val="600"/>
              </a:spcAft>
              <a:buNone/>
            </a:pPr>
            <a:endParaRPr lang="en-US" b="1" i="0" dirty="0">
              <a:solidFill>
                <a:srgbClr val="FF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Lazy Learning</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KNN does not involve a training phase. Instead, it stores the entire dataset and performs computations only during prediction.</a:t>
            </a:r>
          </a:p>
          <a:p>
            <a:pPr algn="just">
              <a:lnSpc>
                <a:spcPts val="1650"/>
              </a:lnSpc>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Non-Parametric</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It makes no assumptions about the underlying data distribution, making it versatile for various datasets.</a:t>
            </a:r>
          </a:p>
        </p:txBody>
      </p:sp>
      <p:sp>
        <p:nvSpPr>
          <p:cNvPr id="12" name="TextBox 11">
            <a:extLst>
              <a:ext uri="{FF2B5EF4-FFF2-40B4-BE49-F238E27FC236}">
                <a16:creationId xmlns:a16="http://schemas.microsoft.com/office/drawing/2014/main" id="{94D06DFF-AAFA-9AF9-9B62-E790F6C0E012}"/>
              </a:ext>
            </a:extLst>
          </p:cNvPr>
          <p:cNvSpPr txBox="1"/>
          <p:nvPr/>
        </p:nvSpPr>
        <p:spPr>
          <a:xfrm>
            <a:off x="973394" y="5141026"/>
            <a:ext cx="9989574" cy="1754326"/>
          </a:xfrm>
          <a:prstGeom prst="rect">
            <a:avLst/>
          </a:prstGeom>
          <a:noFill/>
        </p:spPr>
        <p:txBody>
          <a:bodyPr wrap="square">
            <a:spAutoFit/>
          </a:bodyPr>
          <a:lstStyle/>
          <a:p>
            <a:pPr algn="ctr"/>
            <a:r>
              <a:rPr lang="en-US" b="1" dirty="0">
                <a:solidFill>
                  <a:srgbClr val="FF0000"/>
                </a:solidFill>
                <a:latin typeface="Arial Black" panose="020B0A04020102020204" pitchFamily="34" charset="0"/>
              </a:rPr>
              <a:t>How It Works</a:t>
            </a:r>
          </a:p>
          <a:p>
            <a:pPr algn="just"/>
            <a:endParaRPr lang="en-US" b="1" dirty="0">
              <a:latin typeface="Arial Black" panose="020B0A04020102020204" pitchFamily="34" charset="0"/>
            </a:endParaRPr>
          </a:p>
          <a:p>
            <a:pPr algn="just"/>
            <a:r>
              <a:rPr lang="en-US" dirty="0">
                <a:effectLst/>
                <a:latin typeface="Arial Black" panose="020B0A04020102020204" pitchFamily="34" charset="0"/>
              </a:rPr>
              <a:t>In lazy learning, the model </a:t>
            </a:r>
            <a:r>
              <a:rPr lang="en-US" b="1" dirty="0">
                <a:effectLst/>
                <a:latin typeface="Arial Black" panose="020B0A04020102020204" pitchFamily="34" charset="0"/>
              </a:rPr>
              <a:t>stores all training data</a:t>
            </a:r>
            <a:r>
              <a:rPr lang="en-US" dirty="0">
                <a:effectLst/>
                <a:latin typeface="Arial Black" panose="020B0A04020102020204" pitchFamily="34" charset="0"/>
              </a:rPr>
              <a:t> instead of building a general rule or formula. When a new query comes, it </a:t>
            </a:r>
            <a:r>
              <a:rPr lang="en-US" b="1" dirty="0">
                <a:effectLst/>
                <a:latin typeface="Arial Black" panose="020B0A04020102020204" pitchFamily="34" charset="0"/>
              </a:rPr>
              <a:t>searches through the stored data</a:t>
            </a:r>
            <a:r>
              <a:rPr lang="en-US" dirty="0">
                <a:effectLst/>
                <a:latin typeface="Arial Black" panose="020B0A04020102020204" pitchFamily="34" charset="0"/>
              </a:rPr>
              <a:t> to find examples that are most similar. The prediction is made </a:t>
            </a:r>
            <a:r>
              <a:rPr lang="en-US" b="1" dirty="0">
                <a:effectLst/>
                <a:latin typeface="Arial Black" panose="020B0A04020102020204" pitchFamily="34" charset="0"/>
              </a:rPr>
              <a:t>on the spot</a:t>
            </a:r>
            <a:r>
              <a:rPr lang="en-US" dirty="0">
                <a:effectLst/>
                <a:latin typeface="Arial Black" panose="020B0A04020102020204" pitchFamily="34" charset="0"/>
              </a:rPr>
              <a:t>, using those examples.</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D0CE09F6-3855-7D64-5F10-E926E44A79B4}"/>
              </a:ext>
            </a:extLst>
          </p:cNvPr>
          <p:cNvSpPr txBox="1"/>
          <p:nvPr/>
        </p:nvSpPr>
        <p:spPr>
          <a:xfrm>
            <a:off x="6882581" y="5141026"/>
            <a:ext cx="1913281" cy="338554"/>
          </a:xfrm>
          <a:prstGeom prst="rect">
            <a:avLst/>
          </a:prstGeom>
          <a:noFill/>
        </p:spPr>
        <p:txBody>
          <a:bodyPr wrap="none" rtlCol="0">
            <a:spAutoFit/>
          </a:bodyPr>
          <a:lstStyle/>
          <a:p>
            <a:r>
              <a:rPr lang="en-US" sz="1600" dirty="0">
                <a:solidFill>
                  <a:srgbClr val="FF0000"/>
                </a:solidFill>
                <a:latin typeface="Arial Black" panose="020B0A04020102020204" pitchFamily="34" charset="0"/>
              </a:rPr>
              <a:t>(Lazy Learning)</a:t>
            </a:r>
          </a:p>
        </p:txBody>
      </p:sp>
    </p:spTree>
    <p:extLst>
      <p:ext uri="{BB962C8B-B14F-4D97-AF65-F5344CB8AC3E}">
        <p14:creationId xmlns:p14="http://schemas.microsoft.com/office/powerpoint/2010/main" val="3285300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47B46-CB2E-C098-5B4F-525CEA0CAE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3F4FA6-8D4B-394B-6988-71B8826AF24A}"/>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10" name="TextBox 9">
            <a:extLst>
              <a:ext uri="{FF2B5EF4-FFF2-40B4-BE49-F238E27FC236}">
                <a16:creationId xmlns:a16="http://schemas.microsoft.com/office/drawing/2014/main" id="{A236903A-A411-1667-A703-1B8737EA4F08}"/>
              </a:ext>
            </a:extLst>
          </p:cNvPr>
          <p:cNvSpPr txBox="1"/>
          <p:nvPr/>
        </p:nvSpPr>
        <p:spPr>
          <a:xfrm>
            <a:off x="663676" y="1362988"/>
            <a:ext cx="10078065" cy="1855508"/>
          </a:xfrm>
          <a:prstGeom prst="rect">
            <a:avLst/>
          </a:prstGeom>
          <a:noFill/>
        </p:spPr>
        <p:txBody>
          <a:bodyPr wrap="square">
            <a:spAutoFit/>
          </a:bodyPr>
          <a:lstStyle/>
          <a:p>
            <a:pPr algn="ctr">
              <a:lnSpc>
                <a:spcPts val="1650"/>
              </a:lnSpc>
              <a:spcBef>
                <a:spcPts val="600"/>
              </a:spcBef>
              <a:spcAft>
                <a:spcPts val="600"/>
              </a:spcAft>
              <a:buNone/>
            </a:pPr>
            <a:r>
              <a:rPr lang="en-US" b="1" i="0" dirty="0">
                <a:solidFill>
                  <a:srgbClr val="FF0000"/>
                </a:solidFill>
                <a:effectLst/>
                <a:latin typeface="Arial Black" panose="020B0A04020102020204" pitchFamily="34" charset="0"/>
              </a:rPr>
              <a:t>Key Characteristics of KNN</a:t>
            </a:r>
          </a:p>
          <a:p>
            <a:pPr algn="ctr">
              <a:lnSpc>
                <a:spcPts val="1650"/>
              </a:lnSpc>
              <a:spcBef>
                <a:spcPts val="600"/>
              </a:spcBef>
              <a:spcAft>
                <a:spcPts val="600"/>
              </a:spcAft>
              <a:buNone/>
            </a:pPr>
            <a:endParaRPr lang="en-US" b="1" i="0" dirty="0">
              <a:solidFill>
                <a:srgbClr val="FF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Lazy Learning</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KNN does not involve a training phase. Instead, it stores the entire dataset and performs computations only during prediction.</a:t>
            </a:r>
          </a:p>
          <a:p>
            <a:pPr algn="just">
              <a:lnSpc>
                <a:spcPts val="1650"/>
              </a:lnSpc>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Non-Parametric</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It makes no assumptions about the underlying data distribution, making it versatile for various datasets.</a:t>
            </a:r>
          </a:p>
        </p:txBody>
      </p:sp>
      <p:sp>
        <p:nvSpPr>
          <p:cNvPr id="4" name="TextBox 3">
            <a:extLst>
              <a:ext uri="{FF2B5EF4-FFF2-40B4-BE49-F238E27FC236}">
                <a16:creationId xmlns:a16="http://schemas.microsoft.com/office/drawing/2014/main" id="{507FE04C-A2D2-BE1A-0ECD-A882B47E8B35}"/>
              </a:ext>
            </a:extLst>
          </p:cNvPr>
          <p:cNvSpPr txBox="1"/>
          <p:nvPr/>
        </p:nvSpPr>
        <p:spPr>
          <a:xfrm>
            <a:off x="916856" y="3463687"/>
            <a:ext cx="9969911" cy="2031325"/>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KNN as a Lazy Learner</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KNN doesn’t build a mathematical model during training.</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It simply keeps the dataset and waits for a new data point.</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When asked to predict, it calculates distances to all known points and decides based on the nearest neighbors.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So, </a:t>
            </a:r>
            <a:r>
              <a:rPr lang="en-US" b="1" dirty="0">
                <a:effectLst/>
                <a:latin typeface="Arial Black" panose="020B0A04020102020204" pitchFamily="34" charset="0"/>
              </a:rPr>
              <a:t>learning happens at prediction time</a:t>
            </a:r>
            <a:r>
              <a:rPr lang="en-US" dirty="0">
                <a:effectLst/>
                <a:latin typeface="Arial Black" panose="020B0A04020102020204" pitchFamily="34" charset="0"/>
              </a:rPr>
              <a:t>, not before.</a:t>
            </a:r>
            <a:endParaRPr lang="en-US" dirty="0">
              <a:latin typeface="Arial Black" panose="020B0A04020102020204" pitchFamily="34" charset="0"/>
            </a:endParaRPr>
          </a:p>
        </p:txBody>
      </p:sp>
    </p:spTree>
    <p:extLst>
      <p:ext uri="{BB962C8B-B14F-4D97-AF65-F5344CB8AC3E}">
        <p14:creationId xmlns:p14="http://schemas.microsoft.com/office/powerpoint/2010/main" val="886297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2C730-7BB5-9DC1-26D4-F2FD721C23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61CBA-D0EC-6A54-9F37-54FBF05D62CE}"/>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10" name="TextBox 9">
            <a:extLst>
              <a:ext uri="{FF2B5EF4-FFF2-40B4-BE49-F238E27FC236}">
                <a16:creationId xmlns:a16="http://schemas.microsoft.com/office/drawing/2014/main" id="{261D5217-31B7-714B-476D-4A61B1164A4B}"/>
              </a:ext>
            </a:extLst>
          </p:cNvPr>
          <p:cNvSpPr txBox="1"/>
          <p:nvPr/>
        </p:nvSpPr>
        <p:spPr>
          <a:xfrm>
            <a:off x="663676" y="1362988"/>
            <a:ext cx="10078065" cy="1855508"/>
          </a:xfrm>
          <a:prstGeom prst="rect">
            <a:avLst/>
          </a:prstGeom>
          <a:noFill/>
        </p:spPr>
        <p:txBody>
          <a:bodyPr wrap="square">
            <a:spAutoFit/>
          </a:bodyPr>
          <a:lstStyle/>
          <a:p>
            <a:pPr algn="ctr">
              <a:lnSpc>
                <a:spcPts val="1650"/>
              </a:lnSpc>
              <a:spcBef>
                <a:spcPts val="600"/>
              </a:spcBef>
              <a:spcAft>
                <a:spcPts val="600"/>
              </a:spcAft>
              <a:buNone/>
            </a:pPr>
            <a:r>
              <a:rPr lang="en-US" b="1" i="0" dirty="0">
                <a:solidFill>
                  <a:srgbClr val="FF0000"/>
                </a:solidFill>
                <a:effectLst/>
                <a:latin typeface="Arial Black" panose="020B0A04020102020204" pitchFamily="34" charset="0"/>
              </a:rPr>
              <a:t>Key Characteristics of KNN</a:t>
            </a:r>
          </a:p>
          <a:p>
            <a:pPr algn="ctr">
              <a:lnSpc>
                <a:spcPts val="1650"/>
              </a:lnSpc>
              <a:spcBef>
                <a:spcPts val="600"/>
              </a:spcBef>
              <a:spcAft>
                <a:spcPts val="600"/>
              </a:spcAft>
              <a:buNone/>
            </a:pPr>
            <a:endParaRPr lang="en-US" b="1" i="0" dirty="0">
              <a:solidFill>
                <a:srgbClr val="FF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Lazy Learning</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KNN does not involve a training phase. Instead, it stores the entire dataset and performs computations only during prediction.</a:t>
            </a:r>
          </a:p>
          <a:p>
            <a:pPr algn="just">
              <a:lnSpc>
                <a:spcPts val="1650"/>
              </a:lnSpc>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Non-Parametric</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It makes no assumptions about the underlying data distribution, making it versatile for various datasets.</a:t>
            </a:r>
          </a:p>
        </p:txBody>
      </p:sp>
      <p:sp>
        <p:nvSpPr>
          <p:cNvPr id="5" name="TextBox 4">
            <a:extLst>
              <a:ext uri="{FF2B5EF4-FFF2-40B4-BE49-F238E27FC236}">
                <a16:creationId xmlns:a16="http://schemas.microsoft.com/office/drawing/2014/main" id="{3B0765FC-66D9-FD70-E6A7-011EF5AF1141}"/>
              </a:ext>
            </a:extLst>
          </p:cNvPr>
          <p:cNvSpPr txBox="1"/>
          <p:nvPr/>
        </p:nvSpPr>
        <p:spPr>
          <a:xfrm>
            <a:off x="1061883" y="3639505"/>
            <a:ext cx="9679858" cy="2585323"/>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Analogy for Students</a:t>
            </a:r>
          </a:p>
          <a:p>
            <a:pPr algn="ctr">
              <a:buNone/>
            </a:pPr>
            <a:endParaRPr lang="en-US" b="1" dirty="0">
              <a:solidFill>
                <a:srgbClr val="FF0000"/>
              </a:solidFill>
              <a:latin typeface="Arial Black" panose="020B0A04020102020204" pitchFamily="34" charset="0"/>
            </a:endParaRPr>
          </a:p>
          <a:p>
            <a:pPr algn="just">
              <a:buNone/>
            </a:pPr>
            <a:r>
              <a:rPr lang="en-US" dirty="0">
                <a:effectLst/>
                <a:latin typeface="Arial Black" panose="020B0A04020102020204" pitchFamily="34" charset="0"/>
              </a:rPr>
              <a:t>Imagine you have a library full of solved problems:</a:t>
            </a:r>
          </a:p>
          <a:p>
            <a:pPr algn="just">
              <a:buNone/>
            </a:pP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You don’t memorize formulas.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When a new question appears, you </a:t>
            </a:r>
            <a:r>
              <a:rPr lang="en-US" b="1" dirty="0">
                <a:effectLst/>
                <a:latin typeface="Arial Black" panose="020B0A04020102020204" pitchFamily="34" charset="0"/>
              </a:rPr>
              <a:t>flip through the library</a:t>
            </a:r>
            <a:r>
              <a:rPr lang="en-US" dirty="0">
                <a:effectLst/>
                <a:latin typeface="Arial Black" panose="020B0A04020102020204" pitchFamily="34" charset="0"/>
              </a:rPr>
              <a:t> to find similar problems and copy the solution pattern. That’s exactly how </a:t>
            </a:r>
          </a:p>
          <a:p>
            <a:pPr algn="just"/>
            <a:endParaRPr lang="en-US" dirty="0">
              <a:effectLst/>
              <a:latin typeface="Arial Black" panose="020B0A04020102020204" pitchFamily="34" charset="0"/>
            </a:endParaRPr>
          </a:p>
          <a:p>
            <a:pPr algn="just"/>
            <a:r>
              <a:rPr lang="en-US" dirty="0">
                <a:solidFill>
                  <a:srgbClr val="FF0000"/>
                </a:solidFill>
                <a:effectLst/>
                <a:latin typeface="Arial Black" panose="020B0A04020102020204" pitchFamily="34" charset="0"/>
              </a:rPr>
              <a:t>KNN behaves — </a:t>
            </a:r>
            <a:r>
              <a:rPr lang="en-US" i="1" dirty="0">
                <a:solidFill>
                  <a:srgbClr val="FF0000"/>
                </a:solidFill>
                <a:effectLst/>
                <a:latin typeface="Arial Black" panose="020B0A04020102020204" pitchFamily="34" charset="0"/>
              </a:rPr>
              <a:t>lazy but effective when the library is well‑organized.</a:t>
            </a:r>
            <a:endParaRPr lang="en-US"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1663402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4DCCA-42F1-CF8D-544B-C5A18F7F6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78082-CF15-A391-DA4E-7B8E54C71A00}"/>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10" name="TextBox 9">
            <a:extLst>
              <a:ext uri="{FF2B5EF4-FFF2-40B4-BE49-F238E27FC236}">
                <a16:creationId xmlns:a16="http://schemas.microsoft.com/office/drawing/2014/main" id="{DCE8BB7C-01DB-614A-C736-64406686B726}"/>
              </a:ext>
            </a:extLst>
          </p:cNvPr>
          <p:cNvSpPr txBox="1"/>
          <p:nvPr/>
        </p:nvSpPr>
        <p:spPr>
          <a:xfrm>
            <a:off x="663676" y="1362988"/>
            <a:ext cx="10078065" cy="1855508"/>
          </a:xfrm>
          <a:prstGeom prst="rect">
            <a:avLst/>
          </a:prstGeom>
          <a:noFill/>
        </p:spPr>
        <p:txBody>
          <a:bodyPr wrap="square">
            <a:spAutoFit/>
          </a:bodyPr>
          <a:lstStyle/>
          <a:p>
            <a:pPr algn="ctr">
              <a:lnSpc>
                <a:spcPts val="1650"/>
              </a:lnSpc>
              <a:spcBef>
                <a:spcPts val="600"/>
              </a:spcBef>
              <a:spcAft>
                <a:spcPts val="600"/>
              </a:spcAft>
              <a:buNone/>
            </a:pPr>
            <a:r>
              <a:rPr lang="en-US" b="1" i="0" dirty="0">
                <a:solidFill>
                  <a:srgbClr val="FF0000"/>
                </a:solidFill>
                <a:effectLst/>
                <a:latin typeface="Arial Black" panose="020B0A04020102020204" pitchFamily="34" charset="0"/>
              </a:rPr>
              <a:t>Key Characteristics of KNN</a:t>
            </a:r>
          </a:p>
          <a:p>
            <a:pPr algn="ctr">
              <a:lnSpc>
                <a:spcPts val="1650"/>
              </a:lnSpc>
              <a:spcBef>
                <a:spcPts val="600"/>
              </a:spcBef>
              <a:spcAft>
                <a:spcPts val="600"/>
              </a:spcAft>
              <a:buNone/>
            </a:pPr>
            <a:endParaRPr lang="en-US" b="1" i="0" dirty="0">
              <a:solidFill>
                <a:srgbClr val="FF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Lazy Learning</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KNN does not involve a training phase. Instead, it stores the entire dataset and performs computations only during prediction.</a:t>
            </a:r>
          </a:p>
          <a:p>
            <a:pPr algn="just">
              <a:lnSpc>
                <a:spcPts val="1650"/>
              </a:lnSpc>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Non-Parametric</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It makes no assumptions about the underlying data distribution, making it versatile for various datasets.</a:t>
            </a:r>
          </a:p>
        </p:txBody>
      </p:sp>
      <p:sp>
        <p:nvSpPr>
          <p:cNvPr id="4" name="TextBox 3">
            <a:extLst>
              <a:ext uri="{FF2B5EF4-FFF2-40B4-BE49-F238E27FC236}">
                <a16:creationId xmlns:a16="http://schemas.microsoft.com/office/drawing/2014/main" id="{EE10DAE0-B528-8255-BE9F-1E9664FDA013}"/>
              </a:ext>
            </a:extLst>
          </p:cNvPr>
          <p:cNvSpPr txBox="1"/>
          <p:nvPr/>
        </p:nvSpPr>
        <p:spPr>
          <a:xfrm>
            <a:off x="1061883" y="3980820"/>
            <a:ext cx="4168877" cy="2031325"/>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Advantages (Lazy Learning)</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Simple and intuitive.</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No training time needed.</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Works well when data changes frequently (you can just add new examples).</a:t>
            </a:r>
            <a:endParaRPr lang="en-US" dirty="0">
              <a:latin typeface="Arial Black" panose="020B0A04020102020204" pitchFamily="34" charset="0"/>
            </a:endParaRPr>
          </a:p>
        </p:txBody>
      </p:sp>
      <p:sp>
        <p:nvSpPr>
          <p:cNvPr id="7" name="TextBox 6">
            <a:extLst>
              <a:ext uri="{FF2B5EF4-FFF2-40B4-BE49-F238E27FC236}">
                <a16:creationId xmlns:a16="http://schemas.microsoft.com/office/drawing/2014/main" id="{A202F403-9677-F5F3-BAFE-EA59843C4EAC}"/>
              </a:ext>
            </a:extLst>
          </p:cNvPr>
          <p:cNvSpPr txBox="1"/>
          <p:nvPr/>
        </p:nvSpPr>
        <p:spPr>
          <a:xfrm>
            <a:off x="6351639" y="4017684"/>
            <a:ext cx="4542503" cy="2031325"/>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Limitations ( Lazy Learning)</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Slow at prediction — must search through all stored data.</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Needs lots of memory.</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Sensitive to irrelevant or noisy data</a:t>
            </a:r>
            <a:r>
              <a:rPr lang="en-US" dirty="0">
                <a:effectLst/>
              </a:rPr>
              <a:t>.</a:t>
            </a:r>
            <a:endParaRPr lang="en-US" dirty="0"/>
          </a:p>
        </p:txBody>
      </p:sp>
    </p:spTree>
    <p:extLst>
      <p:ext uri="{BB962C8B-B14F-4D97-AF65-F5344CB8AC3E}">
        <p14:creationId xmlns:p14="http://schemas.microsoft.com/office/powerpoint/2010/main" val="2094960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C2CA6-2343-1B91-33DB-856BDB942C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54D7BB-4830-3F1B-5E38-81E7122AE17F}"/>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10" name="TextBox 9">
            <a:extLst>
              <a:ext uri="{FF2B5EF4-FFF2-40B4-BE49-F238E27FC236}">
                <a16:creationId xmlns:a16="http://schemas.microsoft.com/office/drawing/2014/main" id="{5B49778A-B59B-729A-1200-32BA63132B2A}"/>
              </a:ext>
            </a:extLst>
          </p:cNvPr>
          <p:cNvSpPr txBox="1"/>
          <p:nvPr/>
        </p:nvSpPr>
        <p:spPr>
          <a:xfrm>
            <a:off x="663676" y="1362988"/>
            <a:ext cx="10078065" cy="1855508"/>
          </a:xfrm>
          <a:prstGeom prst="rect">
            <a:avLst/>
          </a:prstGeom>
          <a:noFill/>
        </p:spPr>
        <p:txBody>
          <a:bodyPr wrap="square">
            <a:spAutoFit/>
          </a:bodyPr>
          <a:lstStyle/>
          <a:p>
            <a:pPr algn="ctr">
              <a:lnSpc>
                <a:spcPts val="1650"/>
              </a:lnSpc>
              <a:spcBef>
                <a:spcPts val="600"/>
              </a:spcBef>
              <a:spcAft>
                <a:spcPts val="600"/>
              </a:spcAft>
              <a:buNone/>
            </a:pPr>
            <a:r>
              <a:rPr lang="en-US" b="1" i="0" dirty="0">
                <a:solidFill>
                  <a:srgbClr val="FF0000"/>
                </a:solidFill>
                <a:effectLst/>
                <a:latin typeface="Arial Black" panose="020B0A04020102020204" pitchFamily="34" charset="0"/>
              </a:rPr>
              <a:t>Key Characteristics of KNN</a:t>
            </a:r>
          </a:p>
          <a:p>
            <a:pPr algn="ctr">
              <a:lnSpc>
                <a:spcPts val="1650"/>
              </a:lnSpc>
              <a:spcBef>
                <a:spcPts val="600"/>
              </a:spcBef>
              <a:spcAft>
                <a:spcPts val="600"/>
              </a:spcAft>
              <a:buNone/>
            </a:pPr>
            <a:endParaRPr lang="en-US" b="1" i="0" dirty="0">
              <a:solidFill>
                <a:srgbClr val="FF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Lazy Learning</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KNN does not involve a training phase. Instead, it stores the entire dataset and performs computations only during prediction.</a:t>
            </a:r>
          </a:p>
          <a:p>
            <a:pPr algn="just">
              <a:lnSpc>
                <a:spcPts val="1650"/>
              </a:lnSpc>
            </a:pPr>
            <a:endParaRPr lang="en-US" b="0" i="0" dirty="0">
              <a:solidFill>
                <a:srgbClr val="000000"/>
              </a:solidFill>
              <a:effectLst/>
              <a:latin typeface="Arial Black" panose="020B0A04020102020204" pitchFamily="34" charset="0"/>
            </a:endParaRPr>
          </a:p>
          <a:p>
            <a:pPr marL="285750" indent="-285750" algn="just">
              <a:lnSpc>
                <a:spcPts val="1650"/>
              </a:lnSpc>
              <a:buFont typeface="Arial" panose="020B0604020202020204" pitchFamily="34" charset="0"/>
              <a:buChar char="•"/>
            </a:pPr>
            <a:r>
              <a:rPr lang="en-US" b="1" i="0" dirty="0">
                <a:solidFill>
                  <a:srgbClr val="FF0000"/>
                </a:solidFill>
                <a:effectLst/>
                <a:latin typeface="Arial Black" panose="020B0A04020102020204" pitchFamily="34" charset="0"/>
              </a:rPr>
              <a:t>Non-Parametric</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It makes no assumptions about the underlying data distribution, making it versatile for various datasets.</a:t>
            </a:r>
          </a:p>
        </p:txBody>
      </p:sp>
      <p:sp>
        <p:nvSpPr>
          <p:cNvPr id="5" name="TextBox 4">
            <a:extLst>
              <a:ext uri="{FF2B5EF4-FFF2-40B4-BE49-F238E27FC236}">
                <a16:creationId xmlns:a16="http://schemas.microsoft.com/office/drawing/2014/main" id="{F95EE60B-EAFD-61F1-84B9-A987F3B6B27A}"/>
              </a:ext>
            </a:extLst>
          </p:cNvPr>
          <p:cNvSpPr txBox="1"/>
          <p:nvPr/>
        </p:nvSpPr>
        <p:spPr>
          <a:xfrm>
            <a:off x="1061883" y="3639505"/>
            <a:ext cx="9792930" cy="2031325"/>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Titanic Example</a:t>
            </a:r>
          </a:p>
          <a:p>
            <a:pPr algn="ctr">
              <a:buNone/>
            </a:pPr>
            <a:endParaRPr lang="en-US" b="1" dirty="0">
              <a:solidFill>
                <a:srgbClr val="FF0000"/>
              </a:solidFill>
              <a:latin typeface="Arial Black" panose="020B0A04020102020204" pitchFamily="34" charset="0"/>
            </a:endParaRPr>
          </a:p>
          <a:p>
            <a:pPr algn="just">
              <a:buNone/>
            </a:pPr>
            <a:r>
              <a:rPr lang="en-US" dirty="0">
                <a:effectLst/>
                <a:latin typeface="Arial Black" panose="020B0A04020102020204" pitchFamily="34" charset="0"/>
              </a:rPr>
              <a:t>In the Titanic dataset:</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KNN doesn’t pre‑learn survival rules.</a:t>
            </a:r>
            <a:endParaRPr lang="en-US" dirty="0">
              <a:latin typeface="Arial Black" panose="020B0A04020102020204" pitchFamily="34" charset="0"/>
            </a:endParaRPr>
          </a:p>
          <a:p>
            <a:pPr marL="285750" indent="-285750" algn="just">
              <a:buFont typeface="Arial" panose="020B0604020202020204" pitchFamily="34" charset="0"/>
              <a:buChar char="•"/>
            </a:pPr>
            <a:r>
              <a:rPr lang="en-US" dirty="0">
                <a:effectLst/>
                <a:latin typeface="Arial Black" panose="020B0A04020102020204" pitchFamily="34" charset="0"/>
              </a:rPr>
              <a:t>When a new passenger’s details appear, it looks up similar passengers in the dataset and predicts survival based on them. That’s lazy learning in action — </a:t>
            </a:r>
            <a:r>
              <a:rPr lang="en-US" i="1" dirty="0">
                <a:solidFill>
                  <a:srgbClr val="FF0000"/>
                </a:solidFill>
                <a:effectLst/>
                <a:latin typeface="Arial Black" panose="020B0A04020102020204" pitchFamily="34" charset="0"/>
              </a:rPr>
              <a:t>no preparation, just quick lookup and decision</a:t>
            </a:r>
            <a:r>
              <a:rPr lang="en-US" i="1" dirty="0">
                <a:effectLst/>
                <a:latin typeface="Arial Black" panose="020B0A04020102020204" pitchFamily="34" charset="0"/>
              </a:rPr>
              <a:t>.</a:t>
            </a:r>
            <a:endParaRPr lang="en-US" dirty="0">
              <a:latin typeface="Arial Black" panose="020B0A04020102020204" pitchFamily="34" charset="0"/>
            </a:endParaRPr>
          </a:p>
        </p:txBody>
      </p:sp>
    </p:spTree>
    <p:extLst>
      <p:ext uri="{BB962C8B-B14F-4D97-AF65-F5344CB8AC3E}">
        <p14:creationId xmlns:p14="http://schemas.microsoft.com/office/powerpoint/2010/main" val="1573977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E094D-15AE-09A9-685B-26CC5474B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D1C614-E187-939B-9170-97D14C511434}"/>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pic>
        <p:nvPicPr>
          <p:cNvPr id="4" name="Picture 3">
            <a:extLst>
              <a:ext uri="{FF2B5EF4-FFF2-40B4-BE49-F238E27FC236}">
                <a16:creationId xmlns:a16="http://schemas.microsoft.com/office/drawing/2014/main" id="{1ECB8394-7764-D7C9-7380-5D490B354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67217"/>
            <a:ext cx="7739216" cy="5159477"/>
          </a:xfrm>
          <a:prstGeom prst="rect">
            <a:avLst/>
          </a:prstGeom>
        </p:spPr>
      </p:pic>
      <p:sp>
        <p:nvSpPr>
          <p:cNvPr id="7" name="TextBox 6">
            <a:extLst>
              <a:ext uri="{FF2B5EF4-FFF2-40B4-BE49-F238E27FC236}">
                <a16:creationId xmlns:a16="http://schemas.microsoft.com/office/drawing/2014/main" id="{A4EA73EF-8D25-5B16-5F88-3D0E11F96D7F}"/>
              </a:ext>
            </a:extLst>
          </p:cNvPr>
          <p:cNvSpPr txBox="1"/>
          <p:nvPr/>
        </p:nvSpPr>
        <p:spPr>
          <a:xfrm>
            <a:off x="8052620" y="1215465"/>
            <a:ext cx="3844413" cy="5262979"/>
          </a:xfrm>
          <a:prstGeom prst="rect">
            <a:avLst/>
          </a:prstGeom>
          <a:noFill/>
        </p:spPr>
        <p:txBody>
          <a:bodyPr wrap="square">
            <a:spAutoFit/>
          </a:bodyPr>
          <a:lstStyle/>
          <a:p>
            <a:pPr>
              <a:buNone/>
            </a:pPr>
            <a:r>
              <a:rPr lang="en-US" sz="1600" b="1" dirty="0">
                <a:solidFill>
                  <a:srgbClr val="FF0000"/>
                </a:solidFill>
                <a:effectLst/>
                <a:latin typeface="Arial Black" panose="020B0A04020102020204" pitchFamily="34" charset="0"/>
              </a:rPr>
              <a:t>Left Section – “No Pre‑Study!”</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The student keeps all examples (training data) without building a formula. → Emphasize that KNN stores data instead of learning </a:t>
            </a:r>
            <a:r>
              <a:rPr lang="en-US" sz="1600" dirty="0">
                <a:solidFill>
                  <a:srgbClr val="FF0000"/>
                </a:solidFill>
                <a:effectLst/>
                <a:latin typeface="Arial Black" panose="020B0A04020102020204" pitchFamily="34" charset="0"/>
              </a:rPr>
              <a:t>rules.</a:t>
            </a:r>
          </a:p>
          <a:p>
            <a:pPr>
              <a:buNone/>
            </a:pPr>
            <a:endParaRPr lang="en-US" sz="1600" dirty="0">
              <a:solidFill>
                <a:srgbClr val="FF0000"/>
              </a:solidFill>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Middle Section – “New Question Appears!”</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The student searches through the library for similar cases. → This shows how KNN looks up neighbors only when asked to predict.</a:t>
            </a:r>
          </a:p>
          <a:p>
            <a:pPr>
              <a:buNone/>
            </a:pPr>
            <a:endParaRPr lang="en-US" sz="1600" dirty="0">
              <a:latin typeface="Arial Black" panose="020B0A04020102020204" pitchFamily="34" charset="0"/>
            </a:endParaRPr>
          </a:p>
          <a:p>
            <a:pPr>
              <a:buNone/>
            </a:pPr>
            <a:r>
              <a:rPr lang="en-US" sz="1600" b="1" dirty="0">
                <a:solidFill>
                  <a:srgbClr val="FF0000"/>
                </a:solidFill>
                <a:effectLst/>
                <a:latin typeface="Arial Black" panose="020B0A04020102020204" pitchFamily="34" charset="0"/>
              </a:rPr>
              <a:t>Right Section </a:t>
            </a:r>
            <a:r>
              <a:rPr lang="en-US" sz="1600" b="1" dirty="0">
                <a:effectLst/>
                <a:latin typeface="Arial Black" panose="020B0A04020102020204" pitchFamily="34" charset="0"/>
              </a:rPr>
              <a:t>– “Find Nearest Neighbors”</a:t>
            </a:r>
            <a:r>
              <a:rPr lang="en-US" sz="1600" dirty="0">
                <a:effectLst/>
                <a:latin typeface="Arial Black" panose="020B0A04020102020204" pitchFamily="34" charset="0"/>
              </a:rPr>
              <a:t> The student compares examples, finds the closest ones, and makes a prediction. → </a:t>
            </a:r>
            <a:r>
              <a:rPr lang="en-US" sz="1600" dirty="0">
                <a:solidFill>
                  <a:srgbClr val="FF0000"/>
                </a:solidFill>
                <a:effectLst/>
                <a:latin typeface="Arial Black" panose="020B0A04020102020204" pitchFamily="34" charset="0"/>
              </a:rPr>
              <a:t>Highlight that learning happens </a:t>
            </a:r>
            <a:r>
              <a:rPr lang="en-US" sz="1600" i="1" dirty="0">
                <a:solidFill>
                  <a:srgbClr val="FF0000"/>
                </a:solidFill>
                <a:effectLst/>
                <a:latin typeface="Arial Black" panose="020B0A04020102020204" pitchFamily="34" charset="0"/>
              </a:rPr>
              <a:t>at prediction time</a:t>
            </a:r>
            <a:r>
              <a:rPr lang="en-US" sz="1600" dirty="0">
                <a:solidFill>
                  <a:srgbClr val="FF0000"/>
                </a:solidFill>
                <a:effectLst/>
                <a:latin typeface="Arial Black" panose="020B0A04020102020204" pitchFamily="34" charset="0"/>
              </a:rPr>
              <a:t>, not before.</a:t>
            </a:r>
            <a:endParaRPr lang="en-US" sz="1600" dirty="0">
              <a:solidFill>
                <a:srgbClr val="FF0000"/>
              </a:solidFill>
              <a:latin typeface="Arial Black" panose="020B0A04020102020204" pitchFamily="34" charset="0"/>
            </a:endParaRPr>
          </a:p>
        </p:txBody>
      </p:sp>
    </p:spTree>
    <p:extLst>
      <p:ext uri="{BB962C8B-B14F-4D97-AF65-F5344CB8AC3E}">
        <p14:creationId xmlns:p14="http://schemas.microsoft.com/office/powerpoint/2010/main" val="751688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DA185-C71B-CB2C-17B1-7DED26BB8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822968-C553-09E1-3D53-E7DE8D2982A8}"/>
              </a:ext>
            </a:extLst>
          </p:cNvPr>
          <p:cNvSpPr>
            <a:spLocks noGrp="1"/>
          </p:cNvSpPr>
          <p:nvPr>
            <p:ph type="ctrTitle"/>
          </p:nvPr>
        </p:nvSpPr>
        <p:spPr>
          <a:xfrm>
            <a:off x="1111044" y="0"/>
            <a:ext cx="9679858" cy="1074021"/>
          </a:xfrm>
        </p:spPr>
        <p:txBody>
          <a:bodyPr>
            <a:normAutofit/>
          </a:bodyPr>
          <a:lstStyle/>
          <a:p>
            <a:r>
              <a:rPr lang="en-US" sz="3200" dirty="0">
                <a:latin typeface="Arial Black" panose="020B0A04020102020204" pitchFamily="34" charset="0"/>
              </a:rPr>
              <a:t>LAZY VERSUS LOGISTIC LEARNING</a:t>
            </a:r>
          </a:p>
        </p:txBody>
      </p:sp>
      <p:graphicFrame>
        <p:nvGraphicFramePr>
          <p:cNvPr id="9" name="Table 8">
            <a:extLst>
              <a:ext uri="{FF2B5EF4-FFF2-40B4-BE49-F238E27FC236}">
                <a16:creationId xmlns:a16="http://schemas.microsoft.com/office/drawing/2014/main" id="{D7D5C416-8E73-23D0-4E55-91EB2997E4FD}"/>
              </a:ext>
            </a:extLst>
          </p:cNvPr>
          <p:cNvGraphicFramePr>
            <a:graphicFrameLocks noGrp="1"/>
          </p:cNvGraphicFramePr>
          <p:nvPr>
            <p:extLst>
              <p:ext uri="{D42A27DB-BD31-4B8C-83A1-F6EECF244321}">
                <p14:modId xmlns:p14="http://schemas.microsoft.com/office/powerpoint/2010/main" val="3845533977"/>
              </p:ext>
            </p:extLst>
          </p:nvPr>
        </p:nvGraphicFramePr>
        <p:xfrm>
          <a:off x="904568" y="2422725"/>
          <a:ext cx="10294374" cy="2743200"/>
        </p:xfrm>
        <a:graphic>
          <a:graphicData uri="http://schemas.openxmlformats.org/drawingml/2006/table">
            <a:tbl>
              <a:tblPr/>
              <a:tblGrid>
                <a:gridCol w="2574270">
                  <a:extLst>
                    <a:ext uri="{9D8B030D-6E8A-4147-A177-3AD203B41FA5}">
                      <a16:colId xmlns:a16="http://schemas.microsoft.com/office/drawing/2014/main" val="3821775663"/>
                    </a:ext>
                  </a:extLst>
                </a:gridCol>
                <a:gridCol w="3860052">
                  <a:extLst>
                    <a:ext uri="{9D8B030D-6E8A-4147-A177-3AD203B41FA5}">
                      <a16:colId xmlns:a16="http://schemas.microsoft.com/office/drawing/2014/main" val="84895464"/>
                    </a:ext>
                  </a:extLst>
                </a:gridCol>
                <a:gridCol w="3860052">
                  <a:extLst>
                    <a:ext uri="{9D8B030D-6E8A-4147-A177-3AD203B41FA5}">
                      <a16:colId xmlns:a16="http://schemas.microsoft.com/office/drawing/2014/main" val="3146163573"/>
                    </a:ext>
                  </a:extLst>
                </a:gridCol>
              </a:tblGrid>
              <a:tr h="0">
                <a:tc>
                  <a:txBody>
                    <a:bodyPr/>
                    <a:lstStyle/>
                    <a:p>
                      <a:pPr>
                        <a:buNone/>
                      </a:pPr>
                      <a:r>
                        <a:rPr lang="en-US" dirty="0">
                          <a:solidFill>
                            <a:srgbClr val="FF0000"/>
                          </a:solidFill>
                          <a:latin typeface="Arial Black" panose="020B0A04020102020204" pitchFamily="34" charset="0"/>
                        </a:rPr>
                        <a:t>Feature</a:t>
                      </a:r>
                    </a:p>
                  </a:txBody>
                  <a:tcPr anchor="ctr">
                    <a:lnL>
                      <a:noFill/>
                    </a:lnL>
                    <a:lnR>
                      <a:noFill/>
                    </a:lnR>
                    <a:lnT>
                      <a:noFill/>
                    </a:lnT>
                    <a:lnB>
                      <a:noFill/>
                    </a:lnB>
                    <a:noFill/>
                  </a:tcPr>
                </a:tc>
                <a:tc>
                  <a:txBody>
                    <a:bodyPr/>
                    <a:lstStyle/>
                    <a:p>
                      <a:pPr>
                        <a:buNone/>
                      </a:pPr>
                      <a:r>
                        <a:rPr lang="en-US">
                          <a:solidFill>
                            <a:srgbClr val="FF0000"/>
                          </a:solidFill>
                          <a:latin typeface="Arial Black" panose="020B0A04020102020204" pitchFamily="34" charset="0"/>
                        </a:rPr>
                        <a:t>Lazy Learning (KNN)</a:t>
                      </a:r>
                    </a:p>
                  </a:txBody>
                  <a:tcPr anchor="ctr">
                    <a:lnL>
                      <a:noFill/>
                    </a:lnL>
                    <a:lnR>
                      <a:noFill/>
                    </a:lnR>
                    <a:lnT>
                      <a:noFill/>
                    </a:lnT>
                    <a:lnB>
                      <a:noFill/>
                    </a:lnB>
                    <a:noFill/>
                  </a:tcPr>
                </a:tc>
                <a:tc>
                  <a:txBody>
                    <a:bodyPr/>
                    <a:lstStyle/>
                    <a:p>
                      <a:pPr>
                        <a:buNone/>
                      </a:pPr>
                      <a:r>
                        <a:rPr lang="en-US" dirty="0">
                          <a:solidFill>
                            <a:srgbClr val="FF0000"/>
                          </a:solidFill>
                          <a:latin typeface="Arial Black" panose="020B0A04020102020204" pitchFamily="34" charset="0"/>
                        </a:rPr>
                        <a:t>Eager Learning (Logistic Regression)</a:t>
                      </a:r>
                    </a:p>
                  </a:txBody>
                  <a:tcPr anchor="ctr">
                    <a:lnL>
                      <a:noFill/>
                    </a:lnL>
                    <a:lnR>
                      <a:noFill/>
                    </a:lnR>
                    <a:lnT>
                      <a:noFill/>
                    </a:lnT>
                    <a:lnB>
                      <a:noFill/>
                    </a:lnB>
                    <a:noFill/>
                  </a:tcPr>
                </a:tc>
                <a:extLst>
                  <a:ext uri="{0D108BD9-81ED-4DB2-BD59-A6C34878D82A}">
                    <a16:rowId xmlns:a16="http://schemas.microsoft.com/office/drawing/2014/main" val="224714682"/>
                  </a:ext>
                </a:extLst>
              </a:tr>
              <a:tr h="0">
                <a:tc>
                  <a:txBody>
                    <a:bodyPr/>
                    <a:lstStyle/>
                    <a:p>
                      <a:pPr>
                        <a:buNone/>
                      </a:pPr>
                      <a:r>
                        <a:rPr lang="en-US" b="1" dirty="0">
                          <a:latin typeface="Arial Black" panose="020B0A04020102020204" pitchFamily="34" charset="0"/>
                        </a:rPr>
                        <a:t>Training Phase</a:t>
                      </a:r>
                      <a:endParaRPr lang="en-US"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None</a:t>
                      </a:r>
                    </a:p>
                  </a:txBody>
                  <a:tcPr anchor="ctr">
                    <a:lnL>
                      <a:noFill/>
                    </a:lnL>
                    <a:lnR>
                      <a:noFill/>
                    </a:lnR>
                    <a:lnT>
                      <a:noFill/>
                    </a:lnT>
                    <a:lnB>
                      <a:noFill/>
                    </a:lnB>
                    <a:noFill/>
                  </a:tcPr>
                </a:tc>
                <a:tc>
                  <a:txBody>
                    <a:bodyPr/>
                    <a:lstStyle/>
                    <a:p>
                      <a:pPr>
                        <a:buNone/>
                      </a:pPr>
                      <a:r>
                        <a:rPr lang="en-US">
                          <a:latin typeface="Arial Black" panose="020B0A04020102020204" pitchFamily="34" charset="0"/>
                        </a:rPr>
                        <a:t>Model built before prediction</a:t>
                      </a:r>
                    </a:p>
                  </a:txBody>
                  <a:tcPr anchor="ctr">
                    <a:lnL>
                      <a:noFill/>
                    </a:lnL>
                    <a:lnR>
                      <a:noFill/>
                    </a:lnR>
                    <a:lnT>
                      <a:noFill/>
                    </a:lnT>
                    <a:lnB>
                      <a:noFill/>
                    </a:lnB>
                    <a:noFill/>
                  </a:tcPr>
                </a:tc>
                <a:extLst>
                  <a:ext uri="{0D108BD9-81ED-4DB2-BD59-A6C34878D82A}">
                    <a16:rowId xmlns:a16="http://schemas.microsoft.com/office/drawing/2014/main" val="632582153"/>
                  </a:ext>
                </a:extLst>
              </a:tr>
              <a:tr h="0">
                <a:tc>
                  <a:txBody>
                    <a:bodyPr/>
                    <a:lstStyle/>
                    <a:p>
                      <a:pPr>
                        <a:buNone/>
                      </a:pPr>
                      <a:r>
                        <a:rPr lang="en-US" b="1">
                          <a:latin typeface="Arial Black" panose="020B0A04020102020204" pitchFamily="34" charset="0"/>
                        </a:rPr>
                        <a:t>Prediction Time</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Slow (search neighbors)</a:t>
                      </a:r>
                    </a:p>
                  </a:txBody>
                  <a:tcPr anchor="ctr">
                    <a:lnL>
                      <a:noFill/>
                    </a:lnL>
                    <a:lnR>
                      <a:noFill/>
                    </a:lnR>
                    <a:lnT>
                      <a:noFill/>
                    </a:lnT>
                    <a:lnB>
                      <a:noFill/>
                    </a:lnB>
                    <a:noFill/>
                  </a:tcPr>
                </a:tc>
                <a:tc>
                  <a:txBody>
                    <a:bodyPr/>
                    <a:lstStyle/>
                    <a:p>
                      <a:pPr>
                        <a:buNone/>
                      </a:pPr>
                      <a:r>
                        <a:rPr lang="en-US">
                          <a:latin typeface="Arial Black" panose="020B0A04020102020204" pitchFamily="34" charset="0"/>
                        </a:rPr>
                        <a:t>Fast (use learned model)</a:t>
                      </a:r>
                    </a:p>
                  </a:txBody>
                  <a:tcPr anchor="ctr">
                    <a:lnL>
                      <a:noFill/>
                    </a:lnL>
                    <a:lnR>
                      <a:noFill/>
                    </a:lnR>
                    <a:lnT>
                      <a:noFill/>
                    </a:lnT>
                    <a:lnB>
                      <a:noFill/>
                    </a:lnB>
                    <a:noFill/>
                  </a:tcPr>
                </a:tc>
                <a:extLst>
                  <a:ext uri="{0D108BD9-81ED-4DB2-BD59-A6C34878D82A}">
                    <a16:rowId xmlns:a16="http://schemas.microsoft.com/office/drawing/2014/main" val="954417498"/>
                  </a:ext>
                </a:extLst>
              </a:tr>
              <a:tr h="0">
                <a:tc>
                  <a:txBody>
                    <a:bodyPr/>
                    <a:lstStyle/>
                    <a:p>
                      <a:pPr>
                        <a:buNone/>
                      </a:pPr>
                      <a:r>
                        <a:rPr lang="en-US" b="1">
                          <a:latin typeface="Arial Black" panose="020B0A04020102020204" pitchFamily="34" charset="0"/>
                        </a:rPr>
                        <a:t>Memory Use</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dirty="0">
                          <a:latin typeface="Arial Black" panose="020B0A04020102020204" pitchFamily="34" charset="0"/>
                        </a:rPr>
                        <a:t>High</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Low</a:t>
                      </a:r>
                    </a:p>
                  </a:txBody>
                  <a:tcPr anchor="ctr">
                    <a:lnL>
                      <a:noFill/>
                    </a:lnL>
                    <a:lnR>
                      <a:noFill/>
                    </a:lnR>
                    <a:lnT>
                      <a:noFill/>
                    </a:lnT>
                    <a:lnB>
                      <a:noFill/>
                    </a:lnB>
                    <a:noFill/>
                  </a:tcPr>
                </a:tc>
                <a:extLst>
                  <a:ext uri="{0D108BD9-81ED-4DB2-BD59-A6C34878D82A}">
                    <a16:rowId xmlns:a16="http://schemas.microsoft.com/office/drawing/2014/main" val="2246355852"/>
                  </a:ext>
                </a:extLst>
              </a:tr>
              <a:tr h="0">
                <a:tc>
                  <a:txBody>
                    <a:bodyPr/>
                    <a:lstStyle/>
                    <a:p>
                      <a:pPr>
                        <a:buNone/>
                      </a:pPr>
                      <a:r>
                        <a:rPr lang="en-US" b="1">
                          <a:latin typeface="Arial Black" panose="020B0A04020102020204" pitchFamily="34" charset="0"/>
                        </a:rPr>
                        <a:t>Adaptability</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Easy to update</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Needs retraining</a:t>
                      </a:r>
                    </a:p>
                  </a:txBody>
                  <a:tcPr anchor="ctr">
                    <a:lnL>
                      <a:noFill/>
                    </a:lnL>
                    <a:lnR>
                      <a:noFill/>
                    </a:lnR>
                    <a:lnT>
                      <a:noFill/>
                    </a:lnT>
                    <a:lnB>
                      <a:noFill/>
                    </a:lnB>
                    <a:noFill/>
                  </a:tcPr>
                </a:tc>
                <a:extLst>
                  <a:ext uri="{0D108BD9-81ED-4DB2-BD59-A6C34878D82A}">
                    <a16:rowId xmlns:a16="http://schemas.microsoft.com/office/drawing/2014/main" val="3408985155"/>
                  </a:ext>
                </a:extLst>
              </a:tr>
              <a:tr h="0">
                <a:tc>
                  <a:txBody>
                    <a:bodyPr/>
                    <a:lstStyle/>
                    <a:p>
                      <a:pPr>
                        <a:buNone/>
                      </a:pPr>
                      <a:r>
                        <a:rPr lang="en-US" b="1">
                          <a:latin typeface="Arial Black" panose="020B0A04020102020204" pitchFamily="34" charset="0"/>
                        </a:rPr>
                        <a:t>Example Analogy</a:t>
                      </a:r>
                      <a:endParaRPr lang="en-US">
                        <a:latin typeface="Arial Black" panose="020B0A04020102020204" pitchFamily="34" charset="0"/>
                      </a:endParaRPr>
                    </a:p>
                  </a:txBody>
                  <a:tcPr anchor="ctr">
                    <a:lnL>
                      <a:noFill/>
                    </a:lnL>
                    <a:lnR>
                      <a:noFill/>
                    </a:lnR>
                    <a:lnT>
                      <a:noFill/>
                    </a:lnT>
                    <a:lnB>
                      <a:noFill/>
                    </a:lnB>
                    <a:noFill/>
                  </a:tcPr>
                </a:tc>
                <a:tc>
                  <a:txBody>
                    <a:bodyPr/>
                    <a:lstStyle/>
                    <a:p>
                      <a:pPr>
                        <a:buNone/>
                      </a:pPr>
                      <a:r>
                        <a:rPr lang="en-US">
                          <a:latin typeface="Arial Black" panose="020B0A04020102020204" pitchFamily="34" charset="0"/>
                        </a:rPr>
                        <a:t>Student who looks up answers</a:t>
                      </a:r>
                    </a:p>
                  </a:txBody>
                  <a:tcPr anchor="ctr">
                    <a:lnL>
                      <a:noFill/>
                    </a:lnL>
                    <a:lnR>
                      <a:noFill/>
                    </a:lnR>
                    <a:lnT>
                      <a:noFill/>
                    </a:lnT>
                    <a:lnB>
                      <a:noFill/>
                    </a:lnB>
                    <a:noFill/>
                  </a:tcPr>
                </a:tc>
                <a:tc>
                  <a:txBody>
                    <a:bodyPr/>
                    <a:lstStyle/>
                    <a:p>
                      <a:pPr>
                        <a:buNone/>
                      </a:pPr>
                      <a:r>
                        <a:rPr lang="en-US" dirty="0">
                          <a:latin typeface="Arial Black" panose="020B0A04020102020204" pitchFamily="34" charset="0"/>
                        </a:rPr>
                        <a:t>Student who memorizes formulas</a:t>
                      </a:r>
                    </a:p>
                  </a:txBody>
                  <a:tcPr anchor="ctr">
                    <a:lnL>
                      <a:noFill/>
                    </a:lnL>
                    <a:lnR>
                      <a:noFill/>
                    </a:lnR>
                    <a:lnT>
                      <a:noFill/>
                    </a:lnT>
                    <a:lnB>
                      <a:noFill/>
                    </a:lnB>
                    <a:noFill/>
                  </a:tcPr>
                </a:tc>
                <a:extLst>
                  <a:ext uri="{0D108BD9-81ED-4DB2-BD59-A6C34878D82A}">
                    <a16:rowId xmlns:a16="http://schemas.microsoft.com/office/drawing/2014/main" val="472545676"/>
                  </a:ext>
                </a:extLst>
              </a:tr>
            </a:tbl>
          </a:graphicData>
        </a:graphic>
      </p:graphicFrame>
      <p:sp>
        <p:nvSpPr>
          <p:cNvPr id="11" name="TextBox 10">
            <a:extLst>
              <a:ext uri="{FF2B5EF4-FFF2-40B4-BE49-F238E27FC236}">
                <a16:creationId xmlns:a16="http://schemas.microsoft.com/office/drawing/2014/main" id="{7E87F07A-279D-A146-D57D-D84F32501CA6}"/>
              </a:ext>
            </a:extLst>
          </p:cNvPr>
          <p:cNvSpPr txBox="1"/>
          <p:nvPr/>
        </p:nvSpPr>
        <p:spPr>
          <a:xfrm>
            <a:off x="4171334" y="1422211"/>
            <a:ext cx="3559277" cy="400110"/>
          </a:xfrm>
          <a:prstGeom prst="rect">
            <a:avLst/>
          </a:prstGeom>
          <a:noFill/>
        </p:spPr>
        <p:txBody>
          <a:bodyPr wrap="square">
            <a:spAutoFit/>
          </a:bodyPr>
          <a:lstStyle/>
          <a:p>
            <a:pPr>
              <a:buNone/>
            </a:pPr>
            <a:r>
              <a:rPr lang="en-US" sz="2000" b="1" dirty="0">
                <a:solidFill>
                  <a:srgbClr val="7030A0"/>
                </a:solidFill>
                <a:latin typeface="Arial Black" panose="020B0A04020102020204" pitchFamily="34" charset="0"/>
              </a:rPr>
              <a:t>Key Comparison Table</a:t>
            </a:r>
          </a:p>
        </p:txBody>
      </p:sp>
    </p:spTree>
    <p:extLst>
      <p:ext uri="{BB962C8B-B14F-4D97-AF65-F5344CB8AC3E}">
        <p14:creationId xmlns:p14="http://schemas.microsoft.com/office/powerpoint/2010/main" val="4209297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37FA3-6274-54EC-3D90-1F4B92BDA3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57C56-8628-4A0D-BF9B-18C08ED473B3}"/>
              </a:ext>
            </a:extLst>
          </p:cNvPr>
          <p:cNvSpPr>
            <a:spLocks noGrp="1"/>
          </p:cNvSpPr>
          <p:nvPr>
            <p:ph type="ctrTitle"/>
          </p:nvPr>
        </p:nvSpPr>
        <p:spPr>
          <a:xfrm>
            <a:off x="1111579" y="188844"/>
            <a:ext cx="9679858" cy="653262"/>
          </a:xfrm>
        </p:spPr>
        <p:txBody>
          <a:bodyPr>
            <a:normAutofit/>
          </a:bodyPr>
          <a:lstStyle/>
          <a:p>
            <a:r>
              <a:rPr lang="en-US" sz="3200" dirty="0">
                <a:latin typeface="Arial Black" panose="020B0A04020102020204" pitchFamily="34" charset="0"/>
              </a:rPr>
              <a:t>KNN ALGORITHM IN MACHINE LANGUAGE</a:t>
            </a:r>
          </a:p>
        </p:txBody>
      </p:sp>
      <p:pic>
        <p:nvPicPr>
          <p:cNvPr id="5" name="Picture 4">
            <a:extLst>
              <a:ext uri="{FF2B5EF4-FFF2-40B4-BE49-F238E27FC236}">
                <a16:creationId xmlns:a16="http://schemas.microsoft.com/office/drawing/2014/main" id="{287DC452-737A-D423-9ECE-6655449B6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11071"/>
            <a:ext cx="7076661" cy="5414617"/>
          </a:xfrm>
          <a:prstGeom prst="rect">
            <a:avLst/>
          </a:prstGeom>
        </p:spPr>
      </p:pic>
      <p:sp>
        <p:nvSpPr>
          <p:cNvPr id="8" name="TextBox 7">
            <a:extLst>
              <a:ext uri="{FF2B5EF4-FFF2-40B4-BE49-F238E27FC236}">
                <a16:creationId xmlns:a16="http://schemas.microsoft.com/office/drawing/2014/main" id="{B7EAB836-21A3-4BDA-0315-EED76C3EB552}"/>
              </a:ext>
            </a:extLst>
          </p:cNvPr>
          <p:cNvSpPr txBox="1"/>
          <p:nvPr/>
        </p:nvSpPr>
        <p:spPr>
          <a:xfrm>
            <a:off x="7315200" y="1194611"/>
            <a:ext cx="4651513" cy="4832092"/>
          </a:xfrm>
          <a:prstGeom prst="rect">
            <a:avLst/>
          </a:prstGeom>
          <a:noFill/>
        </p:spPr>
        <p:txBody>
          <a:bodyPr wrap="square">
            <a:spAutoFit/>
          </a:bodyPr>
          <a:lstStyle/>
          <a:p>
            <a:pPr>
              <a:buNone/>
            </a:pPr>
            <a:endParaRPr lang="en-US" sz="1400" b="1" dirty="0">
              <a:latin typeface="Arial Black" panose="020B0A04020102020204" pitchFamily="34" charset="0"/>
            </a:endParaRPr>
          </a:p>
          <a:p>
            <a:pPr marL="285750" indent="-285750">
              <a:buFont typeface="Arial" panose="020B0604020202020204" pitchFamily="34" charset="0"/>
              <a:buChar char="•"/>
            </a:pPr>
            <a:r>
              <a:rPr lang="en-US" sz="1400" b="1" dirty="0">
                <a:solidFill>
                  <a:srgbClr val="FF0000"/>
                </a:solidFill>
                <a:effectLst/>
                <a:latin typeface="Arial Black" panose="020B0A04020102020204" pitchFamily="34" charset="0"/>
              </a:rPr>
              <a:t>Left Panel — Lazy Learning (KNN):</a:t>
            </a:r>
            <a:endParaRPr lang="en-US" sz="14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400" dirty="0">
                <a:effectLst/>
                <a:latin typeface="Arial Black" panose="020B0A04020102020204" pitchFamily="34" charset="0"/>
              </a:rPr>
              <a:t>Learns at prediction time.</a:t>
            </a:r>
            <a:endParaRPr lang="en-US" sz="1400" dirty="0">
              <a:latin typeface="Arial Black" panose="020B0A04020102020204" pitchFamily="34" charset="0"/>
            </a:endParaRPr>
          </a:p>
          <a:p>
            <a:pPr marL="742950" lvl="1" indent="-285750">
              <a:buFont typeface="Arial" panose="020B0604020202020204" pitchFamily="34" charset="0"/>
              <a:buChar char="•"/>
            </a:pPr>
            <a:r>
              <a:rPr lang="en-US" sz="1400" dirty="0">
                <a:effectLst/>
                <a:latin typeface="Arial Black" panose="020B0A04020102020204" pitchFamily="34" charset="0"/>
              </a:rPr>
              <a:t>Stores all data, searches neighbors, no pre‑built model.</a:t>
            </a:r>
            <a:endParaRPr lang="en-US" sz="1400" dirty="0">
              <a:latin typeface="Arial Black" panose="020B0A04020102020204" pitchFamily="34" charset="0"/>
            </a:endParaRPr>
          </a:p>
          <a:p>
            <a:pPr marL="742950" lvl="1" indent="-285750">
              <a:buFont typeface="Arial" panose="020B0604020202020204" pitchFamily="34" charset="0"/>
              <a:buChar char="•"/>
            </a:pPr>
            <a:r>
              <a:rPr lang="en-US" sz="1400" dirty="0">
                <a:effectLst/>
                <a:latin typeface="Arial Black" panose="020B0A04020102020204" pitchFamily="34" charset="0"/>
              </a:rPr>
              <a:t>Analogy: student flipping through books during the exam.</a:t>
            </a:r>
            <a:endParaRPr lang="en-US" sz="1400" dirty="0">
              <a:latin typeface="Arial Black" panose="020B0A04020102020204" pitchFamily="34" charset="0"/>
            </a:endParaRPr>
          </a:p>
          <a:p>
            <a:pPr marL="742950" lvl="1" indent="-285750">
              <a:buFont typeface="Arial" panose="020B0604020202020204" pitchFamily="34" charset="0"/>
              <a:buChar char="•"/>
            </a:pPr>
            <a:r>
              <a:rPr lang="en-US" sz="1400" dirty="0">
                <a:effectLst/>
                <a:latin typeface="Arial Black" panose="020B0A04020102020204" pitchFamily="34" charset="0"/>
              </a:rPr>
              <a:t>Key point: flexible but slow to predict.</a:t>
            </a:r>
            <a:endParaRPr lang="en-US" sz="1400" dirty="0">
              <a:latin typeface="Arial Black" panose="020B0A04020102020204" pitchFamily="34" charset="0"/>
            </a:endParaRPr>
          </a:p>
          <a:p>
            <a:pPr marL="285750" indent="-285750">
              <a:buFont typeface="Arial" panose="020B0604020202020204" pitchFamily="34" charset="0"/>
              <a:buChar char="•"/>
            </a:pPr>
            <a:r>
              <a:rPr lang="en-US" sz="1400" b="1" dirty="0">
                <a:solidFill>
                  <a:srgbClr val="FF0000"/>
                </a:solidFill>
                <a:effectLst/>
                <a:latin typeface="Arial Black" panose="020B0A04020102020204" pitchFamily="34" charset="0"/>
              </a:rPr>
              <a:t>Right Panel — Eager Learning (Logistic Regression):</a:t>
            </a:r>
            <a:endParaRPr lang="en-US" sz="1400" dirty="0">
              <a:solidFill>
                <a:srgbClr val="FF0000"/>
              </a:solidFill>
              <a:latin typeface="Arial Black" panose="020B0A04020102020204" pitchFamily="34" charset="0"/>
            </a:endParaRPr>
          </a:p>
          <a:p>
            <a:pPr marL="742950" lvl="1" indent="-285750">
              <a:buFont typeface="Arial" panose="020B0604020202020204" pitchFamily="34" charset="0"/>
              <a:buChar char="•"/>
            </a:pPr>
            <a:r>
              <a:rPr lang="en-US" sz="1400" dirty="0">
                <a:effectLst/>
                <a:latin typeface="Arial Black" panose="020B0A04020102020204" pitchFamily="34" charset="0"/>
              </a:rPr>
              <a:t>Learns before prediction.</a:t>
            </a:r>
            <a:endParaRPr lang="en-US" sz="1400" dirty="0">
              <a:latin typeface="Arial Black" panose="020B0A04020102020204" pitchFamily="34" charset="0"/>
            </a:endParaRPr>
          </a:p>
          <a:p>
            <a:pPr marL="742950" lvl="1" indent="-285750">
              <a:buFont typeface="Arial" panose="020B0604020202020204" pitchFamily="34" charset="0"/>
              <a:buChar char="•"/>
            </a:pPr>
            <a:r>
              <a:rPr lang="en-US" sz="1400" dirty="0">
                <a:effectLst/>
                <a:latin typeface="Arial Black" panose="020B0A04020102020204" pitchFamily="34" charset="0"/>
              </a:rPr>
              <a:t>Trains a model, fits parameters, applies learned equation.</a:t>
            </a:r>
            <a:endParaRPr lang="en-US" sz="1400" dirty="0">
              <a:latin typeface="Arial Black" panose="020B0A04020102020204" pitchFamily="34" charset="0"/>
            </a:endParaRPr>
          </a:p>
          <a:p>
            <a:pPr marL="742950" lvl="1" indent="-285750">
              <a:buFont typeface="Arial" panose="020B0604020202020204" pitchFamily="34" charset="0"/>
              <a:buChar char="•"/>
            </a:pPr>
            <a:r>
              <a:rPr lang="en-US" sz="1400" dirty="0">
                <a:effectLst/>
                <a:latin typeface="Arial Black" panose="020B0A04020102020204" pitchFamily="34" charset="0"/>
              </a:rPr>
              <a:t>Analogy: student who studies formulas before the exam.</a:t>
            </a:r>
            <a:endParaRPr lang="en-US" sz="1400" dirty="0">
              <a:latin typeface="Arial Black" panose="020B0A04020102020204" pitchFamily="34" charset="0"/>
            </a:endParaRPr>
          </a:p>
          <a:p>
            <a:pPr marL="742950" lvl="1" indent="-285750">
              <a:buFont typeface="Arial" panose="020B0604020202020204" pitchFamily="34" charset="0"/>
              <a:buChar char="•"/>
            </a:pPr>
            <a:r>
              <a:rPr lang="en-US" sz="1400" dirty="0">
                <a:effectLst/>
                <a:latin typeface="Arial Black" panose="020B0A04020102020204" pitchFamily="34" charset="0"/>
              </a:rPr>
              <a:t>Key point: fast predictions but needs retraining if data changes.</a:t>
            </a:r>
            <a:endParaRPr lang="en-US" sz="1400" dirty="0">
              <a:latin typeface="Arial Black" panose="020B0A04020102020204" pitchFamily="34" charset="0"/>
            </a:endParaRPr>
          </a:p>
          <a:p>
            <a:pPr marL="285750" indent="-285750">
              <a:buFont typeface="Arial" panose="020B0604020202020204" pitchFamily="34" charset="0"/>
              <a:buChar char="•"/>
            </a:pPr>
            <a:r>
              <a:rPr lang="en-US" sz="1400" b="1" dirty="0">
                <a:solidFill>
                  <a:srgbClr val="FF0000"/>
                </a:solidFill>
                <a:effectLst/>
                <a:latin typeface="Arial Black" panose="020B0A04020102020204" pitchFamily="34" charset="0"/>
              </a:rPr>
              <a:t>Comparison Table:</a:t>
            </a:r>
            <a:r>
              <a:rPr lang="en-US" sz="1400" dirty="0">
                <a:solidFill>
                  <a:srgbClr val="FF0000"/>
                </a:solidFill>
                <a:effectLst/>
                <a:latin typeface="Arial Black" panose="020B0A04020102020204" pitchFamily="34" charset="0"/>
              </a:rPr>
              <a:t> </a:t>
            </a:r>
            <a:r>
              <a:rPr lang="en-US" sz="1400" dirty="0">
                <a:effectLst/>
                <a:latin typeface="Arial Black" panose="020B0A04020102020204" pitchFamily="34" charset="0"/>
              </a:rPr>
              <a:t>Training → none vs. model built. Memory → high vs. low. Prediction speed → slow vs. fast. Adaptability → easy vs. retraining required.</a:t>
            </a:r>
            <a:endParaRPr lang="en-US" sz="1400" dirty="0">
              <a:latin typeface="Arial Black" panose="020B0A04020102020204" pitchFamily="34" charset="0"/>
            </a:endParaRPr>
          </a:p>
        </p:txBody>
      </p:sp>
    </p:spTree>
    <p:extLst>
      <p:ext uri="{BB962C8B-B14F-4D97-AF65-F5344CB8AC3E}">
        <p14:creationId xmlns:p14="http://schemas.microsoft.com/office/powerpoint/2010/main" val="3057024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4BEEC-A04A-E5BA-0594-FE953BA83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AE5BDA-23A6-F40B-52C7-DB174E941D9C}"/>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F386CFFD-6C6A-6426-F0E0-F3C94FF34527}"/>
              </a:ext>
            </a:extLst>
          </p:cNvPr>
          <p:cNvSpPr txBox="1"/>
          <p:nvPr/>
        </p:nvSpPr>
        <p:spPr>
          <a:xfrm>
            <a:off x="422788" y="1349292"/>
            <a:ext cx="11174362" cy="1384995"/>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What Is Non‑Parametric Learning?</a:t>
            </a:r>
          </a:p>
          <a:p>
            <a:pPr algn="just">
              <a:buNone/>
            </a:pPr>
            <a:endParaRPr lang="en-US" b="1" dirty="0">
              <a:solidFill>
                <a:srgbClr val="FF0000"/>
              </a:solidFill>
              <a:latin typeface="Arial Black" panose="020B0A04020102020204" pitchFamily="34" charset="0"/>
            </a:endParaRPr>
          </a:p>
          <a:p>
            <a:pPr algn="just">
              <a:buNone/>
            </a:pPr>
            <a:r>
              <a:rPr lang="en-US" sz="1600" dirty="0">
                <a:effectLst/>
                <a:latin typeface="Arial Black" panose="020B0A04020102020204" pitchFamily="34" charset="0"/>
              </a:rPr>
              <a:t>Non‑parametric learning refers to algorithms that </a:t>
            </a:r>
            <a:r>
              <a:rPr lang="en-US" sz="1600" b="1" dirty="0">
                <a:effectLst/>
                <a:latin typeface="Arial Black" panose="020B0A04020102020204" pitchFamily="34" charset="0"/>
              </a:rPr>
              <a:t>do not assume a fixed mathematical form or number of parameters</a:t>
            </a:r>
            <a:r>
              <a:rPr lang="en-US" sz="1600" dirty="0">
                <a:effectLst/>
                <a:latin typeface="Arial Black" panose="020B0A04020102020204" pitchFamily="34" charset="0"/>
              </a:rPr>
              <a:t> for the underlying data distribution. Instead, they </a:t>
            </a:r>
            <a:r>
              <a:rPr lang="en-US" sz="1600" b="1" dirty="0">
                <a:effectLst/>
                <a:latin typeface="Arial Black" panose="020B0A04020102020204" pitchFamily="34" charset="0"/>
              </a:rPr>
              <a:t>adapt their complexity to the data itself</a:t>
            </a:r>
            <a:r>
              <a:rPr lang="en-US" sz="1600" dirty="0">
                <a:effectLst/>
                <a:latin typeface="Arial Black" panose="020B0A04020102020204" pitchFamily="34" charset="0"/>
              </a:rPr>
              <a:t> — the more data you have, the more flexible the model becomes.</a:t>
            </a:r>
            <a:endParaRPr lang="en-US" sz="1600" dirty="0">
              <a:latin typeface="Arial Black" panose="020B0A04020102020204" pitchFamily="34" charset="0"/>
            </a:endParaRPr>
          </a:p>
        </p:txBody>
      </p:sp>
      <p:sp>
        <p:nvSpPr>
          <p:cNvPr id="7" name="TextBox 6">
            <a:extLst>
              <a:ext uri="{FF2B5EF4-FFF2-40B4-BE49-F238E27FC236}">
                <a16:creationId xmlns:a16="http://schemas.microsoft.com/office/drawing/2014/main" id="{6817D7B3-8FC6-01D1-7DAC-B6DBE8A621EB}"/>
              </a:ext>
            </a:extLst>
          </p:cNvPr>
          <p:cNvSpPr txBox="1"/>
          <p:nvPr/>
        </p:nvSpPr>
        <p:spPr>
          <a:xfrm>
            <a:off x="228601" y="2858729"/>
            <a:ext cx="11562735" cy="1569660"/>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Key Idea</a:t>
            </a:r>
          </a:p>
          <a:p>
            <a:pPr>
              <a:buNone/>
            </a:pPr>
            <a:endParaRPr lang="en-US" sz="1600" b="1"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In </a:t>
            </a:r>
            <a:r>
              <a:rPr lang="en-US" sz="1600" b="1" dirty="0">
                <a:effectLst/>
                <a:latin typeface="Arial Black" panose="020B0A04020102020204" pitchFamily="34" charset="0"/>
              </a:rPr>
              <a:t>parametric models</a:t>
            </a:r>
            <a:r>
              <a:rPr lang="en-US" sz="1600" dirty="0">
                <a:effectLst/>
                <a:latin typeface="Arial Black" panose="020B0A04020102020204" pitchFamily="34" charset="0"/>
              </a:rPr>
              <a:t> (like Logistic Regression), you define a fixed number of parameters — e.g., weights and bias — and learn them from data.</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In </a:t>
            </a:r>
            <a:r>
              <a:rPr lang="en-US" sz="1600" b="1" dirty="0">
                <a:effectLst/>
                <a:latin typeface="Arial Black" panose="020B0A04020102020204" pitchFamily="34" charset="0"/>
              </a:rPr>
              <a:t>non‑parametric models</a:t>
            </a:r>
            <a:r>
              <a:rPr lang="en-US" sz="1600" dirty="0">
                <a:effectLst/>
                <a:latin typeface="Arial Black" panose="020B0A04020102020204" pitchFamily="34" charset="0"/>
              </a:rPr>
              <a:t> (like KNN), the model structure grows with the dataset. There’s no fixed formula; predictions depend directly on stored examples.</a:t>
            </a:r>
            <a:endParaRPr lang="en-US" sz="1600" dirty="0">
              <a:latin typeface="Arial Black" panose="020B0A04020102020204" pitchFamily="34" charset="0"/>
            </a:endParaRPr>
          </a:p>
        </p:txBody>
      </p:sp>
      <p:sp>
        <p:nvSpPr>
          <p:cNvPr id="9" name="TextBox 8">
            <a:extLst>
              <a:ext uri="{FF2B5EF4-FFF2-40B4-BE49-F238E27FC236}">
                <a16:creationId xmlns:a16="http://schemas.microsoft.com/office/drawing/2014/main" id="{721CC432-BB07-1C4C-8D31-62789FCB4BC3}"/>
              </a:ext>
            </a:extLst>
          </p:cNvPr>
          <p:cNvSpPr txBox="1"/>
          <p:nvPr/>
        </p:nvSpPr>
        <p:spPr>
          <a:xfrm>
            <a:off x="589934" y="4750477"/>
            <a:ext cx="11007215" cy="1815882"/>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Analogy for Students</a:t>
            </a:r>
          </a:p>
          <a:p>
            <a:pPr algn="just">
              <a:buNone/>
            </a:pPr>
            <a:endParaRPr lang="en-US" sz="1600" b="1" dirty="0">
              <a:solidFill>
                <a:srgbClr val="FF0000"/>
              </a:solidFill>
              <a:latin typeface="Arial Black" panose="020B0A04020102020204" pitchFamily="34" charset="0"/>
            </a:endParaRPr>
          </a:p>
          <a:p>
            <a:pPr algn="just">
              <a:buNone/>
            </a:pPr>
            <a:r>
              <a:rPr lang="en-US" sz="1600" dirty="0">
                <a:solidFill>
                  <a:srgbClr val="FF0000"/>
                </a:solidFill>
                <a:effectLst/>
                <a:latin typeface="Arial Black" panose="020B0A04020102020204" pitchFamily="34" charset="0"/>
              </a:rPr>
              <a:t>Imagine two types of chefs:</a:t>
            </a:r>
          </a:p>
          <a:p>
            <a:pPr algn="just">
              <a:buNone/>
            </a:pP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b="1" dirty="0">
                <a:solidFill>
                  <a:srgbClr val="FF0000"/>
                </a:solidFill>
                <a:effectLst/>
                <a:latin typeface="Arial Black" panose="020B0A04020102020204" pitchFamily="34" charset="0"/>
              </a:rPr>
              <a:t>Parametric Chef:</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Learns a fixed recipe — same ingredients, same steps every time.</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b="1" dirty="0">
                <a:solidFill>
                  <a:srgbClr val="FF0000"/>
                </a:solidFill>
                <a:effectLst/>
                <a:latin typeface="Arial Black" panose="020B0A04020102020204" pitchFamily="34" charset="0"/>
              </a:rPr>
              <a:t>Non‑Parametric Chef:</a:t>
            </a:r>
            <a:r>
              <a:rPr lang="en-US" sz="1600" dirty="0">
                <a:solidFill>
                  <a:srgbClr val="FF0000"/>
                </a:solidFill>
                <a:effectLst/>
                <a:latin typeface="Arial Black" panose="020B0A04020102020204" pitchFamily="34" charset="0"/>
              </a:rPr>
              <a:t> </a:t>
            </a:r>
            <a:r>
              <a:rPr lang="en-US" sz="1600" dirty="0">
                <a:effectLst/>
                <a:latin typeface="Arial Black" panose="020B0A04020102020204" pitchFamily="34" charset="0"/>
              </a:rPr>
              <a:t>Tastes each new ingredient and adjusts the recipe dynamically. KNN is that flexible chef — it adapts based on what’s available (the data points).</a:t>
            </a:r>
            <a:endParaRPr lang="en-US" sz="1600" dirty="0">
              <a:latin typeface="Arial Black" panose="020B0A04020102020204" pitchFamily="34" charset="0"/>
            </a:endParaRPr>
          </a:p>
        </p:txBody>
      </p:sp>
    </p:spTree>
    <p:extLst>
      <p:ext uri="{BB962C8B-B14F-4D97-AF65-F5344CB8AC3E}">
        <p14:creationId xmlns:p14="http://schemas.microsoft.com/office/powerpoint/2010/main" val="37282998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CADF6-596D-7885-2277-D7385AFBFB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AF2C4-E6AD-018D-4C23-E58451A61055}"/>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graphicFrame>
        <p:nvGraphicFramePr>
          <p:cNvPr id="3" name="Table 2">
            <a:extLst>
              <a:ext uri="{FF2B5EF4-FFF2-40B4-BE49-F238E27FC236}">
                <a16:creationId xmlns:a16="http://schemas.microsoft.com/office/drawing/2014/main" id="{BD1B1B8C-4B17-C39E-9B21-BD272321E19B}"/>
              </a:ext>
            </a:extLst>
          </p:cNvPr>
          <p:cNvGraphicFramePr>
            <a:graphicFrameLocks noGrp="1"/>
          </p:cNvGraphicFramePr>
          <p:nvPr>
            <p:extLst>
              <p:ext uri="{D42A27DB-BD31-4B8C-83A1-F6EECF244321}">
                <p14:modId xmlns:p14="http://schemas.microsoft.com/office/powerpoint/2010/main" val="2367131568"/>
              </p:ext>
            </p:extLst>
          </p:nvPr>
        </p:nvGraphicFramePr>
        <p:xfrm>
          <a:off x="806245" y="1917839"/>
          <a:ext cx="10547555" cy="2651760"/>
        </p:xfrm>
        <a:graphic>
          <a:graphicData uri="http://schemas.openxmlformats.org/drawingml/2006/table">
            <a:tbl>
              <a:tblPr/>
              <a:tblGrid>
                <a:gridCol w="5289755">
                  <a:extLst>
                    <a:ext uri="{9D8B030D-6E8A-4147-A177-3AD203B41FA5}">
                      <a16:colId xmlns:a16="http://schemas.microsoft.com/office/drawing/2014/main" val="2406263411"/>
                    </a:ext>
                  </a:extLst>
                </a:gridCol>
                <a:gridCol w="5257800">
                  <a:extLst>
                    <a:ext uri="{9D8B030D-6E8A-4147-A177-3AD203B41FA5}">
                      <a16:colId xmlns:a16="http://schemas.microsoft.com/office/drawing/2014/main" val="1765435887"/>
                    </a:ext>
                  </a:extLst>
                </a:gridCol>
              </a:tblGrid>
              <a:tr h="0">
                <a:tc>
                  <a:txBody>
                    <a:bodyPr/>
                    <a:lstStyle/>
                    <a:p>
                      <a:pPr>
                        <a:buNone/>
                      </a:pPr>
                      <a:r>
                        <a:rPr lang="en-US" sz="1600" dirty="0">
                          <a:solidFill>
                            <a:srgbClr val="FF0000"/>
                          </a:solidFill>
                          <a:latin typeface="Arial Black" panose="020B0A04020102020204" pitchFamily="34" charset="0"/>
                        </a:rPr>
                        <a:t>Algorithm</a:t>
                      </a:r>
                    </a:p>
                  </a:txBody>
                  <a:tcPr anchor="ctr">
                    <a:lnL>
                      <a:noFill/>
                    </a:lnL>
                    <a:lnR>
                      <a:noFill/>
                    </a:lnR>
                    <a:lnT>
                      <a:noFill/>
                    </a:lnT>
                    <a:lnB>
                      <a:noFill/>
                    </a:lnB>
                    <a:noFill/>
                  </a:tcPr>
                </a:tc>
                <a:tc>
                  <a:txBody>
                    <a:bodyPr/>
                    <a:lstStyle/>
                    <a:p>
                      <a:pPr>
                        <a:buNone/>
                      </a:pPr>
                      <a:r>
                        <a:rPr lang="en-US" sz="1600" dirty="0">
                          <a:solidFill>
                            <a:srgbClr val="FF0000"/>
                          </a:solidFill>
                          <a:latin typeface="Arial Black" panose="020B0A04020102020204" pitchFamily="34" charset="0"/>
                        </a:rPr>
                        <a:t>Description</a:t>
                      </a:r>
                    </a:p>
                  </a:txBody>
                  <a:tcPr anchor="ctr">
                    <a:lnL>
                      <a:noFill/>
                    </a:lnL>
                    <a:lnR>
                      <a:noFill/>
                    </a:lnR>
                    <a:lnT>
                      <a:noFill/>
                    </a:lnT>
                    <a:lnB>
                      <a:noFill/>
                    </a:lnB>
                    <a:noFill/>
                  </a:tcPr>
                </a:tc>
                <a:extLst>
                  <a:ext uri="{0D108BD9-81ED-4DB2-BD59-A6C34878D82A}">
                    <a16:rowId xmlns:a16="http://schemas.microsoft.com/office/drawing/2014/main" val="3719849838"/>
                  </a:ext>
                </a:extLst>
              </a:tr>
              <a:tr h="0">
                <a:tc>
                  <a:txBody>
                    <a:bodyPr/>
                    <a:lstStyle/>
                    <a:p>
                      <a:pPr>
                        <a:buNone/>
                      </a:pPr>
                      <a:r>
                        <a:rPr lang="en-US" sz="1600" b="1" dirty="0">
                          <a:latin typeface="Arial Black" panose="020B0A04020102020204" pitchFamily="34" charset="0"/>
                        </a:rPr>
                        <a:t>K‑Nearest Neighbors (KNN)</a:t>
                      </a:r>
                      <a:endParaRPr lang="en-US" sz="1600"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Predicts based on proximity to stored data points.</a:t>
                      </a:r>
                    </a:p>
                  </a:txBody>
                  <a:tcPr anchor="ctr">
                    <a:lnL>
                      <a:noFill/>
                    </a:lnL>
                    <a:lnR>
                      <a:noFill/>
                    </a:lnR>
                    <a:lnT>
                      <a:noFill/>
                    </a:lnT>
                    <a:lnB>
                      <a:noFill/>
                    </a:lnB>
                    <a:noFill/>
                  </a:tcPr>
                </a:tc>
                <a:extLst>
                  <a:ext uri="{0D108BD9-81ED-4DB2-BD59-A6C34878D82A}">
                    <a16:rowId xmlns:a16="http://schemas.microsoft.com/office/drawing/2014/main" val="551346130"/>
                  </a:ext>
                </a:extLst>
              </a:tr>
              <a:tr h="0">
                <a:tc>
                  <a:txBody>
                    <a:bodyPr/>
                    <a:lstStyle/>
                    <a:p>
                      <a:pPr>
                        <a:buNone/>
                      </a:pPr>
                      <a:r>
                        <a:rPr lang="en-US" sz="1600" b="1">
                          <a:latin typeface="Arial Black" panose="020B0A04020102020204" pitchFamily="34" charset="0"/>
                        </a:rPr>
                        <a:t>Decision Trees</a:t>
                      </a:r>
                      <a:endParaRPr lang="en-US" sz="1600">
                        <a:latin typeface="Arial Black" panose="020B0A04020102020204" pitchFamily="34" charset="0"/>
                      </a:endParaRP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Splits data dynamically based on feature values.</a:t>
                      </a:r>
                    </a:p>
                  </a:txBody>
                  <a:tcPr anchor="ctr">
                    <a:lnL>
                      <a:noFill/>
                    </a:lnL>
                    <a:lnR>
                      <a:noFill/>
                    </a:lnR>
                    <a:lnT>
                      <a:noFill/>
                    </a:lnT>
                    <a:lnB>
                      <a:noFill/>
                    </a:lnB>
                    <a:noFill/>
                  </a:tcPr>
                </a:tc>
                <a:extLst>
                  <a:ext uri="{0D108BD9-81ED-4DB2-BD59-A6C34878D82A}">
                    <a16:rowId xmlns:a16="http://schemas.microsoft.com/office/drawing/2014/main" val="4178844357"/>
                  </a:ext>
                </a:extLst>
              </a:tr>
              <a:tr h="0">
                <a:tc>
                  <a:txBody>
                    <a:bodyPr/>
                    <a:lstStyle/>
                    <a:p>
                      <a:pPr>
                        <a:buNone/>
                      </a:pPr>
                      <a:r>
                        <a:rPr lang="en-US" sz="1600" b="1">
                          <a:latin typeface="Arial Black" panose="020B0A04020102020204" pitchFamily="34" charset="0"/>
                        </a:rPr>
                        <a:t>Kernel Density Estimation (KDE)</a:t>
                      </a:r>
                      <a:endParaRPr lang="en-US" sz="1600">
                        <a:latin typeface="Arial Black" panose="020B0A04020102020204" pitchFamily="34" charset="0"/>
                      </a:endParaRP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Estimates probability distributions without assuming shape.</a:t>
                      </a:r>
                    </a:p>
                  </a:txBody>
                  <a:tcPr anchor="ctr">
                    <a:lnL>
                      <a:noFill/>
                    </a:lnL>
                    <a:lnR>
                      <a:noFill/>
                    </a:lnR>
                    <a:lnT>
                      <a:noFill/>
                    </a:lnT>
                    <a:lnB>
                      <a:noFill/>
                    </a:lnB>
                    <a:noFill/>
                  </a:tcPr>
                </a:tc>
                <a:extLst>
                  <a:ext uri="{0D108BD9-81ED-4DB2-BD59-A6C34878D82A}">
                    <a16:rowId xmlns:a16="http://schemas.microsoft.com/office/drawing/2014/main" val="2690867087"/>
                  </a:ext>
                </a:extLst>
              </a:tr>
              <a:tr h="0">
                <a:tc>
                  <a:txBody>
                    <a:bodyPr/>
                    <a:lstStyle/>
                    <a:p>
                      <a:pPr>
                        <a:buNone/>
                      </a:pPr>
                      <a:r>
                        <a:rPr lang="en-US" sz="1600" b="1">
                          <a:latin typeface="Arial Black" panose="020B0A04020102020204" pitchFamily="34" charset="0"/>
                        </a:rPr>
                        <a:t>Support Vector Machines (with non‑linear kernels)</a:t>
                      </a:r>
                      <a:endParaRPr lang="en-US" sz="1600">
                        <a:latin typeface="Arial Black" panose="020B0A04020102020204" pitchFamily="34" charset="0"/>
                      </a:endParaRP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Uses data‑driven boundaries instead of fixed equations.</a:t>
                      </a:r>
                    </a:p>
                  </a:txBody>
                  <a:tcPr anchor="ctr">
                    <a:lnL>
                      <a:noFill/>
                    </a:lnL>
                    <a:lnR>
                      <a:noFill/>
                    </a:lnR>
                    <a:lnT>
                      <a:noFill/>
                    </a:lnT>
                    <a:lnB>
                      <a:noFill/>
                    </a:lnB>
                    <a:noFill/>
                  </a:tcPr>
                </a:tc>
                <a:extLst>
                  <a:ext uri="{0D108BD9-81ED-4DB2-BD59-A6C34878D82A}">
                    <a16:rowId xmlns:a16="http://schemas.microsoft.com/office/drawing/2014/main" val="1183358022"/>
                  </a:ext>
                </a:extLst>
              </a:tr>
            </a:tbl>
          </a:graphicData>
        </a:graphic>
      </p:graphicFrame>
      <p:sp>
        <p:nvSpPr>
          <p:cNvPr id="6" name="TextBox 5">
            <a:extLst>
              <a:ext uri="{FF2B5EF4-FFF2-40B4-BE49-F238E27FC236}">
                <a16:creationId xmlns:a16="http://schemas.microsoft.com/office/drawing/2014/main" id="{AEB732ED-1703-F381-DC4F-4E2F229E6963}"/>
              </a:ext>
            </a:extLst>
          </p:cNvPr>
          <p:cNvSpPr txBox="1"/>
          <p:nvPr/>
        </p:nvSpPr>
        <p:spPr>
          <a:xfrm>
            <a:off x="3598607" y="1298654"/>
            <a:ext cx="6096000" cy="369332"/>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Examples of Non‑Parametric Algorithms</a:t>
            </a:r>
          </a:p>
        </p:txBody>
      </p:sp>
      <p:sp>
        <p:nvSpPr>
          <p:cNvPr id="10" name="TextBox 9">
            <a:extLst>
              <a:ext uri="{FF2B5EF4-FFF2-40B4-BE49-F238E27FC236}">
                <a16:creationId xmlns:a16="http://schemas.microsoft.com/office/drawing/2014/main" id="{44C2AAF8-2F42-98BB-3510-CB732FBEA44D}"/>
              </a:ext>
            </a:extLst>
          </p:cNvPr>
          <p:cNvSpPr txBox="1"/>
          <p:nvPr/>
        </p:nvSpPr>
        <p:spPr>
          <a:xfrm>
            <a:off x="875071" y="4750477"/>
            <a:ext cx="10304206" cy="1846659"/>
          </a:xfrm>
          <a:prstGeom prst="rect">
            <a:avLst/>
          </a:prstGeom>
          <a:noFill/>
        </p:spPr>
        <p:txBody>
          <a:bodyPr wrap="square">
            <a:spAutoFit/>
          </a:bodyPr>
          <a:lstStyle/>
          <a:p>
            <a:pPr algn="ctr">
              <a:buNone/>
            </a:pPr>
            <a:r>
              <a:rPr lang="en-US" dirty="0">
                <a:solidFill>
                  <a:srgbClr val="FF0000"/>
                </a:solidFill>
                <a:effectLst/>
                <a:latin typeface="Arial Black" panose="020B0A04020102020204" pitchFamily="34" charset="0"/>
              </a:rPr>
              <a:t>In the Titanic dataset:</a:t>
            </a:r>
          </a:p>
          <a:p>
            <a:pPr algn="just">
              <a:buNone/>
            </a:pP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A </a:t>
            </a:r>
            <a:r>
              <a:rPr lang="en-US" sz="1600" b="1" dirty="0">
                <a:effectLst/>
                <a:latin typeface="Arial Black" panose="020B0A04020102020204" pitchFamily="34" charset="0"/>
              </a:rPr>
              <a:t>parametric model</a:t>
            </a:r>
            <a:r>
              <a:rPr lang="en-US" sz="1600" dirty="0">
                <a:effectLst/>
                <a:latin typeface="Arial Black" panose="020B0A04020102020204" pitchFamily="34" charset="0"/>
              </a:rPr>
              <a:t> (Logistic Regression) learns fixed coefficients for Age, Fare, and Class.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A </a:t>
            </a:r>
            <a:r>
              <a:rPr lang="en-US" sz="1600" b="1" dirty="0">
                <a:effectLst/>
                <a:latin typeface="Arial Black" panose="020B0A04020102020204" pitchFamily="34" charset="0"/>
              </a:rPr>
              <a:t>non‑parametric model</a:t>
            </a:r>
            <a:r>
              <a:rPr lang="en-US" sz="1600" dirty="0">
                <a:effectLst/>
                <a:latin typeface="Arial Black" panose="020B0A04020102020204" pitchFamily="34" charset="0"/>
              </a:rPr>
              <a:t> (KNN) simply stores all passengers and predicts survival by comparing the new passenger to similar ones — no fixed formula, just data‑driven reasoning.</a:t>
            </a:r>
            <a:endParaRPr lang="en-US" sz="1600" dirty="0">
              <a:latin typeface="Arial Black" panose="020B0A04020102020204" pitchFamily="34" charset="0"/>
            </a:endParaRPr>
          </a:p>
        </p:txBody>
      </p:sp>
    </p:spTree>
    <p:extLst>
      <p:ext uri="{BB962C8B-B14F-4D97-AF65-F5344CB8AC3E}">
        <p14:creationId xmlns:p14="http://schemas.microsoft.com/office/powerpoint/2010/main" val="2219356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97C4F-8BB9-D41B-DC31-3D12256B9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BE015-561A-A02C-BEB9-44BCC0DF50A8}"/>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graphicFrame>
        <p:nvGraphicFramePr>
          <p:cNvPr id="3" name="Table 2">
            <a:extLst>
              <a:ext uri="{FF2B5EF4-FFF2-40B4-BE49-F238E27FC236}">
                <a16:creationId xmlns:a16="http://schemas.microsoft.com/office/drawing/2014/main" id="{375143B9-4617-1D48-1071-07A64626CDAC}"/>
              </a:ext>
            </a:extLst>
          </p:cNvPr>
          <p:cNvGraphicFramePr>
            <a:graphicFrameLocks noGrp="1"/>
          </p:cNvGraphicFramePr>
          <p:nvPr/>
        </p:nvGraphicFramePr>
        <p:xfrm>
          <a:off x="806245" y="1917839"/>
          <a:ext cx="10547555" cy="2651760"/>
        </p:xfrm>
        <a:graphic>
          <a:graphicData uri="http://schemas.openxmlformats.org/drawingml/2006/table">
            <a:tbl>
              <a:tblPr/>
              <a:tblGrid>
                <a:gridCol w="5289755">
                  <a:extLst>
                    <a:ext uri="{9D8B030D-6E8A-4147-A177-3AD203B41FA5}">
                      <a16:colId xmlns:a16="http://schemas.microsoft.com/office/drawing/2014/main" val="2406263411"/>
                    </a:ext>
                  </a:extLst>
                </a:gridCol>
                <a:gridCol w="5257800">
                  <a:extLst>
                    <a:ext uri="{9D8B030D-6E8A-4147-A177-3AD203B41FA5}">
                      <a16:colId xmlns:a16="http://schemas.microsoft.com/office/drawing/2014/main" val="1765435887"/>
                    </a:ext>
                  </a:extLst>
                </a:gridCol>
              </a:tblGrid>
              <a:tr h="0">
                <a:tc>
                  <a:txBody>
                    <a:bodyPr/>
                    <a:lstStyle/>
                    <a:p>
                      <a:pPr>
                        <a:buNone/>
                      </a:pPr>
                      <a:r>
                        <a:rPr lang="en-US" sz="1600" dirty="0">
                          <a:solidFill>
                            <a:srgbClr val="FF0000"/>
                          </a:solidFill>
                          <a:latin typeface="Arial Black" panose="020B0A04020102020204" pitchFamily="34" charset="0"/>
                        </a:rPr>
                        <a:t>Algorithm</a:t>
                      </a:r>
                    </a:p>
                  </a:txBody>
                  <a:tcPr anchor="ctr">
                    <a:lnL>
                      <a:noFill/>
                    </a:lnL>
                    <a:lnR>
                      <a:noFill/>
                    </a:lnR>
                    <a:lnT>
                      <a:noFill/>
                    </a:lnT>
                    <a:lnB>
                      <a:noFill/>
                    </a:lnB>
                    <a:noFill/>
                  </a:tcPr>
                </a:tc>
                <a:tc>
                  <a:txBody>
                    <a:bodyPr/>
                    <a:lstStyle/>
                    <a:p>
                      <a:pPr>
                        <a:buNone/>
                      </a:pPr>
                      <a:r>
                        <a:rPr lang="en-US" sz="1600" dirty="0">
                          <a:solidFill>
                            <a:srgbClr val="FF0000"/>
                          </a:solidFill>
                          <a:latin typeface="Arial Black" panose="020B0A04020102020204" pitchFamily="34" charset="0"/>
                        </a:rPr>
                        <a:t>Description</a:t>
                      </a:r>
                    </a:p>
                  </a:txBody>
                  <a:tcPr anchor="ctr">
                    <a:lnL>
                      <a:noFill/>
                    </a:lnL>
                    <a:lnR>
                      <a:noFill/>
                    </a:lnR>
                    <a:lnT>
                      <a:noFill/>
                    </a:lnT>
                    <a:lnB>
                      <a:noFill/>
                    </a:lnB>
                    <a:noFill/>
                  </a:tcPr>
                </a:tc>
                <a:extLst>
                  <a:ext uri="{0D108BD9-81ED-4DB2-BD59-A6C34878D82A}">
                    <a16:rowId xmlns:a16="http://schemas.microsoft.com/office/drawing/2014/main" val="3719849838"/>
                  </a:ext>
                </a:extLst>
              </a:tr>
              <a:tr h="0">
                <a:tc>
                  <a:txBody>
                    <a:bodyPr/>
                    <a:lstStyle/>
                    <a:p>
                      <a:pPr>
                        <a:buNone/>
                      </a:pPr>
                      <a:r>
                        <a:rPr lang="en-US" sz="1600" b="1" dirty="0">
                          <a:latin typeface="Arial Black" panose="020B0A04020102020204" pitchFamily="34" charset="0"/>
                        </a:rPr>
                        <a:t>K‑Nearest Neighbors (KNN)</a:t>
                      </a:r>
                      <a:endParaRPr lang="en-US" sz="1600"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Predicts based on proximity to stored data points.</a:t>
                      </a:r>
                    </a:p>
                  </a:txBody>
                  <a:tcPr anchor="ctr">
                    <a:lnL>
                      <a:noFill/>
                    </a:lnL>
                    <a:lnR>
                      <a:noFill/>
                    </a:lnR>
                    <a:lnT>
                      <a:noFill/>
                    </a:lnT>
                    <a:lnB>
                      <a:noFill/>
                    </a:lnB>
                    <a:noFill/>
                  </a:tcPr>
                </a:tc>
                <a:extLst>
                  <a:ext uri="{0D108BD9-81ED-4DB2-BD59-A6C34878D82A}">
                    <a16:rowId xmlns:a16="http://schemas.microsoft.com/office/drawing/2014/main" val="551346130"/>
                  </a:ext>
                </a:extLst>
              </a:tr>
              <a:tr h="0">
                <a:tc>
                  <a:txBody>
                    <a:bodyPr/>
                    <a:lstStyle/>
                    <a:p>
                      <a:pPr>
                        <a:buNone/>
                      </a:pPr>
                      <a:r>
                        <a:rPr lang="en-US" sz="1600" b="1">
                          <a:latin typeface="Arial Black" panose="020B0A04020102020204" pitchFamily="34" charset="0"/>
                        </a:rPr>
                        <a:t>Decision Trees</a:t>
                      </a:r>
                      <a:endParaRPr lang="en-US" sz="1600">
                        <a:latin typeface="Arial Black" panose="020B0A04020102020204" pitchFamily="34" charset="0"/>
                      </a:endParaRP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Splits data dynamically based on feature values.</a:t>
                      </a:r>
                    </a:p>
                  </a:txBody>
                  <a:tcPr anchor="ctr">
                    <a:lnL>
                      <a:noFill/>
                    </a:lnL>
                    <a:lnR>
                      <a:noFill/>
                    </a:lnR>
                    <a:lnT>
                      <a:noFill/>
                    </a:lnT>
                    <a:lnB>
                      <a:noFill/>
                    </a:lnB>
                    <a:noFill/>
                  </a:tcPr>
                </a:tc>
                <a:extLst>
                  <a:ext uri="{0D108BD9-81ED-4DB2-BD59-A6C34878D82A}">
                    <a16:rowId xmlns:a16="http://schemas.microsoft.com/office/drawing/2014/main" val="4178844357"/>
                  </a:ext>
                </a:extLst>
              </a:tr>
              <a:tr h="0">
                <a:tc>
                  <a:txBody>
                    <a:bodyPr/>
                    <a:lstStyle/>
                    <a:p>
                      <a:pPr>
                        <a:buNone/>
                      </a:pPr>
                      <a:r>
                        <a:rPr lang="en-US" sz="1600" b="1" dirty="0">
                          <a:latin typeface="Arial Black" panose="020B0A04020102020204" pitchFamily="34" charset="0"/>
                        </a:rPr>
                        <a:t>Kernel Density Estimation (KDE)</a:t>
                      </a:r>
                      <a:endParaRPr lang="en-US" sz="1600" dirty="0">
                        <a:latin typeface="Arial Black" panose="020B0A04020102020204" pitchFamily="34" charset="0"/>
                      </a:endParaRP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Estimates probability distributions without assuming shape.</a:t>
                      </a:r>
                    </a:p>
                  </a:txBody>
                  <a:tcPr anchor="ctr">
                    <a:lnL>
                      <a:noFill/>
                    </a:lnL>
                    <a:lnR>
                      <a:noFill/>
                    </a:lnR>
                    <a:lnT>
                      <a:noFill/>
                    </a:lnT>
                    <a:lnB>
                      <a:noFill/>
                    </a:lnB>
                    <a:noFill/>
                  </a:tcPr>
                </a:tc>
                <a:extLst>
                  <a:ext uri="{0D108BD9-81ED-4DB2-BD59-A6C34878D82A}">
                    <a16:rowId xmlns:a16="http://schemas.microsoft.com/office/drawing/2014/main" val="2690867087"/>
                  </a:ext>
                </a:extLst>
              </a:tr>
              <a:tr h="0">
                <a:tc>
                  <a:txBody>
                    <a:bodyPr/>
                    <a:lstStyle/>
                    <a:p>
                      <a:pPr>
                        <a:buNone/>
                      </a:pPr>
                      <a:r>
                        <a:rPr lang="en-US" sz="1600" b="1">
                          <a:latin typeface="Arial Black" panose="020B0A04020102020204" pitchFamily="34" charset="0"/>
                        </a:rPr>
                        <a:t>Support Vector Machines (with non‑linear kernels)</a:t>
                      </a:r>
                      <a:endParaRPr lang="en-US" sz="1600">
                        <a:latin typeface="Arial Black" panose="020B0A04020102020204" pitchFamily="34" charset="0"/>
                      </a:endParaRP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Uses data‑driven boundaries instead of fixed equations.</a:t>
                      </a:r>
                    </a:p>
                  </a:txBody>
                  <a:tcPr anchor="ctr">
                    <a:lnL>
                      <a:noFill/>
                    </a:lnL>
                    <a:lnR>
                      <a:noFill/>
                    </a:lnR>
                    <a:lnT>
                      <a:noFill/>
                    </a:lnT>
                    <a:lnB>
                      <a:noFill/>
                    </a:lnB>
                    <a:noFill/>
                  </a:tcPr>
                </a:tc>
                <a:extLst>
                  <a:ext uri="{0D108BD9-81ED-4DB2-BD59-A6C34878D82A}">
                    <a16:rowId xmlns:a16="http://schemas.microsoft.com/office/drawing/2014/main" val="1183358022"/>
                  </a:ext>
                </a:extLst>
              </a:tr>
            </a:tbl>
          </a:graphicData>
        </a:graphic>
      </p:graphicFrame>
      <p:sp>
        <p:nvSpPr>
          <p:cNvPr id="6" name="TextBox 5">
            <a:extLst>
              <a:ext uri="{FF2B5EF4-FFF2-40B4-BE49-F238E27FC236}">
                <a16:creationId xmlns:a16="http://schemas.microsoft.com/office/drawing/2014/main" id="{265E1D4F-1370-A4E6-EEAE-FFED0BCD45F7}"/>
              </a:ext>
            </a:extLst>
          </p:cNvPr>
          <p:cNvSpPr txBox="1"/>
          <p:nvPr/>
        </p:nvSpPr>
        <p:spPr>
          <a:xfrm>
            <a:off x="3598607" y="1298654"/>
            <a:ext cx="6096000" cy="369332"/>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Examples of Non‑Parametric Algorithms</a:t>
            </a:r>
          </a:p>
        </p:txBody>
      </p:sp>
      <p:sp>
        <p:nvSpPr>
          <p:cNvPr id="10" name="TextBox 9">
            <a:extLst>
              <a:ext uri="{FF2B5EF4-FFF2-40B4-BE49-F238E27FC236}">
                <a16:creationId xmlns:a16="http://schemas.microsoft.com/office/drawing/2014/main" id="{D5A8EF04-C59C-8CE1-E584-EA8CD524A413}"/>
              </a:ext>
            </a:extLst>
          </p:cNvPr>
          <p:cNvSpPr txBox="1"/>
          <p:nvPr/>
        </p:nvSpPr>
        <p:spPr>
          <a:xfrm>
            <a:off x="875071" y="4750477"/>
            <a:ext cx="10304206" cy="1846659"/>
          </a:xfrm>
          <a:prstGeom prst="rect">
            <a:avLst/>
          </a:prstGeom>
          <a:noFill/>
        </p:spPr>
        <p:txBody>
          <a:bodyPr wrap="square">
            <a:spAutoFit/>
          </a:bodyPr>
          <a:lstStyle/>
          <a:p>
            <a:pPr algn="ctr">
              <a:buNone/>
            </a:pPr>
            <a:r>
              <a:rPr lang="en-US" dirty="0">
                <a:solidFill>
                  <a:srgbClr val="FF0000"/>
                </a:solidFill>
                <a:effectLst/>
                <a:latin typeface="Arial Black" panose="020B0A04020102020204" pitchFamily="34" charset="0"/>
              </a:rPr>
              <a:t>In the Titanic dataset:</a:t>
            </a:r>
          </a:p>
          <a:p>
            <a:pPr algn="just">
              <a:buNone/>
            </a:pP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A </a:t>
            </a:r>
            <a:r>
              <a:rPr lang="en-US" sz="1600" b="1" dirty="0">
                <a:effectLst/>
                <a:latin typeface="Arial Black" panose="020B0A04020102020204" pitchFamily="34" charset="0"/>
              </a:rPr>
              <a:t>parametric model</a:t>
            </a:r>
            <a:r>
              <a:rPr lang="en-US" sz="1600" dirty="0">
                <a:effectLst/>
                <a:latin typeface="Arial Black" panose="020B0A04020102020204" pitchFamily="34" charset="0"/>
              </a:rPr>
              <a:t> (Logistic Regression) learns fixed coefficients for Age, Fare, and Class.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A </a:t>
            </a:r>
            <a:r>
              <a:rPr lang="en-US" sz="1600" b="1" dirty="0">
                <a:effectLst/>
                <a:latin typeface="Arial Black" panose="020B0A04020102020204" pitchFamily="34" charset="0"/>
              </a:rPr>
              <a:t>non‑parametric model</a:t>
            </a:r>
            <a:r>
              <a:rPr lang="en-US" sz="1600" dirty="0">
                <a:effectLst/>
                <a:latin typeface="Arial Black" panose="020B0A04020102020204" pitchFamily="34" charset="0"/>
              </a:rPr>
              <a:t> (KNN) simply stores all passengers and predicts survival by comparing the new passenger to similar ones — no fixed formula, just data‑driven reasoning.</a:t>
            </a:r>
            <a:endParaRPr lang="en-US" sz="1600" dirty="0">
              <a:latin typeface="Arial Black" panose="020B0A04020102020204" pitchFamily="34" charset="0"/>
            </a:endParaRPr>
          </a:p>
        </p:txBody>
      </p:sp>
    </p:spTree>
    <p:extLst>
      <p:ext uri="{BB962C8B-B14F-4D97-AF65-F5344CB8AC3E}">
        <p14:creationId xmlns:p14="http://schemas.microsoft.com/office/powerpoint/2010/main" val="1379521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41AC8D-FA80-4F8C-B162-A7F5D0B65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C31C5-7451-00FD-428E-64BEE2DFC412}"/>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graphicFrame>
        <p:nvGraphicFramePr>
          <p:cNvPr id="4" name="Table 3">
            <a:extLst>
              <a:ext uri="{FF2B5EF4-FFF2-40B4-BE49-F238E27FC236}">
                <a16:creationId xmlns:a16="http://schemas.microsoft.com/office/drawing/2014/main" id="{3DB08D5B-1C98-80F1-6A3A-2DF07D058D7A}"/>
              </a:ext>
            </a:extLst>
          </p:cNvPr>
          <p:cNvGraphicFramePr>
            <a:graphicFrameLocks noGrp="1"/>
          </p:cNvGraphicFramePr>
          <p:nvPr>
            <p:extLst>
              <p:ext uri="{D42A27DB-BD31-4B8C-83A1-F6EECF244321}">
                <p14:modId xmlns:p14="http://schemas.microsoft.com/office/powerpoint/2010/main" val="2158382669"/>
              </p:ext>
            </p:extLst>
          </p:nvPr>
        </p:nvGraphicFramePr>
        <p:xfrm>
          <a:off x="838200" y="2020038"/>
          <a:ext cx="10515600" cy="2011680"/>
        </p:xfrm>
        <a:graphic>
          <a:graphicData uri="http://schemas.openxmlformats.org/drawingml/2006/table">
            <a:tbl>
              <a:tblPr/>
              <a:tblGrid>
                <a:gridCol w="3505200">
                  <a:extLst>
                    <a:ext uri="{9D8B030D-6E8A-4147-A177-3AD203B41FA5}">
                      <a16:colId xmlns:a16="http://schemas.microsoft.com/office/drawing/2014/main" val="4078653325"/>
                    </a:ext>
                  </a:extLst>
                </a:gridCol>
                <a:gridCol w="3505200">
                  <a:extLst>
                    <a:ext uri="{9D8B030D-6E8A-4147-A177-3AD203B41FA5}">
                      <a16:colId xmlns:a16="http://schemas.microsoft.com/office/drawing/2014/main" val="2651208022"/>
                    </a:ext>
                  </a:extLst>
                </a:gridCol>
                <a:gridCol w="3505200">
                  <a:extLst>
                    <a:ext uri="{9D8B030D-6E8A-4147-A177-3AD203B41FA5}">
                      <a16:colId xmlns:a16="http://schemas.microsoft.com/office/drawing/2014/main" val="3178055781"/>
                    </a:ext>
                  </a:extLst>
                </a:gridCol>
              </a:tblGrid>
              <a:tr h="0">
                <a:tc>
                  <a:txBody>
                    <a:bodyPr/>
                    <a:lstStyle/>
                    <a:p>
                      <a:pPr>
                        <a:buNone/>
                      </a:pPr>
                      <a:r>
                        <a:rPr lang="en-US" sz="1600">
                          <a:solidFill>
                            <a:srgbClr val="FF0000"/>
                          </a:solidFill>
                          <a:latin typeface="Arial Black" panose="020B0A04020102020204" pitchFamily="34" charset="0"/>
                        </a:rPr>
                        <a:t>Feature</a:t>
                      </a:r>
                    </a:p>
                  </a:txBody>
                  <a:tcPr anchor="ctr">
                    <a:lnL>
                      <a:noFill/>
                    </a:lnL>
                    <a:lnR>
                      <a:noFill/>
                    </a:lnR>
                    <a:lnT>
                      <a:noFill/>
                    </a:lnT>
                    <a:lnB>
                      <a:noFill/>
                    </a:lnB>
                    <a:noFill/>
                  </a:tcPr>
                </a:tc>
                <a:tc>
                  <a:txBody>
                    <a:bodyPr/>
                    <a:lstStyle/>
                    <a:p>
                      <a:pPr>
                        <a:buNone/>
                      </a:pPr>
                      <a:r>
                        <a:rPr lang="en-US" sz="1600">
                          <a:solidFill>
                            <a:srgbClr val="FF0000"/>
                          </a:solidFill>
                          <a:latin typeface="Arial Black" panose="020B0A04020102020204" pitchFamily="34" charset="0"/>
                        </a:rPr>
                        <a:t>Parametric</a:t>
                      </a:r>
                    </a:p>
                  </a:txBody>
                  <a:tcPr anchor="ctr">
                    <a:lnL>
                      <a:noFill/>
                    </a:lnL>
                    <a:lnR>
                      <a:noFill/>
                    </a:lnR>
                    <a:lnT>
                      <a:noFill/>
                    </a:lnT>
                    <a:lnB>
                      <a:noFill/>
                    </a:lnB>
                    <a:noFill/>
                  </a:tcPr>
                </a:tc>
                <a:tc>
                  <a:txBody>
                    <a:bodyPr/>
                    <a:lstStyle/>
                    <a:p>
                      <a:pPr>
                        <a:buNone/>
                      </a:pPr>
                      <a:r>
                        <a:rPr lang="en-US" sz="1600" dirty="0">
                          <a:solidFill>
                            <a:srgbClr val="FF0000"/>
                          </a:solidFill>
                          <a:latin typeface="Arial Black" panose="020B0A04020102020204" pitchFamily="34" charset="0"/>
                        </a:rPr>
                        <a:t>Non‑Parametric</a:t>
                      </a:r>
                    </a:p>
                  </a:txBody>
                  <a:tcPr anchor="ctr">
                    <a:lnL>
                      <a:noFill/>
                    </a:lnL>
                    <a:lnR>
                      <a:noFill/>
                    </a:lnR>
                    <a:lnT>
                      <a:noFill/>
                    </a:lnT>
                    <a:lnB>
                      <a:noFill/>
                    </a:lnB>
                    <a:noFill/>
                  </a:tcPr>
                </a:tc>
                <a:extLst>
                  <a:ext uri="{0D108BD9-81ED-4DB2-BD59-A6C34878D82A}">
                    <a16:rowId xmlns:a16="http://schemas.microsoft.com/office/drawing/2014/main" val="3675302449"/>
                  </a:ext>
                </a:extLst>
              </a:tr>
              <a:tr h="0">
                <a:tc>
                  <a:txBody>
                    <a:bodyPr/>
                    <a:lstStyle/>
                    <a:p>
                      <a:pPr>
                        <a:buNone/>
                      </a:pPr>
                      <a:r>
                        <a:rPr lang="en-US" sz="1600">
                          <a:latin typeface="Arial Black" panose="020B0A04020102020204" pitchFamily="34" charset="0"/>
                        </a:rPr>
                        <a:t>Model Form</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Fixed equation</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Flexible, data‑driven</a:t>
                      </a:r>
                    </a:p>
                  </a:txBody>
                  <a:tcPr anchor="ctr">
                    <a:lnL>
                      <a:noFill/>
                    </a:lnL>
                    <a:lnR>
                      <a:noFill/>
                    </a:lnR>
                    <a:lnT>
                      <a:noFill/>
                    </a:lnT>
                    <a:lnB>
                      <a:noFill/>
                    </a:lnB>
                    <a:noFill/>
                  </a:tcPr>
                </a:tc>
                <a:extLst>
                  <a:ext uri="{0D108BD9-81ED-4DB2-BD59-A6C34878D82A}">
                    <a16:rowId xmlns:a16="http://schemas.microsoft.com/office/drawing/2014/main" val="2784440830"/>
                  </a:ext>
                </a:extLst>
              </a:tr>
              <a:tr h="0">
                <a:tc>
                  <a:txBody>
                    <a:bodyPr/>
                    <a:lstStyle/>
                    <a:p>
                      <a:pPr>
                        <a:buNone/>
                      </a:pPr>
                      <a:r>
                        <a:rPr lang="en-US" sz="1600">
                          <a:latin typeface="Arial Black" panose="020B0A04020102020204" pitchFamily="34" charset="0"/>
                        </a:rPr>
                        <a:t>Training</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Learns parameters</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Stores examples</a:t>
                      </a:r>
                    </a:p>
                  </a:txBody>
                  <a:tcPr anchor="ctr">
                    <a:lnL>
                      <a:noFill/>
                    </a:lnL>
                    <a:lnR>
                      <a:noFill/>
                    </a:lnR>
                    <a:lnT>
                      <a:noFill/>
                    </a:lnT>
                    <a:lnB>
                      <a:noFill/>
                    </a:lnB>
                    <a:noFill/>
                  </a:tcPr>
                </a:tc>
                <a:extLst>
                  <a:ext uri="{0D108BD9-81ED-4DB2-BD59-A6C34878D82A}">
                    <a16:rowId xmlns:a16="http://schemas.microsoft.com/office/drawing/2014/main" val="1346599841"/>
                  </a:ext>
                </a:extLst>
              </a:tr>
              <a:tr h="0">
                <a:tc>
                  <a:txBody>
                    <a:bodyPr/>
                    <a:lstStyle/>
                    <a:p>
                      <a:pPr>
                        <a:buNone/>
                      </a:pPr>
                      <a:r>
                        <a:rPr lang="en-US" sz="1600">
                          <a:latin typeface="Arial Black" panose="020B0A04020102020204" pitchFamily="34" charset="0"/>
                        </a:rPr>
                        <a:t>Prediction Speed</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Fast</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Slower (search neighbors)</a:t>
                      </a:r>
                    </a:p>
                  </a:txBody>
                  <a:tcPr anchor="ctr">
                    <a:lnL>
                      <a:noFill/>
                    </a:lnL>
                    <a:lnR>
                      <a:noFill/>
                    </a:lnR>
                    <a:lnT>
                      <a:noFill/>
                    </a:lnT>
                    <a:lnB>
                      <a:noFill/>
                    </a:lnB>
                    <a:noFill/>
                  </a:tcPr>
                </a:tc>
                <a:extLst>
                  <a:ext uri="{0D108BD9-81ED-4DB2-BD59-A6C34878D82A}">
                    <a16:rowId xmlns:a16="http://schemas.microsoft.com/office/drawing/2014/main" val="995601916"/>
                  </a:ext>
                </a:extLst>
              </a:tr>
              <a:tr h="0">
                <a:tc>
                  <a:txBody>
                    <a:bodyPr/>
                    <a:lstStyle/>
                    <a:p>
                      <a:pPr>
                        <a:buNone/>
                      </a:pPr>
                      <a:r>
                        <a:rPr lang="en-US" sz="1600" dirty="0">
                          <a:latin typeface="Arial Black" panose="020B0A04020102020204" pitchFamily="34" charset="0"/>
                        </a:rPr>
                        <a:t>Memory Use</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Low</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High</a:t>
                      </a:r>
                    </a:p>
                  </a:txBody>
                  <a:tcPr anchor="ctr">
                    <a:lnL>
                      <a:noFill/>
                    </a:lnL>
                    <a:lnR>
                      <a:noFill/>
                    </a:lnR>
                    <a:lnT>
                      <a:noFill/>
                    </a:lnT>
                    <a:lnB>
                      <a:noFill/>
                    </a:lnB>
                    <a:noFill/>
                  </a:tcPr>
                </a:tc>
                <a:extLst>
                  <a:ext uri="{0D108BD9-81ED-4DB2-BD59-A6C34878D82A}">
                    <a16:rowId xmlns:a16="http://schemas.microsoft.com/office/drawing/2014/main" val="1595586479"/>
                  </a:ext>
                </a:extLst>
              </a:tr>
              <a:tr h="0">
                <a:tc>
                  <a:txBody>
                    <a:bodyPr/>
                    <a:lstStyle/>
                    <a:p>
                      <a:pPr>
                        <a:buNone/>
                      </a:pPr>
                      <a:r>
                        <a:rPr lang="en-US" sz="1600">
                          <a:latin typeface="Arial Black" panose="020B0A04020102020204" pitchFamily="34" charset="0"/>
                        </a:rPr>
                        <a:t>Adaptability</a:t>
                      </a:r>
                    </a:p>
                  </a:txBody>
                  <a:tcPr anchor="ctr">
                    <a:lnL>
                      <a:noFill/>
                    </a:lnL>
                    <a:lnR>
                      <a:noFill/>
                    </a:lnR>
                    <a:lnT>
                      <a:noFill/>
                    </a:lnT>
                    <a:lnB>
                      <a:noFill/>
                    </a:lnB>
                    <a:noFill/>
                  </a:tcPr>
                </a:tc>
                <a:tc>
                  <a:txBody>
                    <a:bodyPr/>
                    <a:lstStyle/>
                    <a:p>
                      <a:pPr>
                        <a:buNone/>
                      </a:pPr>
                      <a:r>
                        <a:rPr lang="en-US" sz="1600">
                          <a:latin typeface="Arial Black" panose="020B0A04020102020204" pitchFamily="34" charset="0"/>
                        </a:rPr>
                        <a:t>Limited</a:t>
                      </a:r>
                    </a:p>
                  </a:txBody>
                  <a:tcPr anchor="ctr">
                    <a:lnL>
                      <a:noFill/>
                    </a:lnL>
                    <a:lnR>
                      <a:noFill/>
                    </a:lnR>
                    <a:lnT>
                      <a:noFill/>
                    </a:lnT>
                    <a:lnB>
                      <a:noFill/>
                    </a:lnB>
                    <a:noFill/>
                  </a:tcPr>
                </a:tc>
                <a:tc>
                  <a:txBody>
                    <a:bodyPr/>
                    <a:lstStyle/>
                    <a:p>
                      <a:pPr>
                        <a:buNone/>
                      </a:pPr>
                      <a:r>
                        <a:rPr lang="en-US" sz="1600" dirty="0">
                          <a:latin typeface="Arial Black" panose="020B0A04020102020204" pitchFamily="34" charset="0"/>
                        </a:rPr>
                        <a:t>High</a:t>
                      </a:r>
                    </a:p>
                  </a:txBody>
                  <a:tcPr anchor="ctr">
                    <a:lnL>
                      <a:noFill/>
                    </a:lnL>
                    <a:lnR>
                      <a:noFill/>
                    </a:lnR>
                    <a:lnT>
                      <a:noFill/>
                    </a:lnT>
                    <a:lnB>
                      <a:noFill/>
                    </a:lnB>
                    <a:noFill/>
                  </a:tcPr>
                </a:tc>
                <a:extLst>
                  <a:ext uri="{0D108BD9-81ED-4DB2-BD59-A6C34878D82A}">
                    <a16:rowId xmlns:a16="http://schemas.microsoft.com/office/drawing/2014/main" val="639103668"/>
                  </a:ext>
                </a:extLst>
              </a:tr>
            </a:tbl>
          </a:graphicData>
        </a:graphic>
      </p:graphicFrame>
      <p:sp>
        <p:nvSpPr>
          <p:cNvPr id="7" name="TextBox 6">
            <a:extLst>
              <a:ext uri="{FF2B5EF4-FFF2-40B4-BE49-F238E27FC236}">
                <a16:creationId xmlns:a16="http://schemas.microsoft.com/office/drawing/2014/main" id="{AF326539-9D9F-40D4-AF40-000D6882CAB2}"/>
              </a:ext>
            </a:extLst>
          </p:cNvPr>
          <p:cNvSpPr txBox="1"/>
          <p:nvPr/>
        </p:nvSpPr>
        <p:spPr>
          <a:xfrm>
            <a:off x="4635909" y="1290173"/>
            <a:ext cx="2728453" cy="400110"/>
          </a:xfrm>
          <a:prstGeom prst="rect">
            <a:avLst/>
          </a:prstGeom>
          <a:noFill/>
        </p:spPr>
        <p:txBody>
          <a:bodyPr wrap="square">
            <a:spAutoFit/>
          </a:bodyPr>
          <a:lstStyle/>
          <a:p>
            <a:pPr>
              <a:buNone/>
            </a:pPr>
            <a:r>
              <a:rPr lang="en-US" sz="2000" b="1" dirty="0">
                <a:solidFill>
                  <a:srgbClr val="FF0000"/>
                </a:solidFill>
                <a:latin typeface="Arial Black" panose="020B0A04020102020204" pitchFamily="34" charset="0"/>
              </a:rPr>
              <a:t>Comparison Table</a:t>
            </a: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49881B8B-BDCC-1742-3635-A802BBF63EC4}"/>
                  </a:ext>
                </a:extLst>
              </p:cNvPr>
              <p:cNvSpPr txBox="1"/>
              <p:nvPr/>
            </p:nvSpPr>
            <p:spPr>
              <a:xfrm>
                <a:off x="392061" y="4227257"/>
                <a:ext cx="5290984" cy="2554545"/>
              </a:xfrm>
              <a:prstGeom prst="rect">
                <a:avLst/>
              </a:prstGeom>
              <a:noFill/>
            </p:spPr>
            <p:txBody>
              <a:bodyPr wrap="square">
                <a:spAutoFit/>
              </a:bodyPr>
              <a:lstStyle/>
              <a:p>
                <a:pPr>
                  <a:buNone/>
                </a:pPr>
                <a:r>
                  <a:rPr lang="en-US" sz="1600" b="1" dirty="0">
                    <a:solidFill>
                      <a:srgbClr val="FF0000"/>
                    </a:solidFill>
                    <a:latin typeface="Arial Black" panose="020B0A04020102020204" pitchFamily="34" charset="0"/>
                  </a:rPr>
                  <a:t>Parametric Learning (Logistic Regression)</a:t>
                </a:r>
              </a:p>
              <a:p>
                <a:pPr>
                  <a:buNone/>
                </a:pPr>
                <a:endParaRPr lang="en-US" b="1" dirty="0"/>
              </a:p>
              <a:p>
                <a:pPr marL="285750" indent="-285750">
                  <a:buFont typeface="Arial" panose="020B0604020202020204" pitchFamily="34" charset="0"/>
                  <a:buChar char="•"/>
                </a:pPr>
                <a:r>
                  <a:rPr lang="en-US" b="1" dirty="0">
                    <a:effectLst/>
                  </a:rPr>
                  <a:t>Fixed Formula:</a:t>
                </a:r>
                <a:r>
                  <a:rPr lang="en-US" dirty="0">
                    <a:effectLst/>
                  </a:rPr>
                  <a:t> </a:t>
                </a:r>
                <a14:m>
                  <m:oMath xmlns:m="http://schemas.openxmlformats.org/officeDocument/2006/math">
                    <m:r>
                      <a:rPr lang="en-US" i="1">
                        <a:latin typeface="Cambria Math" panose="02040503050406030204" pitchFamily="18" charset="0"/>
                      </a:rPr>
                      <m:t>𝑦</m:t>
                    </m:r>
                    <m:r>
                      <a:rPr lang="en-US" i="0">
                        <a:latin typeface="Cambria Math" panose="02040503050406030204" pitchFamily="18" charset="0"/>
                      </a:rPr>
                      <m:t>=</m:t>
                    </m:r>
                    <m:r>
                      <a:rPr lang="en-US" i="1">
                        <a:latin typeface="Cambria Math" panose="02040503050406030204" pitchFamily="18" charset="0"/>
                      </a:rPr>
                      <m:t>𝑤</m:t>
                    </m:r>
                    <m:r>
                      <a:rPr lang="en-US" i="0">
                        <a:latin typeface="Cambria Math" panose="02040503050406030204" pitchFamily="18" charset="0"/>
                      </a:rPr>
                      <m:t>⋅</m:t>
                    </m:r>
                    <m:r>
                      <a:rPr lang="en-US" i="1">
                        <a:latin typeface="Cambria Math" panose="02040503050406030204" pitchFamily="18" charset="0"/>
                      </a:rPr>
                      <m:t>𝑥</m:t>
                    </m:r>
                    <m:r>
                      <a:rPr lang="en-US" i="0">
                        <a:latin typeface="Cambria Math" panose="02040503050406030204" pitchFamily="18" charset="0"/>
                      </a:rPr>
                      <m:t>+</m:t>
                    </m:r>
                    <m:r>
                      <a:rPr lang="en-US" i="1">
                        <a:latin typeface="Cambria Math" panose="02040503050406030204" pitchFamily="18" charset="0"/>
                      </a:rPr>
                      <m:t>𝑏</m:t>
                    </m:r>
                  </m:oMath>
                </a14:m>
                <a:endParaRPr lang="en-US" dirty="0"/>
              </a:p>
              <a:p>
                <a:pPr marL="285750" indent="-285750">
                  <a:buFont typeface="Arial" panose="020B0604020202020204" pitchFamily="34" charset="0"/>
                  <a:buChar char="•"/>
                </a:pPr>
                <a:r>
                  <a:rPr lang="en-US" b="1" dirty="0">
                    <a:effectLst/>
                  </a:rPr>
                  <a:t>Characteristics:</a:t>
                </a:r>
                <a:endParaRPr lang="en-US" dirty="0"/>
              </a:p>
              <a:p>
                <a:pPr marL="742950" lvl="1" indent="-285750">
                  <a:buFont typeface="Arial" panose="020B0604020202020204" pitchFamily="34" charset="0"/>
                  <a:buChar char="•"/>
                </a:pPr>
                <a:r>
                  <a:rPr lang="en-US" dirty="0">
                    <a:effectLst/>
                  </a:rPr>
                  <a:t>Limited number of parameters.</a:t>
                </a:r>
                <a:endParaRPr lang="en-US" dirty="0"/>
              </a:p>
              <a:p>
                <a:pPr marL="742950" lvl="1" indent="-285750">
                  <a:buFont typeface="Arial" panose="020B0604020202020204" pitchFamily="34" charset="0"/>
                  <a:buChar char="•"/>
                </a:pPr>
                <a:r>
                  <a:rPr lang="en-US" dirty="0">
                    <a:effectLst/>
                  </a:rPr>
                  <a:t>Compact model, fast predictions.</a:t>
                </a:r>
                <a:endParaRPr lang="en-US" dirty="0"/>
              </a:p>
              <a:p>
                <a:pPr marL="742950" lvl="1" indent="-285750">
                  <a:buFont typeface="Arial" panose="020B0604020202020204" pitchFamily="34" charset="0"/>
                  <a:buChar char="•"/>
                </a:pPr>
                <a:r>
                  <a:rPr lang="en-US" dirty="0">
                    <a:effectLst/>
                  </a:rPr>
                  <a:t>Assumes a specific data distribution.</a:t>
                </a:r>
                <a:endParaRPr lang="en-US" dirty="0"/>
              </a:p>
              <a:p>
                <a:pPr marL="285750" indent="-285750">
                  <a:buFont typeface="Arial" panose="020B0604020202020204" pitchFamily="34" charset="0"/>
                  <a:buChar char="•"/>
                </a:pPr>
                <a:r>
                  <a:rPr lang="en-US" b="1" dirty="0">
                    <a:effectLst/>
                  </a:rPr>
                  <a:t>Analogy:</a:t>
                </a:r>
                <a:r>
                  <a:rPr lang="en-US" dirty="0">
                    <a:effectLst/>
                  </a:rPr>
                  <a:t> Chef who always follows the same recipe.</a:t>
                </a:r>
                <a:endParaRPr lang="en-US" dirty="0"/>
              </a:p>
            </p:txBody>
          </p:sp>
        </mc:Choice>
        <mc:Fallback>
          <p:sp>
            <p:nvSpPr>
              <p:cNvPr id="9" name="TextBox 8">
                <a:extLst>
                  <a:ext uri="{FF2B5EF4-FFF2-40B4-BE49-F238E27FC236}">
                    <a16:creationId xmlns:a16="http://schemas.microsoft.com/office/drawing/2014/main" id="{49881B8B-BDCC-1742-3635-A802BBF63EC4}"/>
                  </a:ext>
                </a:extLst>
              </p:cNvPr>
              <p:cNvSpPr txBox="1">
                <a:spLocks noRot="1" noChangeAspect="1" noMove="1" noResize="1" noEditPoints="1" noAdjustHandles="1" noChangeArrowheads="1" noChangeShapeType="1" noTextEdit="1"/>
              </p:cNvSpPr>
              <p:nvPr/>
            </p:nvSpPr>
            <p:spPr>
              <a:xfrm>
                <a:off x="392061" y="4227257"/>
                <a:ext cx="5290984" cy="2554545"/>
              </a:xfrm>
              <a:prstGeom prst="rect">
                <a:avLst/>
              </a:prstGeom>
              <a:blipFill>
                <a:blip r:embed="rId2"/>
                <a:stretch>
                  <a:fillRect l="-691" t="-714" b="-2857"/>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B8877A03-185E-62F7-EC89-F320F0FB2DC3}"/>
              </a:ext>
            </a:extLst>
          </p:cNvPr>
          <p:cNvSpPr txBox="1"/>
          <p:nvPr/>
        </p:nvSpPr>
        <p:spPr>
          <a:xfrm>
            <a:off x="6000135" y="4196479"/>
            <a:ext cx="6046839" cy="2585323"/>
          </a:xfrm>
          <a:prstGeom prst="rect">
            <a:avLst/>
          </a:prstGeom>
          <a:noFill/>
        </p:spPr>
        <p:txBody>
          <a:bodyPr wrap="square">
            <a:spAutoFit/>
          </a:bodyPr>
          <a:lstStyle/>
          <a:p>
            <a:pPr algn="ctr">
              <a:buNone/>
            </a:pPr>
            <a:r>
              <a:rPr lang="en-US" b="1" dirty="0">
                <a:solidFill>
                  <a:srgbClr val="FF0000"/>
                </a:solidFill>
              </a:rPr>
              <a:t>Non‑Parametric Learning (KNN)</a:t>
            </a:r>
          </a:p>
          <a:p>
            <a:pPr marL="285750" indent="-285750">
              <a:buFont typeface="Arial" panose="020B0604020202020204" pitchFamily="34" charset="0"/>
              <a:buChar char="•"/>
            </a:pPr>
            <a:r>
              <a:rPr lang="en-US" b="1" dirty="0">
                <a:effectLst/>
              </a:rPr>
              <a:t>No Fixed Formula:</a:t>
            </a:r>
            <a:r>
              <a:rPr lang="en-US" dirty="0">
                <a:effectLst/>
              </a:rPr>
              <a:t> Predictions depend directly on stored data.</a:t>
            </a:r>
            <a:endParaRPr lang="en-US" dirty="0"/>
          </a:p>
          <a:p>
            <a:pPr marL="285750" indent="-285750">
              <a:buFont typeface="Arial" panose="020B0604020202020204" pitchFamily="34" charset="0"/>
              <a:buChar char="•"/>
            </a:pPr>
            <a:r>
              <a:rPr lang="en-US" b="1" dirty="0">
                <a:effectLst/>
              </a:rPr>
              <a:t>Characteristics:</a:t>
            </a:r>
            <a:endParaRPr lang="en-US" dirty="0"/>
          </a:p>
          <a:p>
            <a:pPr marL="742950" lvl="1" indent="-285750">
              <a:buFont typeface="Arial" panose="020B0604020202020204" pitchFamily="34" charset="0"/>
              <a:buChar char="•"/>
            </a:pPr>
            <a:r>
              <a:rPr lang="en-US" dirty="0">
                <a:effectLst/>
              </a:rPr>
              <a:t>Complexity grows with dataset size.</a:t>
            </a:r>
            <a:endParaRPr lang="en-US" dirty="0"/>
          </a:p>
          <a:p>
            <a:pPr marL="742950" lvl="1" indent="-285750">
              <a:buFont typeface="Arial" panose="020B0604020202020204" pitchFamily="34" charset="0"/>
              <a:buChar char="•"/>
            </a:pPr>
            <a:r>
              <a:rPr lang="en-US" dirty="0">
                <a:effectLst/>
              </a:rPr>
              <a:t>Flexible, adapts to data patterns.</a:t>
            </a:r>
            <a:endParaRPr lang="en-US" dirty="0"/>
          </a:p>
          <a:p>
            <a:pPr marL="742950" lvl="1" indent="-285750">
              <a:buFont typeface="Arial" panose="020B0604020202020204" pitchFamily="34" charset="0"/>
              <a:buChar char="•"/>
            </a:pPr>
            <a:r>
              <a:rPr lang="en-US" dirty="0">
                <a:effectLst/>
              </a:rPr>
              <a:t>No assumptions about distribution.</a:t>
            </a:r>
            <a:endParaRPr lang="en-US" dirty="0"/>
          </a:p>
          <a:p>
            <a:pPr marL="285750" indent="-285750">
              <a:buFont typeface="Arial" panose="020B0604020202020204" pitchFamily="34" charset="0"/>
              <a:buChar char="•"/>
            </a:pPr>
            <a:r>
              <a:rPr lang="en-US" b="1" dirty="0">
                <a:effectLst/>
              </a:rPr>
              <a:t>Analogy:</a:t>
            </a:r>
            <a:r>
              <a:rPr lang="en-US" dirty="0">
                <a:effectLst/>
              </a:rPr>
              <a:t> Chef who tastes and adjusts ingredients each time.</a:t>
            </a:r>
            <a:endParaRPr lang="en-US" dirty="0"/>
          </a:p>
        </p:txBody>
      </p:sp>
    </p:spTree>
    <p:extLst>
      <p:ext uri="{BB962C8B-B14F-4D97-AF65-F5344CB8AC3E}">
        <p14:creationId xmlns:p14="http://schemas.microsoft.com/office/powerpoint/2010/main" val="16869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99273-734A-6E6A-99D4-5B7294337F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B4D95D-6900-3C6E-AD51-136FDFC284A5}"/>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B1214814-B242-07A3-E49D-438A3DEA5124}"/>
              </a:ext>
            </a:extLst>
          </p:cNvPr>
          <p:cNvSpPr txBox="1"/>
          <p:nvPr/>
        </p:nvSpPr>
        <p:spPr>
          <a:xfrm>
            <a:off x="2703870" y="1500627"/>
            <a:ext cx="7098891" cy="387286"/>
          </a:xfrm>
          <a:prstGeom prst="rect">
            <a:avLst/>
          </a:prstGeom>
          <a:noFill/>
        </p:spPr>
        <p:txBody>
          <a:bodyPr wrap="square">
            <a:spAutoFit/>
          </a:bodyPr>
          <a:lstStyle/>
          <a:p>
            <a:pPr algn="l">
              <a:lnSpc>
                <a:spcPts val="2250"/>
              </a:lnSpc>
              <a:buNone/>
            </a:pPr>
            <a:r>
              <a:rPr lang="en-US" sz="2000" b="0" i="0" dirty="0">
                <a:solidFill>
                  <a:srgbClr val="FF0000"/>
                </a:solidFill>
                <a:effectLst/>
                <a:latin typeface="Arial Black" panose="020B0A04020102020204" pitchFamily="34" charset="0"/>
              </a:rPr>
              <a:t>How Does K-Nearest Neighbors Algorithm Work?</a:t>
            </a:r>
          </a:p>
        </p:txBody>
      </p:sp>
      <p:sp>
        <p:nvSpPr>
          <p:cNvPr id="8" name="TextBox 7">
            <a:extLst>
              <a:ext uri="{FF2B5EF4-FFF2-40B4-BE49-F238E27FC236}">
                <a16:creationId xmlns:a16="http://schemas.microsoft.com/office/drawing/2014/main" id="{4AB4E2A1-7032-78DE-AA82-06D0F45A508F}"/>
              </a:ext>
            </a:extLst>
          </p:cNvPr>
          <p:cNvSpPr txBox="1"/>
          <p:nvPr/>
        </p:nvSpPr>
        <p:spPr>
          <a:xfrm>
            <a:off x="727587" y="2238321"/>
            <a:ext cx="10481187" cy="923330"/>
          </a:xfrm>
          <a:prstGeom prst="rect">
            <a:avLst/>
          </a:prstGeom>
          <a:noFill/>
        </p:spPr>
        <p:txBody>
          <a:bodyPr wrap="square">
            <a:spAutoFit/>
          </a:bodyPr>
          <a:lstStyle/>
          <a:p>
            <a:pPr algn="just"/>
            <a:r>
              <a:rPr lang="en-US" b="0" i="0" dirty="0">
                <a:effectLst/>
                <a:latin typeface="Arial Black" panose="020B0A04020102020204" pitchFamily="34" charset="0"/>
              </a:rPr>
              <a:t>K-nearest neighbors (KNN) algorithm uses 'feature similarity' to predict the values of new datapoints which further means that the new data point will be assigned a value based on how closely it matches the points in the training set. </a:t>
            </a:r>
            <a:endParaRPr lang="en-US" dirty="0">
              <a:latin typeface="Arial Black" panose="020B0A04020102020204" pitchFamily="34" charset="0"/>
            </a:endParaRPr>
          </a:p>
        </p:txBody>
      </p:sp>
      <p:sp>
        <p:nvSpPr>
          <p:cNvPr id="11" name="TextBox 10">
            <a:extLst>
              <a:ext uri="{FF2B5EF4-FFF2-40B4-BE49-F238E27FC236}">
                <a16:creationId xmlns:a16="http://schemas.microsoft.com/office/drawing/2014/main" id="{D0A1C558-DA79-E8CC-AD11-733C27CCBCF9}"/>
              </a:ext>
            </a:extLst>
          </p:cNvPr>
          <p:cNvSpPr txBox="1"/>
          <p:nvPr/>
        </p:nvSpPr>
        <p:spPr>
          <a:xfrm>
            <a:off x="727587" y="3429000"/>
            <a:ext cx="10481187" cy="1156727"/>
          </a:xfrm>
          <a:prstGeom prst="rect">
            <a:avLst/>
          </a:prstGeom>
          <a:noFill/>
        </p:spPr>
        <p:txBody>
          <a:bodyPr wrap="square">
            <a:spAutoFit/>
          </a:bodyPr>
          <a:lstStyle/>
          <a:p>
            <a:pPr marL="285750" indent="-285750" algn="just">
              <a:lnSpc>
                <a:spcPts val="1800"/>
              </a:lnSpc>
              <a:spcAft>
                <a:spcPts val="1050"/>
              </a:spcAft>
              <a:buFont typeface="Arial" panose="020B0604020202020204" pitchFamily="34" charset="0"/>
              <a:buChar char="•"/>
            </a:pPr>
            <a:r>
              <a:rPr lang="en-US" b="1" i="0" dirty="0">
                <a:solidFill>
                  <a:srgbClr val="FF0000"/>
                </a:solidFill>
                <a:effectLst/>
                <a:latin typeface="Arial Black" panose="020B0A04020102020204" pitchFamily="34" charset="0"/>
              </a:rPr>
              <a:t>Step 1</a:t>
            </a:r>
            <a:r>
              <a:rPr lang="en-US" b="0" i="0" dirty="0">
                <a:solidFill>
                  <a:srgbClr val="000000"/>
                </a:solidFill>
                <a:effectLst/>
                <a:latin typeface="Arial Black" panose="020B0A04020102020204" pitchFamily="34" charset="0"/>
              </a:rPr>
              <a:t> − For implementing any algorithm, we need dataset. So during the first step of KNN, we must load the training as well as test data.</a:t>
            </a:r>
          </a:p>
          <a:p>
            <a:pPr marL="285750" indent="-285750" algn="just">
              <a:lnSpc>
                <a:spcPts val="1800"/>
              </a:lnSpc>
              <a:spcAft>
                <a:spcPts val="1050"/>
              </a:spcAft>
              <a:buFont typeface="Arial" panose="020B0604020202020204" pitchFamily="34" charset="0"/>
              <a:buChar char="•"/>
            </a:pPr>
            <a:r>
              <a:rPr lang="en-US" b="1" i="0" dirty="0">
                <a:solidFill>
                  <a:srgbClr val="FF0000"/>
                </a:solidFill>
                <a:effectLst/>
                <a:latin typeface="Arial Black" panose="020B0A04020102020204" pitchFamily="34" charset="0"/>
              </a:rPr>
              <a:t>Step 2</a:t>
            </a:r>
            <a:r>
              <a:rPr lang="en-US" b="0" i="0" dirty="0">
                <a:solidFill>
                  <a:srgbClr val="000000"/>
                </a:solidFill>
                <a:effectLst/>
                <a:latin typeface="Arial Black" panose="020B0A04020102020204" pitchFamily="34" charset="0"/>
              </a:rPr>
              <a:t> − Next, we need to choose the value of K i.e. the nearest data points. K can be any integer.</a:t>
            </a:r>
          </a:p>
        </p:txBody>
      </p:sp>
    </p:spTree>
    <p:extLst>
      <p:ext uri="{BB962C8B-B14F-4D97-AF65-F5344CB8AC3E}">
        <p14:creationId xmlns:p14="http://schemas.microsoft.com/office/powerpoint/2010/main" val="134671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B71D8-7AE5-03B5-2CC9-672D2BD09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6E6966-0BBF-C673-E051-A79D5A72CEA2}"/>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F5A7AF34-027B-9D4A-45D3-0254F977B5B3}"/>
              </a:ext>
            </a:extLst>
          </p:cNvPr>
          <p:cNvSpPr txBox="1"/>
          <p:nvPr/>
        </p:nvSpPr>
        <p:spPr>
          <a:xfrm>
            <a:off x="2703870" y="1500627"/>
            <a:ext cx="7098891" cy="387286"/>
          </a:xfrm>
          <a:prstGeom prst="rect">
            <a:avLst/>
          </a:prstGeom>
          <a:noFill/>
        </p:spPr>
        <p:txBody>
          <a:bodyPr wrap="square">
            <a:spAutoFit/>
          </a:bodyPr>
          <a:lstStyle/>
          <a:p>
            <a:pPr algn="l">
              <a:lnSpc>
                <a:spcPts val="2250"/>
              </a:lnSpc>
              <a:buNone/>
            </a:pPr>
            <a:r>
              <a:rPr lang="en-US" sz="2000" b="0" i="0" dirty="0">
                <a:solidFill>
                  <a:srgbClr val="FF0000"/>
                </a:solidFill>
                <a:effectLst/>
                <a:latin typeface="Arial Black" panose="020B0A04020102020204" pitchFamily="34" charset="0"/>
              </a:rPr>
              <a:t>How Does K-Nearest Neighbors Algorithm Work?</a:t>
            </a:r>
          </a:p>
        </p:txBody>
      </p:sp>
      <p:sp>
        <p:nvSpPr>
          <p:cNvPr id="8" name="TextBox 7">
            <a:extLst>
              <a:ext uri="{FF2B5EF4-FFF2-40B4-BE49-F238E27FC236}">
                <a16:creationId xmlns:a16="http://schemas.microsoft.com/office/drawing/2014/main" id="{DDC59FD7-8EAD-690B-9DB6-75378733211B}"/>
              </a:ext>
            </a:extLst>
          </p:cNvPr>
          <p:cNvSpPr txBox="1"/>
          <p:nvPr/>
        </p:nvSpPr>
        <p:spPr>
          <a:xfrm>
            <a:off x="727587" y="2238321"/>
            <a:ext cx="10481187" cy="923330"/>
          </a:xfrm>
          <a:prstGeom prst="rect">
            <a:avLst/>
          </a:prstGeom>
          <a:noFill/>
        </p:spPr>
        <p:txBody>
          <a:bodyPr wrap="square">
            <a:spAutoFit/>
          </a:bodyPr>
          <a:lstStyle/>
          <a:p>
            <a:pPr algn="just"/>
            <a:r>
              <a:rPr lang="en-US" b="0" i="0" dirty="0">
                <a:effectLst/>
                <a:latin typeface="Arial Black" panose="020B0A04020102020204" pitchFamily="34" charset="0"/>
              </a:rPr>
              <a:t>K-nearest neighbors (KNN) algorithm uses 'feature similarity' to predict the values of new datapoints which further means that the new data point will be assigned a value based on how closely it matches the points in the training set. </a:t>
            </a:r>
            <a:endParaRPr lang="en-US" dirty="0">
              <a:latin typeface="Arial Black" panose="020B0A04020102020204" pitchFamily="34" charset="0"/>
            </a:endParaRPr>
          </a:p>
        </p:txBody>
      </p:sp>
      <p:sp>
        <p:nvSpPr>
          <p:cNvPr id="4" name="TextBox 3">
            <a:extLst>
              <a:ext uri="{FF2B5EF4-FFF2-40B4-BE49-F238E27FC236}">
                <a16:creationId xmlns:a16="http://schemas.microsoft.com/office/drawing/2014/main" id="{1A9C9DC6-2FD9-80D1-EB5E-EB44664CBE70}"/>
              </a:ext>
            </a:extLst>
          </p:cNvPr>
          <p:cNvSpPr txBox="1"/>
          <p:nvPr/>
        </p:nvSpPr>
        <p:spPr>
          <a:xfrm>
            <a:off x="727587" y="3429000"/>
            <a:ext cx="10736825" cy="2875146"/>
          </a:xfrm>
          <a:prstGeom prst="rect">
            <a:avLst/>
          </a:prstGeom>
          <a:noFill/>
        </p:spPr>
        <p:txBody>
          <a:bodyPr wrap="square">
            <a:spAutoFit/>
          </a:bodyPr>
          <a:lstStyle/>
          <a:p>
            <a:pPr marL="285750" indent="-285750" algn="just">
              <a:lnSpc>
                <a:spcPts val="1800"/>
              </a:lnSpc>
              <a:spcAft>
                <a:spcPts val="1050"/>
              </a:spcAft>
              <a:buFont typeface="Arial" panose="020B0604020202020204" pitchFamily="34" charset="0"/>
              <a:buChar char="•"/>
            </a:pPr>
            <a:r>
              <a:rPr lang="en-US" b="1" i="0" dirty="0">
                <a:solidFill>
                  <a:srgbClr val="FF0000"/>
                </a:solidFill>
                <a:effectLst/>
                <a:latin typeface="Arial Black" panose="020B0A04020102020204" pitchFamily="34" charset="0"/>
              </a:rPr>
              <a:t>Step 3</a:t>
            </a:r>
            <a:r>
              <a:rPr lang="en-US" b="0" i="0" dirty="0">
                <a:solidFill>
                  <a:srgbClr val="000000"/>
                </a:solidFill>
                <a:effectLst/>
                <a:latin typeface="Arial Black" panose="020B0A04020102020204" pitchFamily="34" charset="0"/>
              </a:rPr>
              <a:t> − For each point in the test data do the following −</a:t>
            </a:r>
          </a:p>
          <a:p>
            <a:pPr marL="285750" indent="-285750" algn="just">
              <a:lnSpc>
                <a:spcPts val="1800"/>
              </a:lnSpc>
              <a:spcAft>
                <a:spcPts val="1050"/>
              </a:spcAft>
              <a:buFont typeface="Arial" panose="020B0604020202020204" pitchFamily="34" charset="0"/>
              <a:buChar char="•"/>
            </a:pPr>
            <a:r>
              <a:rPr lang="en-US" b="1" i="0" dirty="0">
                <a:solidFill>
                  <a:srgbClr val="FF0000"/>
                </a:solidFill>
                <a:effectLst/>
                <a:latin typeface="Arial Black" panose="020B0A04020102020204" pitchFamily="34" charset="0"/>
              </a:rPr>
              <a:t>3.1</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 Calculate the distance between test data and each row of training data with the help of any of the method namely: Euclidean, Manhattan or Hamming distance. The most commonly used method to calculate distance is Euclidean.</a:t>
            </a:r>
          </a:p>
          <a:p>
            <a:pPr marL="285750" indent="-285750" algn="just">
              <a:lnSpc>
                <a:spcPts val="1800"/>
              </a:lnSpc>
              <a:spcAft>
                <a:spcPts val="1050"/>
              </a:spcAft>
              <a:buFont typeface="Arial" panose="020B0604020202020204" pitchFamily="34" charset="0"/>
              <a:buChar char="•"/>
            </a:pPr>
            <a:r>
              <a:rPr lang="en-US" b="1" i="0" dirty="0">
                <a:solidFill>
                  <a:srgbClr val="FF0000"/>
                </a:solidFill>
                <a:effectLst/>
                <a:latin typeface="Arial Black" panose="020B0A04020102020204" pitchFamily="34" charset="0"/>
              </a:rPr>
              <a:t>3.2</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 Now, based on the distance value, sort them in ascending order.</a:t>
            </a:r>
          </a:p>
          <a:p>
            <a:pPr marL="285750" indent="-285750" algn="just">
              <a:lnSpc>
                <a:spcPts val="1800"/>
              </a:lnSpc>
              <a:spcAft>
                <a:spcPts val="1050"/>
              </a:spcAft>
              <a:buFont typeface="Arial" panose="020B0604020202020204" pitchFamily="34" charset="0"/>
              <a:buChar char="•"/>
            </a:pPr>
            <a:r>
              <a:rPr lang="en-US" b="1" i="0" dirty="0">
                <a:solidFill>
                  <a:srgbClr val="FF0000"/>
                </a:solidFill>
                <a:effectLst/>
                <a:latin typeface="Arial Black" panose="020B0A04020102020204" pitchFamily="34" charset="0"/>
              </a:rPr>
              <a:t>3.3</a:t>
            </a:r>
            <a:r>
              <a:rPr lang="en-US" b="0" i="0" dirty="0">
                <a:solidFill>
                  <a:srgbClr val="000000"/>
                </a:solidFill>
                <a:effectLst/>
                <a:latin typeface="Arial Black" panose="020B0A04020102020204" pitchFamily="34" charset="0"/>
              </a:rPr>
              <a:t> − Next, it will choose the top K rows from the sorted array.</a:t>
            </a:r>
          </a:p>
          <a:p>
            <a:pPr marL="285750" indent="-285750" algn="just">
              <a:lnSpc>
                <a:spcPts val="1800"/>
              </a:lnSpc>
              <a:spcAft>
                <a:spcPts val="1050"/>
              </a:spcAft>
              <a:buFont typeface="Arial" panose="020B0604020202020204" pitchFamily="34" charset="0"/>
              <a:buChar char="•"/>
            </a:pPr>
            <a:r>
              <a:rPr lang="en-US" b="1" i="0" dirty="0">
                <a:solidFill>
                  <a:srgbClr val="FF0000"/>
                </a:solidFill>
                <a:effectLst/>
                <a:latin typeface="Arial Black" panose="020B0A04020102020204" pitchFamily="34" charset="0"/>
              </a:rPr>
              <a:t>3.4</a:t>
            </a:r>
            <a:r>
              <a:rPr lang="en-US" b="0" i="0" dirty="0">
                <a:solidFill>
                  <a:srgbClr val="000000"/>
                </a:solidFill>
                <a:effectLst/>
                <a:latin typeface="Arial Black" panose="020B0A04020102020204" pitchFamily="34" charset="0"/>
              </a:rPr>
              <a:t> − Now, it will assign a class to the test point based on most frequent class of these rows.</a:t>
            </a:r>
          </a:p>
          <a:p>
            <a:pPr marL="285750" indent="-285750" algn="just">
              <a:lnSpc>
                <a:spcPts val="1800"/>
              </a:lnSpc>
              <a:spcAft>
                <a:spcPts val="1050"/>
              </a:spcAft>
              <a:buFont typeface="Arial" panose="020B0604020202020204" pitchFamily="34" charset="0"/>
              <a:buChar char="•"/>
            </a:pPr>
            <a:r>
              <a:rPr lang="en-US" b="1" i="0" dirty="0">
                <a:solidFill>
                  <a:srgbClr val="FF0000"/>
                </a:solidFill>
                <a:effectLst/>
                <a:latin typeface="Arial Black" panose="020B0A04020102020204" pitchFamily="34" charset="0"/>
              </a:rPr>
              <a:t>Step 4</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 End</a:t>
            </a:r>
          </a:p>
        </p:txBody>
      </p:sp>
    </p:spTree>
    <p:extLst>
      <p:ext uri="{BB962C8B-B14F-4D97-AF65-F5344CB8AC3E}">
        <p14:creationId xmlns:p14="http://schemas.microsoft.com/office/powerpoint/2010/main" val="434981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2A016-2625-C2F1-E53D-9F113A77D6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E5AC9-FA34-548B-01AD-B12C66BAFA3F}"/>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6" name="TextBox 5">
            <a:extLst>
              <a:ext uri="{FF2B5EF4-FFF2-40B4-BE49-F238E27FC236}">
                <a16:creationId xmlns:a16="http://schemas.microsoft.com/office/drawing/2014/main" id="{C60ED29A-7CC4-DDC3-AA20-449DED7FA7B4}"/>
              </a:ext>
            </a:extLst>
          </p:cNvPr>
          <p:cNvSpPr txBox="1"/>
          <p:nvPr/>
        </p:nvSpPr>
        <p:spPr>
          <a:xfrm>
            <a:off x="606286" y="1222518"/>
            <a:ext cx="10793895" cy="928459"/>
          </a:xfrm>
          <a:prstGeom prst="rect">
            <a:avLst/>
          </a:prstGeom>
          <a:noFill/>
        </p:spPr>
        <p:txBody>
          <a:bodyPr wrap="square">
            <a:spAutoFit/>
          </a:bodyPr>
          <a:lstStyle/>
          <a:p>
            <a:pPr algn="l">
              <a:lnSpc>
                <a:spcPts val="2250"/>
              </a:lnSpc>
              <a:buNone/>
            </a:pPr>
            <a:r>
              <a:rPr lang="en-US" b="0" i="0" dirty="0">
                <a:solidFill>
                  <a:srgbClr val="FF0000"/>
                </a:solidFill>
                <a:effectLst/>
                <a:latin typeface="Arial Black" panose="020B0A04020102020204" pitchFamily="34" charset="0"/>
              </a:rPr>
              <a:t>Example</a:t>
            </a:r>
          </a:p>
          <a:p>
            <a:pPr algn="l">
              <a:lnSpc>
                <a:spcPts val="2250"/>
              </a:lnSpc>
              <a:buNone/>
            </a:pPr>
            <a:endParaRPr lang="en-US" sz="1600" b="0" i="0" dirty="0">
              <a:effectLst/>
              <a:latin typeface="Arial Black" panose="020B0A04020102020204" pitchFamily="34" charset="0"/>
            </a:endParaRPr>
          </a:p>
          <a:p>
            <a:pPr algn="l">
              <a:buNone/>
            </a:pPr>
            <a:r>
              <a:rPr lang="en-US" sz="1600" b="0" i="0" dirty="0">
                <a:effectLst/>
                <a:latin typeface="Arial Black" panose="020B0A04020102020204" pitchFamily="34" charset="0"/>
              </a:rPr>
              <a:t>The following is an example to understand the concept of K and working of KNN algorithm</a:t>
            </a:r>
          </a:p>
        </p:txBody>
      </p:sp>
      <p:sp>
        <p:nvSpPr>
          <p:cNvPr id="9" name="TextBox 8">
            <a:extLst>
              <a:ext uri="{FF2B5EF4-FFF2-40B4-BE49-F238E27FC236}">
                <a16:creationId xmlns:a16="http://schemas.microsoft.com/office/drawing/2014/main" id="{354AE1B3-0B55-03EF-A237-1790072F6265}"/>
              </a:ext>
            </a:extLst>
          </p:cNvPr>
          <p:cNvSpPr txBox="1"/>
          <p:nvPr/>
        </p:nvSpPr>
        <p:spPr>
          <a:xfrm>
            <a:off x="471211" y="3618393"/>
            <a:ext cx="4031339" cy="923330"/>
          </a:xfrm>
          <a:prstGeom prst="rect">
            <a:avLst/>
          </a:prstGeom>
          <a:noFill/>
        </p:spPr>
        <p:txBody>
          <a:bodyPr wrap="square">
            <a:spAutoFit/>
          </a:bodyPr>
          <a:lstStyle/>
          <a:p>
            <a:pPr algn="ctr"/>
            <a:r>
              <a:rPr lang="en-US" b="0" i="0" dirty="0">
                <a:solidFill>
                  <a:srgbClr val="FF0000"/>
                </a:solidFill>
                <a:effectLst/>
                <a:latin typeface="Arial Black" panose="020B0A04020102020204" pitchFamily="34" charset="0"/>
              </a:rPr>
              <a:t>Suppose we have a dataset which can be plotted as follows </a:t>
            </a:r>
            <a:endParaRPr lang="en-US" dirty="0">
              <a:solidFill>
                <a:srgbClr val="FF0000"/>
              </a:solidFill>
              <a:latin typeface="Arial Black" panose="020B0A04020102020204" pitchFamily="34" charset="0"/>
            </a:endParaRPr>
          </a:p>
        </p:txBody>
      </p:sp>
      <p:pic>
        <p:nvPicPr>
          <p:cNvPr id="11" name="Picture 10">
            <a:extLst>
              <a:ext uri="{FF2B5EF4-FFF2-40B4-BE49-F238E27FC236}">
                <a16:creationId xmlns:a16="http://schemas.microsoft.com/office/drawing/2014/main" id="{5E1A580F-9840-0FA8-1CD1-702C11006F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2468" y="2506577"/>
            <a:ext cx="6770411" cy="3858163"/>
          </a:xfrm>
          <a:prstGeom prst="rect">
            <a:avLst/>
          </a:prstGeom>
        </p:spPr>
      </p:pic>
    </p:spTree>
    <p:extLst>
      <p:ext uri="{BB962C8B-B14F-4D97-AF65-F5344CB8AC3E}">
        <p14:creationId xmlns:p14="http://schemas.microsoft.com/office/powerpoint/2010/main" val="3741299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002DC-E9AD-63F0-05EE-F3976D506D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C5CFB-9236-31D2-0350-2B30E5D7D3FB}"/>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6" name="TextBox 5">
            <a:extLst>
              <a:ext uri="{FF2B5EF4-FFF2-40B4-BE49-F238E27FC236}">
                <a16:creationId xmlns:a16="http://schemas.microsoft.com/office/drawing/2014/main" id="{2211AEFF-1BC7-DA8A-80FD-D61FAED7D956}"/>
              </a:ext>
            </a:extLst>
          </p:cNvPr>
          <p:cNvSpPr txBox="1"/>
          <p:nvPr/>
        </p:nvSpPr>
        <p:spPr>
          <a:xfrm>
            <a:off x="606286" y="1222518"/>
            <a:ext cx="10793895" cy="928459"/>
          </a:xfrm>
          <a:prstGeom prst="rect">
            <a:avLst/>
          </a:prstGeom>
          <a:noFill/>
        </p:spPr>
        <p:txBody>
          <a:bodyPr wrap="square">
            <a:spAutoFit/>
          </a:bodyPr>
          <a:lstStyle/>
          <a:p>
            <a:pPr algn="l">
              <a:lnSpc>
                <a:spcPts val="2250"/>
              </a:lnSpc>
              <a:buNone/>
            </a:pPr>
            <a:r>
              <a:rPr lang="en-US" b="0" i="0" dirty="0">
                <a:solidFill>
                  <a:srgbClr val="FF0000"/>
                </a:solidFill>
                <a:effectLst/>
                <a:latin typeface="Arial Black" panose="020B0A04020102020204" pitchFamily="34" charset="0"/>
              </a:rPr>
              <a:t>Example</a:t>
            </a:r>
          </a:p>
          <a:p>
            <a:pPr algn="l">
              <a:lnSpc>
                <a:spcPts val="2250"/>
              </a:lnSpc>
              <a:buNone/>
            </a:pPr>
            <a:endParaRPr lang="en-US" sz="1600" b="0" i="0" dirty="0">
              <a:effectLst/>
              <a:latin typeface="Arial Black" panose="020B0A04020102020204" pitchFamily="34" charset="0"/>
            </a:endParaRPr>
          </a:p>
          <a:p>
            <a:pPr algn="l">
              <a:buNone/>
            </a:pPr>
            <a:r>
              <a:rPr lang="en-US" sz="1600" b="0" i="0" dirty="0">
                <a:effectLst/>
                <a:latin typeface="Arial Black" panose="020B0A04020102020204" pitchFamily="34" charset="0"/>
              </a:rPr>
              <a:t>The following is an example to understand the concept of K and working of KNN algorithm</a:t>
            </a:r>
          </a:p>
        </p:txBody>
      </p:sp>
      <p:sp>
        <p:nvSpPr>
          <p:cNvPr id="4" name="TextBox 3">
            <a:extLst>
              <a:ext uri="{FF2B5EF4-FFF2-40B4-BE49-F238E27FC236}">
                <a16:creationId xmlns:a16="http://schemas.microsoft.com/office/drawing/2014/main" id="{4FE62CD6-C9B5-18CB-E9DC-DE8E6F844F96}"/>
              </a:ext>
            </a:extLst>
          </p:cNvPr>
          <p:cNvSpPr txBox="1"/>
          <p:nvPr/>
        </p:nvSpPr>
        <p:spPr>
          <a:xfrm>
            <a:off x="526773" y="2644170"/>
            <a:ext cx="4144618" cy="1569660"/>
          </a:xfrm>
          <a:prstGeom prst="rect">
            <a:avLst/>
          </a:prstGeom>
          <a:noFill/>
        </p:spPr>
        <p:txBody>
          <a:bodyPr wrap="square">
            <a:spAutoFit/>
          </a:bodyPr>
          <a:lstStyle/>
          <a:p>
            <a:pPr algn="just"/>
            <a:r>
              <a:rPr lang="en-US" sz="1600" b="0" i="0" dirty="0">
                <a:effectLst/>
                <a:latin typeface="Arial Black" panose="020B0A04020102020204" pitchFamily="34" charset="0"/>
              </a:rPr>
              <a:t>Now, we need to classify new data point with black dot (at point 60,60) into blue or red class. We are assuming K = 3 i.e. it would find three nearest data points. It is shown in the diagram −</a:t>
            </a:r>
            <a:endParaRPr lang="en-US" sz="1600" dirty="0">
              <a:latin typeface="Arial Black" panose="020B0A04020102020204" pitchFamily="34" charset="0"/>
            </a:endParaRPr>
          </a:p>
        </p:txBody>
      </p:sp>
      <p:pic>
        <p:nvPicPr>
          <p:cNvPr id="7" name="Picture 6">
            <a:extLst>
              <a:ext uri="{FF2B5EF4-FFF2-40B4-BE49-F238E27FC236}">
                <a16:creationId xmlns:a16="http://schemas.microsoft.com/office/drawing/2014/main" id="{75ED5A7A-B4E1-C838-CBBD-EF0435AB46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9443" y="2433890"/>
            <a:ext cx="6481515" cy="3848637"/>
          </a:xfrm>
          <a:prstGeom prst="rect">
            <a:avLst/>
          </a:prstGeom>
        </p:spPr>
      </p:pic>
      <p:sp>
        <p:nvSpPr>
          <p:cNvPr id="10" name="TextBox 9">
            <a:extLst>
              <a:ext uri="{FF2B5EF4-FFF2-40B4-BE49-F238E27FC236}">
                <a16:creationId xmlns:a16="http://schemas.microsoft.com/office/drawing/2014/main" id="{330DE4FC-BA76-FC20-7BAE-B0E4B319FA7B}"/>
              </a:ext>
            </a:extLst>
          </p:cNvPr>
          <p:cNvSpPr txBox="1"/>
          <p:nvPr/>
        </p:nvSpPr>
        <p:spPr>
          <a:xfrm>
            <a:off x="526773" y="4358208"/>
            <a:ext cx="4065105" cy="1569660"/>
          </a:xfrm>
          <a:prstGeom prst="rect">
            <a:avLst/>
          </a:prstGeom>
          <a:noFill/>
        </p:spPr>
        <p:txBody>
          <a:bodyPr wrap="square">
            <a:spAutoFit/>
          </a:bodyPr>
          <a:lstStyle/>
          <a:p>
            <a:r>
              <a:rPr lang="en-US" sz="1600" b="0" i="0" dirty="0">
                <a:effectLst/>
                <a:latin typeface="Arial Black" panose="020B0A04020102020204" pitchFamily="34" charset="0"/>
              </a:rPr>
              <a:t>We can see in the above diagram the three nearest neighbors of the data point with black dot. Among those three, two of them lies in Red class hence the black dot will also be assigned in red class.</a:t>
            </a:r>
            <a:endParaRPr lang="en-US" sz="1600" dirty="0">
              <a:latin typeface="Arial Black" panose="020B0A04020102020204" pitchFamily="34" charset="0"/>
            </a:endParaRPr>
          </a:p>
        </p:txBody>
      </p:sp>
    </p:spTree>
    <p:extLst>
      <p:ext uri="{BB962C8B-B14F-4D97-AF65-F5344CB8AC3E}">
        <p14:creationId xmlns:p14="http://schemas.microsoft.com/office/powerpoint/2010/main" val="12115281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A26B3-0E7E-8339-6718-9A4C52554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FEB2BD-60D9-086F-B272-2ACED222FA43}"/>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022088F6-C7D8-9C2A-EE11-873E4BD3983D}"/>
              </a:ext>
            </a:extLst>
          </p:cNvPr>
          <p:cNvSpPr txBox="1"/>
          <p:nvPr/>
        </p:nvSpPr>
        <p:spPr>
          <a:xfrm>
            <a:off x="3277428" y="1270423"/>
            <a:ext cx="5548520" cy="387286"/>
          </a:xfrm>
          <a:prstGeom prst="rect">
            <a:avLst/>
          </a:prstGeom>
          <a:noFill/>
        </p:spPr>
        <p:txBody>
          <a:bodyPr wrap="square">
            <a:spAutoFit/>
          </a:bodyPr>
          <a:lstStyle/>
          <a:p>
            <a:pPr algn="l">
              <a:lnSpc>
                <a:spcPts val="2250"/>
              </a:lnSpc>
              <a:buNone/>
            </a:pPr>
            <a:r>
              <a:rPr lang="en-US" sz="2000" b="0" i="0" dirty="0">
                <a:solidFill>
                  <a:srgbClr val="7030A0"/>
                </a:solidFill>
                <a:effectLst/>
                <a:latin typeface="Arial Black" panose="020B0A04020102020204" pitchFamily="34" charset="0"/>
              </a:rPr>
              <a:t>Building a K Nearest Neighbors Model</a:t>
            </a:r>
          </a:p>
        </p:txBody>
      </p:sp>
      <p:sp>
        <p:nvSpPr>
          <p:cNvPr id="9" name="TextBox 8">
            <a:extLst>
              <a:ext uri="{FF2B5EF4-FFF2-40B4-BE49-F238E27FC236}">
                <a16:creationId xmlns:a16="http://schemas.microsoft.com/office/drawing/2014/main" id="{D9289749-4C8F-EBD6-0731-A7E3A1DFBDAD}"/>
              </a:ext>
            </a:extLst>
          </p:cNvPr>
          <p:cNvSpPr txBox="1"/>
          <p:nvPr/>
        </p:nvSpPr>
        <p:spPr>
          <a:xfrm>
            <a:off x="822463" y="1874096"/>
            <a:ext cx="4693754" cy="4757713"/>
          </a:xfrm>
          <a:prstGeom prst="rect">
            <a:avLst/>
          </a:prstGeom>
          <a:noFill/>
        </p:spPr>
        <p:txBody>
          <a:bodyPr wrap="square">
            <a:spAutoFit/>
          </a:bodyPr>
          <a:lstStyle/>
          <a:p>
            <a:pPr algn="ctr">
              <a:buNone/>
            </a:pPr>
            <a:r>
              <a:rPr lang="en-US" b="0" i="0" dirty="0">
                <a:solidFill>
                  <a:srgbClr val="7030A0"/>
                </a:solidFill>
                <a:effectLst/>
                <a:latin typeface="Arial Black" panose="020B0A04020102020204" pitchFamily="34" charset="0"/>
              </a:rPr>
              <a:t>We can follow the below steps to build a KNN model</a:t>
            </a:r>
          </a:p>
          <a:p>
            <a:pPr algn="l">
              <a:buNone/>
            </a:pPr>
            <a:endParaRPr lang="en-US" dirty="0">
              <a:solidFill>
                <a:srgbClr val="374151"/>
              </a:solidFill>
              <a:latin typeface="Verdana" panose="020B0604030504040204" pitchFamily="34" charset="0"/>
            </a:endParaRPr>
          </a:p>
          <a:p>
            <a:pPr algn="just">
              <a:buNone/>
            </a:pPr>
            <a:r>
              <a:rPr lang="en-US" sz="1600" b="1" i="0" dirty="0">
                <a:solidFill>
                  <a:srgbClr val="FF0000"/>
                </a:solidFill>
                <a:effectLst/>
                <a:latin typeface="Arial Black" panose="020B0A04020102020204" pitchFamily="34" charset="0"/>
              </a:rPr>
              <a:t>Load the data</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 The first step is to load the dataset into memory. This can be done using various libraries such as pandas or </a:t>
            </a:r>
            <a:r>
              <a:rPr lang="en-US" sz="1600" b="0" i="0" dirty="0" err="1">
                <a:solidFill>
                  <a:srgbClr val="000000"/>
                </a:solidFill>
                <a:effectLst/>
                <a:latin typeface="Arial Black" panose="020B0A04020102020204" pitchFamily="34" charset="0"/>
              </a:rPr>
              <a:t>numpy</a:t>
            </a:r>
            <a:r>
              <a:rPr lang="en-US" sz="1600" b="0" i="0" dirty="0">
                <a:solidFill>
                  <a:srgbClr val="000000"/>
                </a:solidFill>
                <a:effectLst/>
                <a:latin typeface="Arial Black" panose="020B0A04020102020204" pitchFamily="34" charset="0"/>
              </a:rPr>
              <a:t>.</a:t>
            </a:r>
          </a:p>
          <a:p>
            <a:pPr algn="just">
              <a:buNone/>
            </a:pPr>
            <a:endParaRPr lang="en-US" sz="1600" b="0" i="0" dirty="0">
              <a:solidFill>
                <a:srgbClr val="000000"/>
              </a:solidFill>
              <a:effectLst/>
              <a:latin typeface="Arial Black" panose="020B0A04020102020204" pitchFamily="34" charset="0"/>
            </a:endParaRPr>
          </a:p>
          <a:p>
            <a:pPr algn="just">
              <a:lnSpc>
                <a:spcPts val="1800"/>
              </a:lnSpc>
              <a:spcAft>
                <a:spcPts val="1050"/>
              </a:spcAft>
            </a:pPr>
            <a:r>
              <a:rPr lang="en-US" sz="1600" b="1" i="0" dirty="0">
                <a:solidFill>
                  <a:srgbClr val="FF0000"/>
                </a:solidFill>
                <a:effectLst/>
                <a:latin typeface="Arial Black" panose="020B0A04020102020204" pitchFamily="34" charset="0"/>
              </a:rPr>
              <a:t>Split the data</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 The next step is to split the data into training and test sets. The training set is used to train the KNN algorithm, while the test set is used to evaluate its performance.</a:t>
            </a:r>
          </a:p>
          <a:p>
            <a:pPr algn="just">
              <a:lnSpc>
                <a:spcPts val="1800"/>
              </a:lnSpc>
              <a:spcAft>
                <a:spcPts val="1050"/>
              </a:spcAft>
            </a:pPr>
            <a:r>
              <a:rPr lang="en-US" sz="1600" b="1" i="0" dirty="0">
                <a:solidFill>
                  <a:srgbClr val="FF0000"/>
                </a:solidFill>
                <a:effectLst/>
                <a:latin typeface="Arial Black" panose="020B0A04020102020204" pitchFamily="34" charset="0"/>
              </a:rPr>
              <a:t>Normalize the data</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 Before training the KNN algorithm, it is essential to normalize the data to ensure that each feature contributes equally to the distance metric calculation.</a:t>
            </a:r>
          </a:p>
        </p:txBody>
      </p:sp>
      <p:sp>
        <p:nvSpPr>
          <p:cNvPr id="11" name="TextBox 10">
            <a:extLst>
              <a:ext uri="{FF2B5EF4-FFF2-40B4-BE49-F238E27FC236}">
                <a16:creationId xmlns:a16="http://schemas.microsoft.com/office/drawing/2014/main" id="{B3F548D8-B7AE-E2FE-78FF-9E9A3AD55FFD}"/>
              </a:ext>
            </a:extLst>
          </p:cNvPr>
          <p:cNvSpPr txBox="1"/>
          <p:nvPr/>
        </p:nvSpPr>
        <p:spPr>
          <a:xfrm>
            <a:off x="6168887" y="1686865"/>
            <a:ext cx="5200650" cy="4901342"/>
          </a:xfrm>
          <a:prstGeom prst="rect">
            <a:avLst/>
          </a:prstGeom>
          <a:noFill/>
        </p:spPr>
        <p:txBody>
          <a:bodyPr wrap="square">
            <a:spAutoFit/>
          </a:bodyPr>
          <a:lstStyle/>
          <a:p>
            <a:pPr algn="just">
              <a:lnSpc>
                <a:spcPts val="1800"/>
              </a:lnSpc>
              <a:spcAft>
                <a:spcPts val="1050"/>
              </a:spcAft>
            </a:pPr>
            <a:r>
              <a:rPr lang="en-US" sz="1600" b="1" i="0" dirty="0">
                <a:solidFill>
                  <a:srgbClr val="FF0000"/>
                </a:solidFill>
                <a:effectLst/>
                <a:latin typeface="Arial Black" panose="020B0A04020102020204" pitchFamily="34" charset="0"/>
              </a:rPr>
              <a:t>Calculate distances</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 Once the data is normalized, the KNN algorithm calculates the distances between the test data point and each data point in the training set.</a:t>
            </a:r>
          </a:p>
          <a:p>
            <a:pPr algn="just">
              <a:lnSpc>
                <a:spcPts val="1800"/>
              </a:lnSpc>
              <a:spcAft>
                <a:spcPts val="1050"/>
              </a:spcAft>
            </a:pPr>
            <a:r>
              <a:rPr lang="en-US" sz="1600" b="1" i="0" dirty="0">
                <a:solidFill>
                  <a:srgbClr val="FF0000"/>
                </a:solidFill>
                <a:effectLst/>
                <a:latin typeface="Arial Black" panose="020B0A04020102020204" pitchFamily="34" charset="0"/>
              </a:rPr>
              <a:t>Select k-nearest neighbors</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 The KNN algorithm selects the k-nearest neighbors based on the distances calculated in the previous step.</a:t>
            </a:r>
          </a:p>
          <a:p>
            <a:pPr algn="just">
              <a:lnSpc>
                <a:spcPts val="1800"/>
              </a:lnSpc>
              <a:spcAft>
                <a:spcPts val="1050"/>
              </a:spcAft>
            </a:pPr>
            <a:r>
              <a:rPr lang="en-US" sz="1600" b="1" i="0" dirty="0">
                <a:solidFill>
                  <a:srgbClr val="FF0000"/>
                </a:solidFill>
                <a:effectLst/>
                <a:latin typeface="Arial Black" panose="020B0A04020102020204" pitchFamily="34" charset="0"/>
              </a:rPr>
              <a:t>Make a prediction</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 For classification problems, the KNN algorithm assigns the test data point to the class that appears most frequently among the k-nearest neighbors. For regression problems, the KNN algorithm assigns the test data point the average of the k-nearest neighbors' values.</a:t>
            </a:r>
          </a:p>
          <a:p>
            <a:pPr algn="just">
              <a:lnSpc>
                <a:spcPts val="1800"/>
              </a:lnSpc>
              <a:spcAft>
                <a:spcPts val="1050"/>
              </a:spcAft>
            </a:pPr>
            <a:r>
              <a:rPr lang="en-US" sz="1600" b="1" i="0" dirty="0">
                <a:solidFill>
                  <a:srgbClr val="FF0000"/>
                </a:solidFill>
                <a:effectLst/>
                <a:latin typeface="Arial Black" panose="020B0A04020102020204" pitchFamily="34" charset="0"/>
              </a:rPr>
              <a:t>Evaluate performance</a:t>
            </a:r>
            <a:r>
              <a:rPr lang="en-US" sz="1600" b="0" i="0" dirty="0">
                <a:solidFill>
                  <a:srgbClr val="FF0000"/>
                </a:solidFill>
                <a:effectLst/>
                <a:latin typeface="Arial Black" panose="020B0A04020102020204" pitchFamily="34" charset="0"/>
              </a:rPr>
              <a:t> </a:t>
            </a:r>
            <a:r>
              <a:rPr lang="en-US" sz="1600" b="0" i="0" dirty="0">
                <a:solidFill>
                  <a:srgbClr val="000000"/>
                </a:solidFill>
                <a:effectLst/>
                <a:latin typeface="Arial Black" panose="020B0A04020102020204" pitchFamily="34" charset="0"/>
              </a:rPr>
              <a:t>− Finally, the KNN algorithm's performance is evaluated using various metrics such as accuracy, precision, recall, and F1-score.</a:t>
            </a:r>
          </a:p>
        </p:txBody>
      </p:sp>
    </p:spTree>
    <p:extLst>
      <p:ext uri="{BB962C8B-B14F-4D97-AF65-F5344CB8AC3E}">
        <p14:creationId xmlns:p14="http://schemas.microsoft.com/office/powerpoint/2010/main" val="11208142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7A776-D3AC-67DD-951B-02D6E6022F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27FAA-6C5B-4A21-D0F7-5818EFE83A50}"/>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4" name="TextBox 3">
            <a:extLst>
              <a:ext uri="{FF2B5EF4-FFF2-40B4-BE49-F238E27FC236}">
                <a16:creationId xmlns:a16="http://schemas.microsoft.com/office/drawing/2014/main" id="{A115662A-3CF8-CE0C-AB4E-B10CE296EA4C}"/>
              </a:ext>
            </a:extLst>
          </p:cNvPr>
          <p:cNvSpPr txBox="1"/>
          <p:nvPr/>
        </p:nvSpPr>
        <p:spPr>
          <a:xfrm>
            <a:off x="653498" y="1952955"/>
            <a:ext cx="4972050" cy="3647665"/>
          </a:xfrm>
          <a:prstGeom prst="rect">
            <a:avLst/>
          </a:prstGeom>
          <a:noFill/>
        </p:spPr>
        <p:txBody>
          <a:bodyPr wrap="square">
            <a:spAutoFit/>
          </a:bodyPr>
          <a:lstStyle/>
          <a:p>
            <a:pPr algn="ctr">
              <a:lnSpc>
                <a:spcPts val="2250"/>
              </a:lnSpc>
              <a:buNone/>
            </a:pPr>
            <a:r>
              <a:rPr lang="en-US" b="0" i="0" dirty="0">
                <a:solidFill>
                  <a:srgbClr val="FF0000"/>
                </a:solidFill>
                <a:effectLst/>
                <a:latin typeface="Arial Black" panose="020B0A04020102020204" pitchFamily="34" charset="0"/>
              </a:rPr>
              <a:t>Pros</a:t>
            </a:r>
          </a:p>
          <a:p>
            <a:pPr algn="just">
              <a:lnSpc>
                <a:spcPts val="2250"/>
              </a:lnSpc>
              <a:buNone/>
            </a:pPr>
            <a:endParaRPr lang="en-US" b="0" i="0" dirty="0">
              <a:effectLst/>
              <a:latin typeface="Arial Black" panose="020B0A04020102020204" pitchFamily="34" charset="0"/>
            </a:endParaRPr>
          </a:p>
          <a:p>
            <a:pPr marL="285750" indent="-285750" algn="just">
              <a:lnSpc>
                <a:spcPts val="1800"/>
              </a:lnSpc>
              <a:spcAft>
                <a:spcPts val="1050"/>
              </a:spcAft>
              <a:buFont typeface="Arial" panose="020B0604020202020204" pitchFamily="34" charset="0"/>
              <a:buChar char="•"/>
            </a:pPr>
            <a:r>
              <a:rPr lang="en-US" b="0" i="0" dirty="0">
                <a:solidFill>
                  <a:srgbClr val="000000"/>
                </a:solidFill>
                <a:effectLst/>
                <a:latin typeface="Arial Black" panose="020B0A04020102020204" pitchFamily="34" charset="0"/>
              </a:rPr>
              <a:t>It is very simple algorithm to understand and interpret.</a:t>
            </a:r>
          </a:p>
          <a:p>
            <a:pPr marL="285750" indent="-285750" algn="just">
              <a:lnSpc>
                <a:spcPts val="1800"/>
              </a:lnSpc>
              <a:spcAft>
                <a:spcPts val="1050"/>
              </a:spcAft>
              <a:buFont typeface="Arial" panose="020B0604020202020204" pitchFamily="34" charset="0"/>
              <a:buChar char="•"/>
            </a:pPr>
            <a:r>
              <a:rPr lang="en-US" b="0" i="0" dirty="0">
                <a:solidFill>
                  <a:srgbClr val="000000"/>
                </a:solidFill>
                <a:effectLst/>
                <a:latin typeface="Arial Black" panose="020B0A04020102020204" pitchFamily="34" charset="0"/>
              </a:rPr>
              <a:t>It is very useful for nonlinear data because there is no assumption about data in this algorithm.</a:t>
            </a:r>
          </a:p>
          <a:p>
            <a:pPr marL="285750" indent="-285750" algn="just">
              <a:lnSpc>
                <a:spcPts val="1800"/>
              </a:lnSpc>
              <a:spcAft>
                <a:spcPts val="1050"/>
              </a:spcAft>
              <a:buFont typeface="Arial" panose="020B0604020202020204" pitchFamily="34" charset="0"/>
              <a:buChar char="•"/>
            </a:pPr>
            <a:r>
              <a:rPr lang="en-US" b="0" i="0" dirty="0">
                <a:solidFill>
                  <a:srgbClr val="000000"/>
                </a:solidFill>
                <a:effectLst/>
                <a:latin typeface="Arial Black" panose="020B0A04020102020204" pitchFamily="34" charset="0"/>
              </a:rPr>
              <a:t>It is a versatile algorithm as we can use it for classification as well as regression.</a:t>
            </a:r>
          </a:p>
          <a:p>
            <a:pPr marL="285750" indent="-285750" algn="just">
              <a:lnSpc>
                <a:spcPts val="1800"/>
              </a:lnSpc>
              <a:spcAft>
                <a:spcPts val="1050"/>
              </a:spcAft>
              <a:buFont typeface="Arial" panose="020B0604020202020204" pitchFamily="34" charset="0"/>
              <a:buChar char="•"/>
            </a:pPr>
            <a:r>
              <a:rPr lang="en-US" b="0" i="0" dirty="0">
                <a:solidFill>
                  <a:srgbClr val="000000"/>
                </a:solidFill>
                <a:effectLst/>
                <a:latin typeface="Arial Black" panose="020B0A04020102020204" pitchFamily="34" charset="0"/>
              </a:rPr>
              <a:t>It has relatively high accuracy but there are much better supervised learning models than KNN.</a:t>
            </a:r>
          </a:p>
        </p:txBody>
      </p:sp>
      <p:sp>
        <p:nvSpPr>
          <p:cNvPr id="7" name="TextBox 6">
            <a:extLst>
              <a:ext uri="{FF2B5EF4-FFF2-40B4-BE49-F238E27FC236}">
                <a16:creationId xmlns:a16="http://schemas.microsoft.com/office/drawing/2014/main" id="{54FE0CE3-DC22-0115-1F90-D45691663D7D}"/>
              </a:ext>
            </a:extLst>
          </p:cNvPr>
          <p:cNvSpPr txBox="1"/>
          <p:nvPr/>
        </p:nvSpPr>
        <p:spPr>
          <a:xfrm>
            <a:off x="6935028" y="1952955"/>
            <a:ext cx="4793146" cy="3647665"/>
          </a:xfrm>
          <a:prstGeom prst="rect">
            <a:avLst/>
          </a:prstGeom>
          <a:noFill/>
        </p:spPr>
        <p:txBody>
          <a:bodyPr wrap="square">
            <a:spAutoFit/>
          </a:bodyPr>
          <a:lstStyle/>
          <a:p>
            <a:pPr algn="ctr">
              <a:lnSpc>
                <a:spcPts val="2250"/>
              </a:lnSpc>
              <a:buNone/>
            </a:pPr>
            <a:r>
              <a:rPr lang="en-US" b="0" i="0" dirty="0">
                <a:solidFill>
                  <a:srgbClr val="FF0000"/>
                </a:solidFill>
                <a:effectLst/>
                <a:latin typeface="Arial Black" panose="020B0A04020102020204" pitchFamily="34" charset="0"/>
              </a:rPr>
              <a:t>Cons</a:t>
            </a:r>
          </a:p>
          <a:p>
            <a:pPr>
              <a:lnSpc>
                <a:spcPts val="2250"/>
              </a:lnSpc>
              <a:buNone/>
            </a:pPr>
            <a:endParaRPr lang="en-US" b="0" i="0" dirty="0">
              <a:effectLst/>
              <a:latin typeface="Arial Black" panose="020B0A04020102020204" pitchFamily="34" charset="0"/>
            </a:endParaRPr>
          </a:p>
          <a:p>
            <a:pPr marL="285750" indent="-285750">
              <a:lnSpc>
                <a:spcPts val="1800"/>
              </a:lnSpc>
              <a:spcAft>
                <a:spcPts val="1050"/>
              </a:spcAft>
              <a:buFont typeface="Arial" panose="020B0604020202020204" pitchFamily="34" charset="0"/>
              <a:buChar char="•"/>
            </a:pPr>
            <a:r>
              <a:rPr lang="en-US" b="0" i="0" dirty="0">
                <a:solidFill>
                  <a:srgbClr val="000000"/>
                </a:solidFill>
                <a:effectLst/>
                <a:latin typeface="Arial Black" panose="020B0A04020102020204" pitchFamily="34" charset="0"/>
              </a:rPr>
              <a:t>It is computationally a bit expensive algorithm because it stores all the training data.</a:t>
            </a:r>
          </a:p>
          <a:p>
            <a:pPr marL="285750" indent="-285750">
              <a:lnSpc>
                <a:spcPts val="1800"/>
              </a:lnSpc>
              <a:spcAft>
                <a:spcPts val="1050"/>
              </a:spcAft>
              <a:buFont typeface="Arial" panose="020B0604020202020204" pitchFamily="34" charset="0"/>
              <a:buChar char="•"/>
            </a:pPr>
            <a:r>
              <a:rPr lang="en-US" b="0" i="0" dirty="0">
                <a:solidFill>
                  <a:srgbClr val="000000"/>
                </a:solidFill>
                <a:effectLst/>
                <a:latin typeface="Arial Black" panose="020B0A04020102020204" pitchFamily="34" charset="0"/>
              </a:rPr>
              <a:t>High memory storage required as compared to other supervised learning algorithms.</a:t>
            </a:r>
          </a:p>
          <a:p>
            <a:pPr marL="285750" indent="-285750">
              <a:lnSpc>
                <a:spcPts val="1800"/>
              </a:lnSpc>
              <a:spcAft>
                <a:spcPts val="1050"/>
              </a:spcAft>
              <a:buFont typeface="Arial" panose="020B0604020202020204" pitchFamily="34" charset="0"/>
              <a:buChar char="•"/>
            </a:pPr>
            <a:r>
              <a:rPr lang="en-US" b="0" i="0" dirty="0">
                <a:solidFill>
                  <a:srgbClr val="000000"/>
                </a:solidFill>
                <a:effectLst/>
                <a:latin typeface="Arial Black" panose="020B0A04020102020204" pitchFamily="34" charset="0"/>
              </a:rPr>
              <a:t>Prediction is slow in case of big N.</a:t>
            </a:r>
          </a:p>
          <a:p>
            <a:pPr marL="285750" indent="-285750">
              <a:lnSpc>
                <a:spcPts val="1800"/>
              </a:lnSpc>
              <a:spcAft>
                <a:spcPts val="1050"/>
              </a:spcAft>
              <a:buFont typeface="Arial" panose="020B0604020202020204" pitchFamily="34" charset="0"/>
              <a:buChar char="•"/>
            </a:pPr>
            <a:r>
              <a:rPr lang="en-US" b="0" i="0" dirty="0">
                <a:solidFill>
                  <a:srgbClr val="000000"/>
                </a:solidFill>
                <a:effectLst/>
                <a:latin typeface="Arial Black" panose="020B0A04020102020204" pitchFamily="34" charset="0"/>
              </a:rPr>
              <a:t>It is very sensitive to the scale of data as well as irrelevant features.</a:t>
            </a:r>
          </a:p>
        </p:txBody>
      </p:sp>
      <p:sp>
        <p:nvSpPr>
          <p:cNvPr id="8" name="TextBox 7">
            <a:extLst>
              <a:ext uri="{FF2B5EF4-FFF2-40B4-BE49-F238E27FC236}">
                <a16:creationId xmlns:a16="http://schemas.microsoft.com/office/drawing/2014/main" id="{AA1D0815-B0DB-8E78-0FDD-D02FC31CFE3B}"/>
              </a:ext>
            </a:extLst>
          </p:cNvPr>
          <p:cNvSpPr txBox="1"/>
          <p:nvPr/>
        </p:nvSpPr>
        <p:spPr>
          <a:xfrm>
            <a:off x="4740966" y="1257380"/>
            <a:ext cx="3008901" cy="400110"/>
          </a:xfrm>
          <a:prstGeom prst="rect">
            <a:avLst/>
          </a:prstGeom>
          <a:noFill/>
        </p:spPr>
        <p:txBody>
          <a:bodyPr wrap="none" rtlCol="0">
            <a:spAutoFit/>
          </a:bodyPr>
          <a:lstStyle/>
          <a:p>
            <a:r>
              <a:rPr lang="en-US" sz="2000" dirty="0">
                <a:solidFill>
                  <a:srgbClr val="7030A0"/>
                </a:solidFill>
                <a:latin typeface="Arial Black" panose="020B0A04020102020204" pitchFamily="34" charset="0"/>
              </a:rPr>
              <a:t>Pros &amp; Cons of KNN</a:t>
            </a:r>
          </a:p>
        </p:txBody>
      </p:sp>
    </p:spTree>
    <p:extLst>
      <p:ext uri="{BB962C8B-B14F-4D97-AF65-F5344CB8AC3E}">
        <p14:creationId xmlns:p14="http://schemas.microsoft.com/office/powerpoint/2010/main" val="2316896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D7049-AAD9-DDCE-4407-4E0F234337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B8B869-FBEA-9247-E832-1D3E1E6ADBEA}"/>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168AFE4A-C6FA-3CC3-05FD-137CDC3468DF}"/>
              </a:ext>
            </a:extLst>
          </p:cNvPr>
          <p:cNvSpPr txBox="1"/>
          <p:nvPr/>
        </p:nvSpPr>
        <p:spPr>
          <a:xfrm>
            <a:off x="624133" y="1230975"/>
            <a:ext cx="10555357" cy="4944943"/>
          </a:xfrm>
          <a:prstGeom prst="rect">
            <a:avLst/>
          </a:prstGeom>
          <a:noFill/>
        </p:spPr>
        <p:txBody>
          <a:bodyPr wrap="square">
            <a:spAutoFit/>
          </a:bodyPr>
          <a:lstStyle/>
          <a:p>
            <a:pPr algn="ctr">
              <a:lnSpc>
                <a:spcPts val="2250"/>
              </a:lnSpc>
              <a:buNone/>
            </a:pPr>
            <a:r>
              <a:rPr lang="en-US" b="0" i="0" dirty="0">
                <a:solidFill>
                  <a:srgbClr val="FF0000"/>
                </a:solidFill>
                <a:effectLst/>
                <a:latin typeface="Arial Black" panose="020B0A04020102020204" pitchFamily="34" charset="0"/>
              </a:rPr>
              <a:t>Applications of KNN</a:t>
            </a:r>
          </a:p>
          <a:p>
            <a:pPr algn="just">
              <a:lnSpc>
                <a:spcPts val="2250"/>
              </a:lnSpc>
              <a:buNone/>
            </a:pPr>
            <a:endParaRPr lang="en-US" b="0" i="0" dirty="0">
              <a:solidFill>
                <a:srgbClr val="1E293B"/>
              </a:solidFill>
              <a:effectLst/>
              <a:latin typeface="Arial Black" panose="020B0A04020102020204" pitchFamily="34" charset="0"/>
            </a:endParaRPr>
          </a:p>
          <a:p>
            <a:pPr algn="just">
              <a:buNone/>
            </a:pPr>
            <a:r>
              <a:rPr lang="en-US" b="0" i="0" dirty="0">
                <a:effectLst/>
                <a:latin typeface="Arial Black" panose="020B0A04020102020204" pitchFamily="34" charset="0"/>
              </a:rPr>
              <a:t>The following are some of the areas in which KNN can be applied successfully −</a:t>
            </a:r>
          </a:p>
          <a:p>
            <a:pPr algn="just">
              <a:lnSpc>
                <a:spcPts val="2250"/>
              </a:lnSpc>
              <a:buNone/>
            </a:pPr>
            <a:endParaRPr lang="en-US" b="0" i="0" dirty="0">
              <a:effectLst/>
              <a:latin typeface="Arial Black" panose="020B0A04020102020204" pitchFamily="34" charset="0"/>
            </a:endParaRPr>
          </a:p>
          <a:p>
            <a:pPr algn="just">
              <a:lnSpc>
                <a:spcPts val="2250"/>
              </a:lnSpc>
              <a:buNone/>
            </a:pPr>
            <a:r>
              <a:rPr lang="en-US" b="0" i="0" dirty="0">
                <a:solidFill>
                  <a:srgbClr val="FF0000"/>
                </a:solidFill>
                <a:effectLst/>
                <a:latin typeface="Arial Black" panose="020B0A04020102020204" pitchFamily="34" charset="0"/>
              </a:rPr>
              <a:t>Banking System</a:t>
            </a:r>
          </a:p>
          <a:p>
            <a:pPr algn="just">
              <a:buNone/>
            </a:pPr>
            <a:r>
              <a:rPr lang="en-US" b="0" i="0" dirty="0">
                <a:effectLst/>
                <a:latin typeface="Arial Black" panose="020B0A04020102020204" pitchFamily="34" charset="0"/>
              </a:rPr>
              <a:t>KNN can be used in banking system to predict weather an individual is fit for loan approval? Does that individual have the characteristics similar to the defaulters one?</a:t>
            </a:r>
          </a:p>
          <a:p>
            <a:pPr algn="just">
              <a:lnSpc>
                <a:spcPts val="2250"/>
              </a:lnSpc>
              <a:buNone/>
            </a:pPr>
            <a:endParaRPr lang="en-US" b="0" i="0" dirty="0">
              <a:effectLst/>
              <a:latin typeface="Arial Black" panose="020B0A04020102020204" pitchFamily="34" charset="0"/>
            </a:endParaRPr>
          </a:p>
          <a:p>
            <a:pPr algn="just">
              <a:lnSpc>
                <a:spcPts val="2250"/>
              </a:lnSpc>
              <a:buNone/>
            </a:pPr>
            <a:r>
              <a:rPr lang="en-US" b="0" i="0" dirty="0">
                <a:solidFill>
                  <a:srgbClr val="FF0000"/>
                </a:solidFill>
                <a:effectLst/>
                <a:latin typeface="Arial Black" panose="020B0A04020102020204" pitchFamily="34" charset="0"/>
              </a:rPr>
              <a:t>Calculating Credit Ratings</a:t>
            </a:r>
          </a:p>
          <a:p>
            <a:pPr algn="just">
              <a:buNone/>
            </a:pPr>
            <a:r>
              <a:rPr lang="en-US" b="0" i="0" dirty="0">
                <a:effectLst/>
                <a:latin typeface="Arial Black" panose="020B0A04020102020204" pitchFamily="34" charset="0"/>
              </a:rPr>
              <a:t>KNN algorithms can be used to find an individual's credit rating by comparing with the persons having similar traits.</a:t>
            </a:r>
          </a:p>
          <a:p>
            <a:pPr algn="just">
              <a:lnSpc>
                <a:spcPts val="2250"/>
              </a:lnSpc>
              <a:buNone/>
            </a:pPr>
            <a:endParaRPr lang="en-US" b="0" i="0" dirty="0">
              <a:effectLst/>
              <a:latin typeface="Arial Black" panose="020B0A04020102020204" pitchFamily="34" charset="0"/>
            </a:endParaRPr>
          </a:p>
          <a:p>
            <a:pPr algn="just">
              <a:lnSpc>
                <a:spcPts val="2250"/>
              </a:lnSpc>
              <a:buNone/>
            </a:pPr>
            <a:r>
              <a:rPr lang="en-US" b="0" i="0" dirty="0">
                <a:solidFill>
                  <a:srgbClr val="FF0000"/>
                </a:solidFill>
                <a:effectLst/>
                <a:latin typeface="Arial Black" panose="020B0A04020102020204" pitchFamily="34" charset="0"/>
              </a:rPr>
              <a:t>Politics</a:t>
            </a:r>
          </a:p>
          <a:p>
            <a:pPr algn="just">
              <a:buNone/>
            </a:pPr>
            <a:r>
              <a:rPr lang="en-US" b="0" i="0" dirty="0">
                <a:effectLst/>
                <a:latin typeface="Arial Black" panose="020B0A04020102020204" pitchFamily="34" charset="0"/>
              </a:rPr>
              <a:t>With the help of KNN algorithms, we can classify a potential voter into various classes like "Will Vote", "Will not Vote", "Will Vote to Party 'Congress', "Will Vote to Party 'BJP'.</a:t>
            </a:r>
          </a:p>
        </p:txBody>
      </p:sp>
    </p:spTree>
    <p:extLst>
      <p:ext uri="{BB962C8B-B14F-4D97-AF65-F5344CB8AC3E}">
        <p14:creationId xmlns:p14="http://schemas.microsoft.com/office/powerpoint/2010/main" val="42600332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5383A-817A-8E67-6B2A-2CB481F232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5324C-4568-634A-BCE2-065D3621A1D6}"/>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4" name="TextBox 3">
            <a:extLst>
              <a:ext uri="{FF2B5EF4-FFF2-40B4-BE49-F238E27FC236}">
                <a16:creationId xmlns:a16="http://schemas.microsoft.com/office/drawing/2014/main" id="{8187C4A8-7010-552B-C39F-104F1292ED1A}"/>
              </a:ext>
            </a:extLst>
          </p:cNvPr>
          <p:cNvSpPr txBox="1"/>
          <p:nvPr/>
        </p:nvSpPr>
        <p:spPr>
          <a:xfrm>
            <a:off x="971201" y="1966787"/>
            <a:ext cx="9861221" cy="4022768"/>
          </a:xfrm>
          <a:prstGeom prst="rect">
            <a:avLst/>
          </a:prstGeom>
          <a:noFill/>
        </p:spPr>
        <p:txBody>
          <a:bodyPr wrap="square">
            <a:spAutoFit/>
          </a:bodyPr>
          <a:lstStyle/>
          <a:p>
            <a:pPr algn="just">
              <a:lnSpc>
                <a:spcPts val="1650"/>
              </a:lnSpc>
              <a:buNone/>
            </a:pPr>
            <a:r>
              <a:rPr lang="en-US" b="0" i="0" dirty="0">
                <a:solidFill>
                  <a:srgbClr val="000000"/>
                </a:solidFill>
                <a:effectLst/>
                <a:latin typeface="Arial Black" panose="020B0A04020102020204" pitchFamily="34" charset="0"/>
              </a:rPr>
              <a:t>Although </a:t>
            </a:r>
            <a:r>
              <a:rPr lang="en-US" b="1" i="0" dirty="0">
                <a:solidFill>
                  <a:srgbClr val="FF0000"/>
                </a:solidFill>
                <a:effectLst/>
                <a:latin typeface="Arial Black" panose="020B0A04020102020204" pitchFamily="34" charset="0"/>
              </a:rPr>
              <a:t>K-Means</a:t>
            </a:r>
            <a:r>
              <a:rPr lang="en-US" b="0" i="0" dirty="0">
                <a:solidFill>
                  <a:srgbClr val="FF0000"/>
                </a:solidFill>
                <a:effectLst/>
                <a:latin typeface="Arial Black" panose="020B0A04020102020204" pitchFamily="34" charset="0"/>
              </a:rPr>
              <a:t> and </a:t>
            </a:r>
            <a:r>
              <a:rPr lang="en-US" b="1" i="0" dirty="0">
                <a:solidFill>
                  <a:srgbClr val="FF0000"/>
                </a:solidFill>
                <a:effectLst/>
                <a:latin typeface="Arial Black" panose="020B0A04020102020204" pitchFamily="34" charset="0"/>
              </a:rPr>
              <a:t>K-Nearest Neighbors (KNN)</a:t>
            </a:r>
            <a:r>
              <a:rPr lang="en-US" b="0" i="0" dirty="0">
                <a:solidFill>
                  <a:srgbClr val="FF0000"/>
                </a:solidFill>
                <a:effectLst/>
                <a:latin typeface="Arial Black" panose="020B0A04020102020204" pitchFamily="34" charset="0"/>
              </a:rPr>
              <a:t> </a:t>
            </a:r>
            <a:r>
              <a:rPr lang="en-US" b="0" i="0" dirty="0">
                <a:solidFill>
                  <a:srgbClr val="000000"/>
                </a:solidFill>
                <a:effectLst/>
                <a:latin typeface="Arial Black" panose="020B0A04020102020204" pitchFamily="34" charset="0"/>
              </a:rPr>
              <a:t>share the letter </a:t>
            </a:r>
            <a:r>
              <a:rPr lang="en-US" b="0" i="1" dirty="0">
                <a:solidFill>
                  <a:srgbClr val="000000"/>
                </a:solidFill>
                <a:effectLst/>
                <a:latin typeface="Arial Black" panose="020B0A04020102020204" pitchFamily="34" charset="0"/>
              </a:rPr>
              <a:t>k</a:t>
            </a:r>
            <a:r>
              <a:rPr lang="en-US" b="0" i="0" dirty="0">
                <a:solidFill>
                  <a:srgbClr val="000000"/>
                </a:solidFill>
                <a:effectLst/>
                <a:latin typeface="Arial Black" panose="020B0A04020102020204" pitchFamily="34" charset="0"/>
              </a:rPr>
              <a:t> and use distance metrics, they solve </a:t>
            </a:r>
            <a:r>
              <a:rPr lang="en-US" b="1" i="0" dirty="0">
                <a:solidFill>
                  <a:srgbClr val="000000"/>
                </a:solidFill>
                <a:effectLst/>
                <a:latin typeface="Arial Black" panose="020B0A04020102020204" pitchFamily="34" charset="0"/>
              </a:rPr>
              <a:t>fundamentally different problems</a:t>
            </a:r>
            <a:r>
              <a:rPr lang="en-US" b="0" i="0" dirty="0">
                <a:solidFill>
                  <a:srgbClr val="000000"/>
                </a:solidFill>
                <a:effectLst/>
                <a:latin typeface="Arial Black" panose="020B0A04020102020204" pitchFamily="34" charset="0"/>
              </a:rPr>
              <a:t> and operate in distinct ways.</a:t>
            </a:r>
          </a:p>
          <a:p>
            <a:pPr algn="just">
              <a:lnSpc>
                <a:spcPts val="1650"/>
              </a:lnSpc>
              <a:buNone/>
            </a:pPr>
            <a:endParaRPr lang="en-US" b="0" i="0" dirty="0">
              <a:solidFill>
                <a:srgbClr val="000000"/>
              </a:solidFill>
              <a:effectLst/>
              <a:latin typeface="Arial Black" panose="020B0A04020102020204" pitchFamily="34" charset="0"/>
            </a:endParaRPr>
          </a:p>
          <a:p>
            <a:pPr algn="just">
              <a:lnSpc>
                <a:spcPts val="1650"/>
              </a:lnSpc>
              <a:buNone/>
            </a:pPr>
            <a:r>
              <a:rPr lang="en-US" b="1" i="0" dirty="0">
                <a:solidFill>
                  <a:srgbClr val="FF0000"/>
                </a:solidFill>
                <a:effectLst/>
                <a:latin typeface="Arial Black" panose="020B0A04020102020204" pitchFamily="34" charset="0"/>
              </a:rPr>
              <a:t>K-Means</a:t>
            </a:r>
            <a:r>
              <a:rPr lang="en-US" b="0" i="0" dirty="0">
                <a:solidFill>
                  <a:srgbClr val="000000"/>
                </a:solidFill>
                <a:effectLst/>
                <a:latin typeface="Arial Black" panose="020B0A04020102020204" pitchFamily="34" charset="0"/>
              </a:rPr>
              <a:t> is an </a:t>
            </a:r>
            <a:r>
              <a:rPr lang="en-US" b="1" i="0" dirty="0">
                <a:solidFill>
                  <a:srgbClr val="000000"/>
                </a:solidFill>
                <a:effectLst/>
                <a:latin typeface="Arial Black" panose="020B0A04020102020204" pitchFamily="34" charset="0"/>
              </a:rPr>
              <a:t>unsupervised clustering</a:t>
            </a:r>
            <a:r>
              <a:rPr lang="en-US" b="0" i="0" dirty="0">
                <a:solidFill>
                  <a:srgbClr val="000000"/>
                </a:solidFill>
                <a:effectLst/>
                <a:latin typeface="Arial Black" panose="020B0A04020102020204" pitchFamily="34" charset="0"/>
              </a:rPr>
              <a:t> algorithm. It works without labels, aiming to discover </a:t>
            </a:r>
            <a:r>
              <a:rPr lang="en-US" b="1" i="0" dirty="0">
                <a:solidFill>
                  <a:srgbClr val="000000"/>
                </a:solidFill>
                <a:effectLst/>
                <a:latin typeface="Arial Black" panose="020B0A04020102020204" pitchFamily="34" charset="0"/>
              </a:rPr>
              <a:t>natural groupings</a:t>
            </a:r>
            <a:r>
              <a:rPr lang="en-US" b="0" i="0" dirty="0">
                <a:solidFill>
                  <a:srgbClr val="000000"/>
                </a:solidFill>
                <a:effectLst/>
                <a:latin typeface="Arial Black" panose="020B0A04020102020204" pitchFamily="34" charset="0"/>
              </a:rPr>
              <a:t> in data. You choose the number of clusters (</a:t>
            </a:r>
            <a:r>
              <a:rPr lang="en-US" b="1" i="0" dirty="0">
                <a:solidFill>
                  <a:srgbClr val="000000"/>
                </a:solidFill>
                <a:effectLst/>
                <a:latin typeface="Arial Black" panose="020B0A04020102020204" pitchFamily="34" charset="0"/>
              </a:rPr>
              <a:t>k</a:t>
            </a:r>
            <a:r>
              <a:rPr lang="en-US" b="0" i="0" dirty="0">
                <a:solidFill>
                  <a:srgbClr val="000000"/>
                </a:solidFill>
                <a:effectLst/>
                <a:latin typeface="Arial Black" panose="020B0A04020102020204" pitchFamily="34" charset="0"/>
              </a:rPr>
              <a:t>), initialize centroids, assign points to the nearest centroid, update centroids as the mean of assigned points, and repeat until convergence. The output is </a:t>
            </a:r>
            <a:r>
              <a:rPr lang="en-US" b="1" i="0" dirty="0">
                <a:solidFill>
                  <a:srgbClr val="000000"/>
                </a:solidFill>
                <a:effectLst/>
                <a:latin typeface="Arial Black" panose="020B0A04020102020204" pitchFamily="34" charset="0"/>
              </a:rPr>
              <a:t>cluster assignments</a:t>
            </a:r>
            <a:r>
              <a:rPr lang="en-US" b="0" i="0" dirty="0">
                <a:solidFill>
                  <a:srgbClr val="000000"/>
                </a:solidFill>
                <a:effectLst/>
                <a:latin typeface="Arial Black" panose="020B0A04020102020204" pitchFamily="34" charset="0"/>
              </a:rPr>
              <a:t> and </a:t>
            </a:r>
            <a:r>
              <a:rPr lang="en-US" b="1" i="0" dirty="0">
                <a:solidFill>
                  <a:srgbClr val="000000"/>
                </a:solidFill>
                <a:effectLst/>
                <a:latin typeface="Arial Black" panose="020B0A04020102020204" pitchFamily="34" charset="0"/>
              </a:rPr>
              <a:t>centroid positions</a:t>
            </a:r>
            <a:r>
              <a:rPr lang="en-US" b="0" i="0" dirty="0">
                <a:solidFill>
                  <a:srgbClr val="000000"/>
                </a:solidFill>
                <a:effectLst/>
                <a:latin typeface="Arial Black" panose="020B0A04020102020204" pitchFamily="34" charset="0"/>
              </a:rPr>
              <a:t>. It’s used for tasks like </a:t>
            </a:r>
            <a:r>
              <a:rPr lang="en-US" b="1" i="0" dirty="0">
                <a:solidFill>
                  <a:srgbClr val="000000"/>
                </a:solidFill>
                <a:effectLst/>
                <a:latin typeface="Arial Black" panose="020B0A04020102020204" pitchFamily="34" charset="0"/>
              </a:rPr>
              <a:t>customer segmentation</a:t>
            </a:r>
            <a:r>
              <a:rPr lang="en-US" b="0" i="0" dirty="0">
                <a:solidFill>
                  <a:srgbClr val="000000"/>
                </a:solidFill>
                <a:effectLst/>
                <a:latin typeface="Arial Black" panose="020B0A04020102020204" pitchFamily="34" charset="0"/>
              </a:rPr>
              <a:t>, </a:t>
            </a:r>
            <a:r>
              <a:rPr lang="en-US" b="1" i="0" dirty="0">
                <a:solidFill>
                  <a:srgbClr val="000000"/>
                </a:solidFill>
                <a:effectLst/>
                <a:latin typeface="Arial Black" panose="020B0A04020102020204" pitchFamily="34" charset="0"/>
              </a:rPr>
              <a:t>image compression</a:t>
            </a:r>
            <a:r>
              <a:rPr lang="en-US" b="0" i="0" dirty="0">
                <a:solidFill>
                  <a:srgbClr val="000000"/>
                </a:solidFill>
                <a:effectLst/>
                <a:latin typeface="Arial Black" panose="020B0A04020102020204" pitchFamily="34" charset="0"/>
              </a:rPr>
              <a:t>, and </a:t>
            </a:r>
            <a:r>
              <a:rPr lang="en-US" b="1" i="0" dirty="0">
                <a:solidFill>
                  <a:srgbClr val="000000"/>
                </a:solidFill>
                <a:effectLst/>
                <a:latin typeface="Arial Black" panose="020B0A04020102020204" pitchFamily="34" charset="0"/>
              </a:rPr>
              <a:t>anomaly detection</a:t>
            </a:r>
            <a:r>
              <a:rPr lang="en-US" b="0" i="0" dirty="0">
                <a:solidFill>
                  <a:srgbClr val="000000"/>
                </a:solidFill>
                <a:effectLst/>
                <a:latin typeface="Arial Black" panose="020B0A04020102020204" pitchFamily="34" charset="0"/>
              </a:rPr>
              <a:t>.</a:t>
            </a:r>
          </a:p>
          <a:p>
            <a:pPr algn="just">
              <a:lnSpc>
                <a:spcPts val="1650"/>
              </a:lnSpc>
              <a:buNone/>
            </a:pPr>
            <a:endParaRPr lang="en-US" b="0" i="0" dirty="0">
              <a:solidFill>
                <a:srgbClr val="000000"/>
              </a:solidFill>
              <a:effectLst/>
              <a:latin typeface="Arial Black" panose="020B0A04020102020204" pitchFamily="34" charset="0"/>
            </a:endParaRPr>
          </a:p>
          <a:p>
            <a:pPr algn="just">
              <a:lnSpc>
                <a:spcPts val="1650"/>
              </a:lnSpc>
              <a:buNone/>
            </a:pPr>
            <a:r>
              <a:rPr lang="en-US" b="1" i="0" dirty="0">
                <a:solidFill>
                  <a:srgbClr val="FF0000"/>
                </a:solidFill>
                <a:effectLst/>
                <a:latin typeface="Arial Black" panose="020B0A04020102020204" pitchFamily="34" charset="0"/>
              </a:rPr>
              <a:t>KNN</a:t>
            </a:r>
            <a:r>
              <a:rPr lang="en-US" b="0" i="0" dirty="0">
                <a:solidFill>
                  <a:srgbClr val="000000"/>
                </a:solidFill>
                <a:effectLst/>
                <a:latin typeface="Arial Black" panose="020B0A04020102020204" pitchFamily="34" charset="0"/>
              </a:rPr>
              <a:t> is a </a:t>
            </a:r>
            <a:r>
              <a:rPr lang="en-US" b="1" i="0" dirty="0">
                <a:solidFill>
                  <a:srgbClr val="000000"/>
                </a:solidFill>
                <a:effectLst/>
                <a:latin typeface="Arial Black" panose="020B0A04020102020204" pitchFamily="34" charset="0"/>
              </a:rPr>
              <a:t>supervised learning</a:t>
            </a:r>
            <a:r>
              <a:rPr lang="en-US" b="0" i="0" dirty="0">
                <a:solidFill>
                  <a:srgbClr val="000000"/>
                </a:solidFill>
                <a:effectLst/>
                <a:latin typeface="Arial Black" panose="020B0A04020102020204" pitchFamily="34" charset="0"/>
              </a:rPr>
              <a:t> algorithm for </a:t>
            </a:r>
            <a:r>
              <a:rPr lang="en-US" b="1" i="0" dirty="0">
                <a:solidFill>
                  <a:srgbClr val="000000"/>
                </a:solidFill>
                <a:effectLst/>
                <a:latin typeface="Arial Black" panose="020B0A04020102020204" pitchFamily="34" charset="0"/>
              </a:rPr>
              <a:t>classification</a:t>
            </a:r>
            <a:r>
              <a:rPr lang="en-US" b="0" i="0" dirty="0">
                <a:solidFill>
                  <a:srgbClr val="000000"/>
                </a:solidFill>
                <a:effectLst/>
                <a:latin typeface="Arial Black" panose="020B0A04020102020204" pitchFamily="34" charset="0"/>
              </a:rPr>
              <a:t> or </a:t>
            </a:r>
            <a:r>
              <a:rPr lang="en-US" b="1" i="0" dirty="0">
                <a:solidFill>
                  <a:srgbClr val="000000"/>
                </a:solidFill>
                <a:effectLst/>
                <a:latin typeface="Arial Black" panose="020B0A04020102020204" pitchFamily="34" charset="0"/>
              </a:rPr>
              <a:t>regression</a:t>
            </a:r>
            <a:r>
              <a:rPr lang="en-US" b="0" i="0" dirty="0">
                <a:solidFill>
                  <a:srgbClr val="000000"/>
                </a:solidFill>
                <a:effectLst/>
                <a:latin typeface="Arial Black" panose="020B0A04020102020204" pitchFamily="34" charset="0"/>
              </a:rPr>
              <a:t>. It stores labeled training data and, for a new point, finds the </a:t>
            </a:r>
            <a:r>
              <a:rPr lang="en-US" b="1" i="0" dirty="0">
                <a:solidFill>
                  <a:srgbClr val="000000"/>
                </a:solidFill>
                <a:effectLst/>
                <a:latin typeface="Arial Black" panose="020B0A04020102020204" pitchFamily="34" charset="0"/>
              </a:rPr>
              <a:t>k nearest neighbors</a:t>
            </a:r>
            <a:r>
              <a:rPr lang="en-US" b="0" i="0" dirty="0">
                <a:solidFill>
                  <a:srgbClr val="000000"/>
                </a:solidFill>
                <a:effectLst/>
                <a:latin typeface="Arial Black" panose="020B0A04020102020204" pitchFamily="34" charset="0"/>
              </a:rPr>
              <a:t> using a distance metric (e.g., Euclidean, Manhattan). For classification, it predicts the </a:t>
            </a:r>
            <a:r>
              <a:rPr lang="en-US" b="1" i="0" dirty="0">
                <a:solidFill>
                  <a:srgbClr val="000000"/>
                </a:solidFill>
                <a:effectLst/>
                <a:latin typeface="Arial Black" panose="020B0A04020102020204" pitchFamily="34" charset="0"/>
              </a:rPr>
              <a:t>majority label</a:t>
            </a:r>
            <a:r>
              <a:rPr lang="en-US" b="0" i="0" dirty="0">
                <a:solidFill>
                  <a:srgbClr val="000000"/>
                </a:solidFill>
                <a:effectLst/>
                <a:latin typeface="Arial Black" panose="020B0A04020102020204" pitchFamily="34" charset="0"/>
              </a:rPr>
              <a:t>; for regression, it predicts the </a:t>
            </a:r>
            <a:r>
              <a:rPr lang="en-US" b="1" i="0" dirty="0">
                <a:solidFill>
                  <a:srgbClr val="000000"/>
                </a:solidFill>
                <a:effectLst/>
                <a:latin typeface="Arial Black" panose="020B0A04020102020204" pitchFamily="34" charset="0"/>
              </a:rPr>
              <a:t>average value</a:t>
            </a:r>
            <a:r>
              <a:rPr lang="en-US" b="0" i="0" dirty="0">
                <a:solidFill>
                  <a:srgbClr val="000000"/>
                </a:solidFill>
                <a:effectLst/>
                <a:latin typeface="Arial Black" panose="020B0A04020102020204" pitchFamily="34" charset="0"/>
              </a:rPr>
              <a:t>. It’s used in </a:t>
            </a:r>
            <a:r>
              <a:rPr lang="en-US" b="1" i="0" dirty="0">
                <a:solidFill>
                  <a:srgbClr val="000000"/>
                </a:solidFill>
                <a:effectLst/>
                <a:latin typeface="Arial Black" panose="020B0A04020102020204" pitchFamily="34" charset="0"/>
              </a:rPr>
              <a:t>image recognition</a:t>
            </a:r>
            <a:r>
              <a:rPr lang="en-US" b="0" i="0" dirty="0">
                <a:solidFill>
                  <a:srgbClr val="000000"/>
                </a:solidFill>
                <a:effectLst/>
                <a:latin typeface="Arial Black" panose="020B0A04020102020204" pitchFamily="34" charset="0"/>
              </a:rPr>
              <a:t>, </a:t>
            </a:r>
            <a:r>
              <a:rPr lang="en-US" b="1" i="0" dirty="0">
                <a:solidFill>
                  <a:srgbClr val="000000"/>
                </a:solidFill>
                <a:effectLst/>
                <a:latin typeface="Arial Black" panose="020B0A04020102020204" pitchFamily="34" charset="0"/>
              </a:rPr>
              <a:t>spam filtering</a:t>
            </a:r>
            <a:r>
              <a:rPr lang="en-US" b="0" i="0" dirty="0">
                <a:solidFill>
                  <a:srgbClr val="000000"/>
                </a:solidFill>
                <a:effectLst/>
                <a:latin typeface="Arial Black" panose="020B0A04020102020204" pitchFamily="34" charset="0"/>
              </a:rPr>
              <a:t>, and </a:t>
            </a:r>
            <a:r>
              <a:rPr lang="en-US" b="1" i="0" dirty="0">
                <a:solidFill>
                  <a:srgbClr val="000000"/>
                </a:solidFill>
                <a:effectLst/>
                <a:latin typeface="Arial Black" panose="020B0A04020102020204" pitchFamily="34" charset="0"/>
              </a:rPr>
              <a:t>recommendation systems</a:t>
            </a:r>
            <a:r>
              <a:rPr lang="en-US" b="0" i="0" dirty="0">
                <a:solidFill>
                  <a:srgbClr val="000000"/>
                </a:solidFill>
                <a:effectLst/>
                <a:latin typeface="Arial Black" panose="020B0A04020102020204" pitchFamily="34" charset="0"/>
              </a:rPr>
              <a:t>.</a:t>
            </a:r>
          </a:p>
        </p:txBody>
      </p:sp>
    </p:spTree>
    <p:extLst>
      <p:ext uri="{BB962C8B-B14F-4D97-AF65-F5344CB8AC3E}">
        <p14:creationId xmlns:p14="http://schemas.microsoft.com/office/powerpoint/2010/main" val="2797524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5866E-5AAB-0543-98B2-5D3244826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90A18-0DBA-E388-8E33-EC58B23FF591}"/>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E2EAF370-8A1D-3B5B-3C72-248269958065}"/>
              </a:ext>
            </a:extLst>
          </p:cNvPr>
          <p:cNvSpPr txBox="1"/>
          <p:nvPr/>
        </p:nvSpPr>
        <p:spPr>
          <a:xfrm>
            <a:off x="824948" y="1516222"/>
            <a:ext cx="10237304" cy="923330"/>
          </a:xfrm>
          <a:prstGeom prst="rect">
            <a:avLst/>
          </a:prstGeom>
          <a:noFill/>
        </p:spPr>
        <p:txBody>
          <a:bodyPr wrap="square">
            <a:spAutoFit/>
          </a:bodyPr>
          <a:lstStyle/>
          <a:p>
            <a:pPr algn="just"/>
            <a:r>
              <a:rPr lang="en-US" dirty="0">
                <a:latin typeface="Arial Black" panose="020B0A04020102020204" pitchFamily="34" charset="0"/>
              </a:rPr>
              <a:t>The </a:t>
            </a:r>
            <a:r>
              <a:rPr lang="en-US" b="1" dirty="0">
                <a:latin typeface="Arial Black" panose="020B0A04020102020204" pitchFamily="34" charset="0"/>
              </a:rPr>
              <a:t>distance metrics</a:t>
            </a:r>
            <a:r>
              <a:rPr lang="en-US" dirty="0">
                <a:latin typeface="Arial Black" panose="020B0A04020102020204" pitchFamily="34" charset="0"/>
              </a:rPr>
              <a:t> are the mathematical backbone of KNN, and understanding them deeply helps students see why normalization and metric choice matter. </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7776F53A-7911-21E0-D132-DF0C824F678D}"/>
                  </a:ext>
                </a:extLst>
              </p:cNvPr>
              <p:cNvSpPr txBox="1"/>
              <p:nvPr/>
            </p:nvSpPr>
            <p:spPr>
              <a:xfrm>
                <a:off x="613741" y="2608574"/>
                <a:ext cx="4584424" cy="3865097"/>
              </a:xfrm>
              <a:prstGeom prst="rect">
                <a:avLst/>
              </a:prstGeom>
              <a:noFill/>
            </p:spPr>
            <p:txBody>
              <a:bodyPr wrap="square">
                <a:spAutoFit/>
              </a:bodyPr>
              <a:lstStyle/>
              <a:p>
                <a:pPr algn="just">
                  <a:buNone/>
                </a:pPr>
                <a:r>
                  <a:rPr lang="en-US" sz="1600" b="1" dirty="0">
                    <a:latin typeface="Arial Black" panose="020B0A04020102020204" pitchFamily="34" charset="0"/>
                  </a:rPr>
                  <a:t>1. </a:t>
                </a:r>
                <a:r>
                  <a:rPr lang="en-US" sz="1600" b="1" dirty="0">
                    <a:solidFill>
                      <a:srgbClr val="FF0000"/>
                    </a:solidFill>
                    <a:latin typeface="Arial Black" panose="020B0A04020102020204" pitchFamily="34" charset="0"/>
                  </a:rPr>
                  <a:t>Euclidean Distance</a:t>
                </a:r>
              </a:p>
              <a:p>
                <a:pPr marL="285750" indent="-285750" algn="just">
                  <a:buFont typeface="Arial" panose="020B0604020202020204" pitchFamily="34" charset="0"/>
                  <a:buChar char="•"/>
                </a:pPr>
                <a:r>
                  <a:rPr lang="en-US" sz="1600" dirty="0">
                    <a:effectLst/>
                    <a:latin typeface="Arial Black" panose="020B0A04020102020204" pitchFamily="34" charset="0"/>
                  </a:rPr>
                  <a:t>Formula:</a:t>
                </a:r>
                <a:endParaRPr lang="en-US" sz="1600" dirty="0">
                  <a:latin typeface="Arial Black" panose="020B0A04020102020204" pitchFamily="34" charset="0"/>
                </a:endParaRPr>
              </a:p>
              <a:p>
                <a:pPr algn="just">
                  <a:buNone/>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𝑑</m:t>
                      </m:r>
                      <m:d>
                        <m:dPr>
                          <m:sepChr m:val=","/>
                          <m:ctrlPr>
                            <a:rPr lang="en-US" sz="1600" i="1">
                              <a:latin typeface="Cambria Math" panose="02040503050406030204" pitchFamily="18" charset="0"/>
                            </a:rPr>
                          </m:ctrlPr>
                        </m:dPr>
                        <m:e>
                          <m:r>
                            <a:rPr lang="en-US" sz="1600" i="1">
                              <a:latin typeface="Cambria Math" panose="02040503050406030204" pitchFamily="18" charset="0"/>
                            </a:rPr>
                            <m:t>𝑝</m:t>
                          </m:r>
                        </m:e>
                        <m:e>
                          <m:r>
                            <a:rPr lang="en-US" sz="1600" i="1">
                              <a:latin typeface="Cambria Math" panose="02040503050406030204" pitchFamily="18" charset="0"/>
                            </a:rPr>
                            <m:t>𝑞</m:t>
                          </m:r>
                        </m:e>
                      </m:d>
                      <m:r>
                        <a:rPr lang="en-US" sz="1600" i="0">
                          <a:latin typeface="Cambria Math" panose="02040503050406030204" pitchFamily="18" charset="0"/>
                        </a:rPr>
                        <m:t>=</m:t>
                      </m:r>
                      <m:rad>
                        <m:radPr>
                          <m:degHide m:val="on"/>
                          <m:ctrlPr>
                            <a:rPr lang="en-US" sz="1600" i="1">
                              <a:latin typeface="Cambria Math" panose="02040503050406030204" pitchFamily="18" charset="0"/>
                            </a:rPr>
                          </m:ctrlPr>
                        </m:radPr>
                        <m:deg/>
                        <m:e>
                          <m:nary>
                            <m:naryPr>
                              <m:chr m:val="∑"/>
                              <m:grow m:val="on"/>
                              <m:ctrlPr>
                                <a:rPr lang="en-US" sz="1600" i="1">
                                  <a:latin typeface="Cambria Math" panose="02040503050406030204" pitchFamily="18" charset="0"/>
                                </a:rPr>
                              </m:ctrlPr>
                            </m:naryPr>
                            <m:sub>
                              <m:r>
                                <a:rPr lang="en-US" sz="1600" i="1">
                                  <a:latin typeface="Cambria Math" panose="02040503050406030204" pitchFamily="18" charset="0"/>
                                </a:rPr>
                                <m:t>𝑖</m:t>
                              </m:r>
                              <m:r>
                                <a:rPr lang="en-US" sz="1600" i="0">
                                  <a:latin typeface="Cambria Math" panose="02040503050406030204" pitchFamily="18" charset="0"/>
                                </a:rPr>
                                <m:t>=1</m:t>
                              </m:r>
                            </m:sub>
                            <m:sup>
                              <m:r>
                                <a:rPr lang="en-US" sz="1600" i="1">
                                  <a:latin typeface="Cambria Math" panose="02040503050406030204" pitchFamily="18" charset="0"/>
                                </a:rPr>
                                <m:t>𝑛</m:t>
                              </m:r>
                            </m:sup>
                            <m:e>
                              <m:r>
                                <a:rPr lang="en-US" sz="1600" i="0">
                                  <a:latin typeface="Cambria Math" panose="02040503050406030204" pitchFamily="18" charset="0"/>
                                </a:rPr>
                                <m:t>(</m:t>
                              </m:r>
                            </m:e>
                          </m:nary>
                          <m:d>
                            <m:dPr>
                              <m:begChr m:val=""/>
                              <m:endChr m:val=""/>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𝑖</m:t>
                                  </m:r>
                                </m:sub>
                              </m:sSub>
                              <m:r>
                                <a:rPr lang="en-US" sz="1600" i="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𝑞</m:t>
                                  </m:r>
                                </m:e>
                                <m:sub>
                                  <m:r>
                                    <a:rPr lang="en-US" sz="1600" i="1">
                                      <a:latin typeface="Cambria Math" panose="02040503050406030204" pitchFamily="18" charset="0"/>
                                    </a:rPr>
                                    <m:t>𝑖</m:t>
                                  </m:r>
                                </m:sub>
                              </m:sSub>
                              <m:sSup>
                                <m:sSupPr>
                                  <m:ctrlPr>
                                    <a:rPr lang="en-US" sz="1600" i="1">
                                      <a:latin typeface="Cambria Math" panose="02040503050406030204" pitchFamily="18" charset="0"/>
                                    </a:rPr>
                                  </m:ctrlPr>
                                </m:sSupPr>
                                <m:e>
                                  <m:d>
                                    <m:dPr>
                                      <m:begChr m:val=""/>
                                      <m:endChr m:val=""/>
                                      <m:ctrlPr>
                                        <a:rPr lang="en-US" sz="1600" i="1">
                                          <a:latin typeface="Cambria Math" panose="02040503050406030204" pitchFamily="18" charset="0"/>
                                        </a:rPr>
                                      </m:ctrlPr>
                                    </m:dPr>
                                    <m:e>
                                      <m:r>
                                        <a:rPr lang="en-US" sz="1600" i="0">
                                          <a:latin typeface="Cambria Math" panose="02040503050406030204" pitchFamily="18" charset="0"/>
                                        </a:rPr>
                                        <m:t>)</m:t>
                                      </m:r>
                                    </m:e>
                                  </m:d>
                                </m:e>
                                <m:sup>
                                  <m:r>
                                    <a:rPr lang="en-US" sz="1600" i="0">
                                      <a:latin typeface="Cambria Math" panose="02040503050406030204" pitchFamily="18" charset="0"/>
                                    </a:rPr>
                                    <m:t>2</m:t>
                                  </m:r>
                                </m:sup>
                              </m:sSup>
                            </m:e>
                          </m:d>
                        </m:e>
                      </m:rad>
                    </m:oMath>
                  </m:oMathPara>
                </a14:m>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Intuition: The “straight‑line” distance between two points in n‑dimensional space.</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Example: Between passengers with Age = 22, Fare = 35 and Age = 30, Fare = 40 → </a:t>
                </a:r>
                <a14:m>
                  <m:oMath xmlns:m="http://schemas.openxmlformats.org/officeDocument/2006/math">
                    <m:rad>
                      <m:radPr>
                        <m:degHide m:val="on"/>
                        <m:ctrlPr>
                          <a:rPr lang="en-US" sz="1600" i="1">
                            <a:latin typeface="Cambria Math" panose="02040503050406030204" pitchFamily="18" charset="0"/>
                          </a:rPr>
                        </m:ctrlPr>
                      </m:radPr>
                      <m:deg/>
                      <m:e>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r>
                                  <a:rPr lang="en-US" sz="1600" i="0">
                                    <a:latin typeface="Cambria Math" panose="02040503050406030204" pitchFamily="18" charset="0"/>
                                  </a:rPr>
                                  <m:t>22−30</m:t>
                                </m:r>
                              </m:e>
                            </m:d>
                          </m:e>
                          <m:sup>
                            <m:r>
                              <a:rPr lang="en-US" sz="1600" i="0">
                                <a:latin typeface="Cambria Math" panose="02040503050406030204" pitchFamily="18" charset="0"/>
                              </a:rPr>
                              <m:t>2</m:t>
                            </m:r>
                          </m:sup>
                        </m:sSup>
                        <m:r>
                          <a:rPr lang="en-US" sz="1600" i="0">
                            <a:latin typeface="Cambria Math" panose="02040503050406030204" pitchFamily="18" charset="0"/>
                          </a:rPr>
                          <m:t>+</m:t>
                        </m:r>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r>
                                  <a:rPr lang="en-US" sz="1600" i="0">
                                    <a:latin typeface="Cambria Math" panose="02040503050406030204" pitchFamily="18" charset="0"/>
                                  </a:rPr>
                                  <m:t>35−40</m:t>
                                </m:r>
                              </m:e>
                            </m:d>
                          </m:e>
                          <m:sup>
                            <m:r>
                              <a:rPr lang="en-US" sz="1600" i="0">
                                <a:latin typeface="Cambria Math" panose="02040503050406030204" pitchFamily="18" charset="0"/>
                              </a:rPr>
                              <m:t>2</m:t>
                            </m:r>
                          </m:sup>
                        </m:sSup>
                      </m:e>
                    </m:rad>
                    <m:r>
                      <a:rPr lang="en-US" sz="1600" i="0">
                        <a:latin typeface="Cambria Math" panose="02040503050406030204" pitchFamily="18" charset="0"/>
                      </a:rPr>
                      <m:t>=</m:t>
                    </m:r>
                    <m:rad>
                      <m:radPr>
                        <m:degHide m:val="on"/>
                        <m:ctrlPr>
                          <a:rPr lang="en-US" sz="1600" i="1">
                            <a:latin typeface="Cambria Math" panose="02040503050406030204" pitchFamily="18" charset="0"/>
                          </a:rPr>
                        </m:ctrlPr>
                      </m:radPr>
                      <m:deg/>
                      <m:e>
                        <m:r>
                          <a:rPr lang="en-US" sz="1600" i="0">
                            <a:latin typeface="Cambria Math" panose="02040503050406030204" pitchFamily="18" charset="0"/>
                          </a:rPr>
                          <m:t>64+25</m:t>
                        </m:r>
                      </m:e>
                    </m:rad>
                    <m:r>
                      <a:rPr lang="en-US" sz="1600" i="0">
                        <a:latin typeface="Cambria Math" panose="02040503050406030204" pitchFamily="18" charset="0"/>
                      </a:rPr>
                      <m:t>=</m:t>
                    </m:r>
                    <m:rad>
                      <m:radPr>
                        <m:degHide m:val="on"/>
                        <m:ctrlPr>
                          <a:rPr lang="en-US" sz="1600" i="1">
                            <a:latin typeface="Cambria Math" panose="02040503050406030204" pitchFamily="18" charset="0"/>
                          </a:rPr>
                        </m:ctrlPr>
                      </m:radPr>
                      <m:deg/>
                      <m:e>
                        <m:r>
                          <a:rPr lang="en-US" sz="1600" i="0">
                            <a:latin typeface="Cambria Math" panose="02040503050406030204" pitchFamily="18" charset="0"/>
                          </a:rPr>
                          <m:t>89</m:t>
                        </m:r>
                      </m:e>
                    </m:rad>
                    <m:r>
                      <a:rPr lang="en-US" sz="1600" i="0">
                        <a:latin typeface="Cambria Math" panose="02040503050406030204" pitchFamily="18" charset="0"/>
                      </a:rPr>
                      <m:t>≈9.43</m:t>
                    </m:r>
                  </m:oMath>
                </a14:m>
                <a:r>
                  <a:rPr lang="en-US" sz="1600" dirty="0">
                    <a:effectLst/>
                    <a:latin typeface="Arial Black" panose="020B0A04020102020204" pitchFamily="34" charset="0"/>
                  </a:rPr>
                  <a:t>.</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b="1" dirty="0">
                    <a:effectLst/>
                    <a:latin typeface="Arial Black" panose="020B0A04020102020204" pitchFamily="34" charset="0"/>
                  </a:rPr>
                  <a:t>Use case:</a:t>
                </a:r>
                <a:r>
                  <a:rPr lang="en-US" sz="1600" dirty="0">
                    <a:effectLst/>
                    <a:latin typeface="Arial Black" panose="020B0A04020102020204" pitchFamily="34" charset="0"/>
                  </a:rPr>
                  <a:t> Works well when features are continuous and scaled.</a:t>
                </a:r>
                <a:endParaRPr lang="en-US" sz="1600" dirty="0">
                  <a:latin typeface="Arial Black" panose="020B0A04020102020204" pitchFamily="34" charset="0"/>
                </a:endParaRPr>
              </a:p>
            </p:txBody>
          </p:sp>
        </mc:Choice>
        <mc:Fallback>
          <p:sp>
            <p:nvSpPr>
              <p:cNvPr id="7" name="TextBox 6">
                <a:extLst>
                  <a:ext uri="{FF2B5EF4-FFF2-40B4-BE49-F238E27FC236}">
                    <a16:creationId xmlns:a16="http://schemas.microsoft.com/office/drawing/2014/main" id="{7776F53A-7911-21E0-D132-DF0C824F678D}"/>
                  </a:ext>
                </a:extLst>
              </p:cNvPr>
              <p:cNvSpPr txBox="1">
                <a:spLocks noRot="1" noChangeAspect="1" noMove="1" noResize="1" noEditPoints="1" noAdjustHandles="1" noChangeArrowheads="1" noChangeShapeType="1" noTextEdit="1"/>
              </p:cNvSpPr>
              <p:nvPr/>
            </p:nvSpPr>
            <p:spPr>
              <a:xfrm>
                <a:off x="613741" y="2608574"/>
                <a:ext cx="4584424" cy="3865097"/>
              </a:xfrm>
              <a:prstGeom prst="rect">
                <a:avLst/>
              </a:prstGeom>
              <a:blipFill>
                <a:blip r:embed="rId2"/>
                <a:stretch>
                  <a:fillRect l="-798" t="-473" r="-665" b="-3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F24D5DC-717E-8C92-62C9-585E00B33785}"/>
                  </a:ext>
                </a:extLst>
              </p:cNvPr>
              <p:cNvSpPr txBox="1"/>
              <p:nvPr/>
            </p:nvSpPr>
            <p:spPr>
              <a:xfrm>
                <a:off x="6020628" y="2608574"/>
                <a:ext cx="5111198" cy="2980496"/>
              </a:xfrm>
              <a:prstGeom prst="rect">
                <a:avLst/>
              </a:prstGeom>
              <a:noFill/>
            </p:spPr>
            <p:txBody>
              <a:bodyPr wrap="square">
                <a:spAutoFit/>
              </a:bodyPr>
              <a:lstStyle/>
              <a:p>
                <a:pPr>
                  <a:buNone/>
                </a:pPr>
                <a:r>
                  <a:rPr lang="en-US" sz="1600" b="1" dirty="0">
                    <a:latin typeface="Arial Black" panose="020B0A04020102020204" pitchFamily="34" charset="0"/>
                  </a:rPr>
                  <a:t>2. </a:t>
                </a:r>
                <a:r>
                  <a:rPr lang="en-US" sz="1600" b="1" dirty="0">
                    <a:solidFill>
                      <a:srgbClr val="FF0000"/>
                    </a:solidFill>
                    <a:latin typeface="Arial Black" panose="020B0A04020102020204" pitchFamily="34" charset="0"/>
                  </a:rPr>
                  <a:t>Manhattan Distance</a:t>
                </a:r>
              </a:p>
              <a:p>
                <a:pPr marL="285750" indent="-285750">
                  <a:buFont typeface="Arial" panose="020B0604020202020204" pitchFamily="34" charset="0"/>
                  <a:buChar char="•"/>
                </a:pPr>
                <a:r>
                  <a:rPr lang="en-US" sz="1600" dirty="0">
                    <a:effectLst/>
                    <a:latin typeface="Arial Black" panose="020B0A04020102020204" pitchFamily="34" charset="0"/>
                  </a:rPr>
                  <a:t>Formula:</a:t>
                </a:r>
                <a:endParaRPr lang="en-US" sz="1600" dirty="0">
                  <a:latin typeface="Arial Black" panose="020B0A04020102020204" pitchFamily="34" charset="0"/>
                </a:endParaRPr>
              </a:p>
              <a:p>
                <a:pPr>
                  <a:buNone/>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𝑑</m:t>
                      </m:r>
                      <m:d>
                        <m:dPr>
                          <m:sepChr m:val=","/>
                          <m:ctrlPr>
                            <a:rPr lang="en-US" sz="1600" i="1">
                              <a:latin typeface="Cambria Math" panose="02040503050406030204" pitchFamily="18" charset="0"/>
                            </a:rPr>
                          </m:ctrlPr>
                        </m:dPr>
                        <m:e>
                          <m:r>
                            <a:rPr lang="en-US" sz="1600" i="1">
                              <a:latin typeface="Cambria Math" panose="02040503050406030204" pitchFamily="18" charset="0"/>
                            </a:rPr>
                            <m:t>𝑝</m:t>
                          </m:r>
                        </m:e>
                        <m:e>
                          <m:r>
                            <a:rPr lang="en-US" sz="1600" i="1">
                              <a:latin typeface="Cambria Math" panose="02040503050406030204" pitchFamily="18" charset="0"/>
                            </a:rPr>
                            <m:t>𝑞</m:t>
                          </m:r>
                        </m:e>
                      </m:d>
                      <m:r>
                        <a:rPr lang="en-US" sz="1600" i="0">
                          <a:latin typeface="Cambria Math" panose="02040503050406030204" pitchFamily="18" charset="0"/>
                        </a:rPr>
                        <m:t>=</m:t>
                      </m:r>
                      <m:nary>
                        <m:naryPr>
                          <m:chr m:val="∑"/>
                          <m:grow m:val="on"/>
                          <m:ctrlPr>
                            <a:rPr lang="en-US" sz="1600" i="1">
                              <a:latin typeface="Cambria Math" panose="02040503050406030204" pitchFamily="18" charset="0"/>
                            </a:rPr>
                          </m:ctrlPr>
                        </m:naryPr>
                        <m:sub>
                          <m:r>
                            <a:rPr lang="en-US" sz="1600" i="1">
                              <a:latin typeface="Cambria Math" panose="02040503050406030204" pitchFamily="18" charset="0"/>
                            </a:rPr>
                            <m:t>𝑖</m:t>
                          </m:r>
                          <m:r>
                            <a:rPr lang="en-US" sz="1600" i="0">
                              <a:latin typeface="Cambria Math" panose="02040503050406030204" pitchFamily="18" charset="0"/>
                            </a:rPr>
                            <m:t>=1</m:t>
                          </m:r>
                        </m:sub>
                        <m:sup>
                          <m:r>
                            <a:rPr lang="en-US" sz="1600" i="1">
                              <a:latin typeface="Cambria Math" panose="02040503050406030204" pitchFamily="18" charset="0"/>
                            </a:rPr>
                            <m:t>𝑛</m:t>
                          </m:r>
                        </m:sup>
                        <m:e>
                          <m:r>
                            <a:rPr lang="en-US" sz="1600" i="0">
                              <a:latin typeface="Cambria Math" panose="02040503050406030204" pitchFamily="18" charset="0"/>
                            </a:rPr>
                            <m:t>∣</m:t>
                          </m:r>
                        </m:e>
                      </m:nary>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𝑖</m:t>
                          </m:r>
                        </m:sub>
                      </m:sSub>
                      <m:r>
                        <a:rPr lang="en-US" sz="1600" i="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𝑞</m:t>
                          </m:r>
                        </m:e>
                        <m:sub>
                          <m:r>
                            <a:rPr lang="en-US" sz="1600" i="1">
                              <a:latin typeface="Cambria Math" panose="02040503050406030204" pitchFamily="18" charset="0"/>
                            </a:rPr>
                            <m:t>𝑖</m:t>
                          </m:r>
                        </m:sub>
                      </m:sSub>
                      <m:r>
                        <a:rPr lang="en-US" sz="1600" i="0">
                          <a:latin typeface="Cambria Math" panose="02040503050406030204" pitchFamily="18" charset="0"/>
                        </a:rPr>
                        <m:t>∣</m:t>
                      </m:r>
                    </m:oMath>
                  </m:oMathPara>
                </a14:m>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Intuition: The “city block” or “taxicab” distance — moving along grid lines.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Example: Same passengers → </a:t>
                </a:r>
                <a14:m>
                  <m:oMath xmlns:m="http://schemas.openxmlformats.org/officeDocument/2006/math">
                    <m:r>
                      <a:rPr lang="en-US" sz="1600">
                        <a:latin typeface="Cambria Math" panose="02040503050406030204" pitchFamily="18" charset="0"/>
                      </a:rPr>
                      <m:t>∣</m:t>
                    </m:r>
                    <m:r>
                      <a:rPr lang="en-US" sz="1600" i="0">
                        <a:latin typeface="Cambria Math" panose="02040503050406030204" pitchFamily="18" charset="0"/>
                      </a:rPr>
                      <m:t>22−30∣+∣35−40∣=8+5=13</m:t>
                    </m:r>
                  </m:oMath>
                </a14:m>
                <a:r>
                  <a:rPr lang="en-US" sz="1600" dirty="0">
                    <a:effectLst/>
                    <a:latin typeface="Arial Black" panose="020B0A04020102020204" pitchFamily="34" charset="0"/>
                  </a:rPr>
                  <a:t>.</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Use case:</a:t>
                </a:r>
                <a:r>
                  <a:rPr lang="en-US" sz="1600" dirty="0">
                    <a:effectLst/>
                    <a:latin typeface="Arial Black" panose="020B0A04020102020204" pitchFamily="34" charset="0"/>
                  </a:rPr>
                  <a:t> Useful when features are categorical or when movement is constrained to orthogonal directions.</a:t>
                </a:r>
                <a:endParaRPr lang="en-US" sz="1600" dirty="0">
                  <a:latin typeface="Arial Black" panose="020B0A04020102020204" pitchFamily="34" charset="0"/>
                </a:endParaRPr>
              </a:p>
            </p:txBody>
          </p:sp>
        </mc:Choice>
        <mc:Fallback>
          <p:sp>
            <p:nvSpPr>
              <p:cNvPr id="9" name="TextBox 8">
                <a:extLst>
                  <a:ext uri="{FF2B5EF4-FFF2-40B4-BE49-F238E27FC236}">
                    <a16:creationId xmlns:a16="http://schemas.microsoft.com/office/drawing/2014/main" id="{7F24D5DC-717E-8C92-62C9-585E00B33785}"/>
                  </a:ext>
                </a:extLst>
              </p:cNvPr>
              <p:cNvSpPr txBox="1">
                <a:spLocks noRot="1" noChangeAspect="1" noMove="1" noResize="1" noEditPoints="1" noAdjustHandles="1" noChangeArrowheads="1" noChangeShapeType="1" noTextEdit="1"/>
              </p:cNvSpPr>
              <p:nvPr/>
            </p:nvSpPr>
            <p:spPr>
              <a:xfrm>
                <a:off x="6020628" y="2608574"/>
                <a:ext cx="5111198" cy="2980496"/>
              </a:xfrm>
              <a:prstGeom prst="rect">
                <a:avLst/>
              </a:prstGeom>
              <a:blipFill>
                <a:blip r:embed="rId3"/>
                <a:stretch>
                  <a:fillRect l="-716" t="-613" b="-1636"/>
                </a:stretch>
              </a:blipFill>
            </p:spPr>
            <p:txBody>
              <a:bodyPr/>
              <a:lstStyle/>
              <a:p>
                <a:r>
                  <a:rPr lang="en-US">
                    <a:noFill/>
                  </a:rPr>
                  <a:t> </a:t>
                </a:r>
              </a:p>
            </p:txBody>
          </p:sp>
        </mc:Fallback>
      </mc:AlternateContent>
    </p:spTree>
    <p:extLst>
      <p:ext uri="{BB962C8B-B14F-4D97-AF65-F5344CB8AC3E}">
        <p14:creationId xmlns:p14="http://schemas.microsoft.com/office/powerpoint/2010/main" val="7198103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5F4CB-EE95-3904-7F71-BBD51E095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2CE91D-3150-4163-AC01-BF3F922FEC61}"/>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395CC707-E228-2841-8C07-054AB8493851}"/>
              </a:ext>
            </a:extLst>
          </p:cNvPr>
          <p:cNvSpPr txBox="1"/>
          <p:nvPr/>
        </p:nvSpPr>
        <p:spPr>
          <a:xfrm>
            <a:off x="824948" y="1516222"/>
            <a:ext cx="10237304" cy="923330"/>
          </a:xfrm>
          <a:prstGeom prst="rect">
            <a:avLst/>
          </a:prstGeom>
          <a:noFill/>
        </p:spPr>
        <p:txBody>
          <a:bodyPr wrap="square">
            <a:spAutoFit/>
          </a:bodyPr>
          <a:lstStyle/>
          <a:p>
            <a:pPr algn="just"/>
            <a:r>
              <a:rPr lang="en-US" dirty="0">
                <a:latin typeface="Arial Black" panose="020B0A04020102020204" pitchFamily="34" charset="0"/>
              </a:rPr>
              <a:t>The </a:t>
            </a:r>
            <a:r>
              <a:rPr lang="en-US" b="1" dirty="0">
                <a:latin typeface="Arial Black" panose="020B0A04020102020204" pitchFamily="34" charset="0"/>
              </a:rPr>
              <a:t>distance metrics</a:t>
            </a:r>
            <a:r>
              <a:rPr lang="en-US" dirty="0">
                <a:latin typeface="Arial Black" panose="020B0A04020102020204" pitchFamily="34" charset="0"/>
              </a:rPr>
              <a:t> are the mathematical backbone of KNN, and understanding them deeply helps students see why normalization and metric choice matter. </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F42DCDD-1B9F-AE86-6EDB-DFBDE57EFC25}"/>
                  </a:ext>
                </a:extLst>
              </p:cNvPr>
              <p:cNvSpPr txBox="1"/>
              <p:nvPr/>
            </p:nvSpPr>
            <p:spPr>
              <a:xfrm>
                <a:off x="735496" y="2805555"/>
                <a:ext cx="5764696" cy="3531480"/>
              </a:xfrm>
              <a:prstGeom prst="rect">
                <a:avLst/>
              </a:prstGeom>
              <a:noFill/>
            </p:spPr>
            <p:txBody>
              <a:bodyPr wrap="square">
                <a:spAutoFit/>
              </a:bodyPr>
              <a:lstStyle/>
              <a:p>
                <a:pPr>
                  <a:buNone/>
                </a:pPr>
                <a:r>
                  <a:rPr lang="en-US" sz="1600" b="1" dirty="0">
                    <a:solidFill>
                      <a:srgbClr val="FF0000"/>
                    </a:solidFill>
                    <a:latin typeface="Arial Black" panose="020B0A04020102020204" pitchFamily="34" charset="0"/>
                  </a:rPr>
                  <a:t>3. Minkowski Distance</a:t>
                </a:r>
              </a:p>
              <a:p>
                <a:pPr>
                  <a:buNone/>
                </a:pPr>
                <a:endParaRPr lang="en-US" sz="1600" b="1"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Generalized formula:</a:t>
                </a:r>
                <a:endParaRPr lang="en-US" sz="1600" dirty="0">
                  <a:latin typeface="Arial Black" panose="020B0A04020102020204" pitchFamily="34" charset="0"/>
                </a:endParaRPr>
              </a:p>
              <a:p>
                <a:pPr>
                  <a:buNone/>
                </a:pPr>
                <a14:m>
                  <m:oMathPara xmlns:m="http://schemas.openxmlformats.org/officeDocument/2006/math">
                    <m:oMathParaPr>
                      <m:jc m:val="centerGroup"/>
                    </m:oMathParaPr>
                    <m:oMath xmlns:m="http://schemas.openxmlformats.org/officeDocument/2006/math">
                      <m:r>
                        <a:rPr lang="en-US" sz="1600" i="1">
                          <a:latin typeface="Cambria Math" panose="02040503050406030204" pitchFamily="18" charset="0"/>
                        </a:rPr>
                        <m:t>𝑑</m:t>
                      </m:r>
                      <m:d>
                        <m:dPr>
                          <m:sepChr m:val=","/>
                          <m:ctrlPr>
                            <a:rPr lang="en-US" sz="1600" i="1">
                              <a:latin typeface="Cambria Math" panose="02040503050406030204" pitchFamily="18" charset="0"/>
                            </a:rPr>
                          </m:ctrlPr>
                        </m:dPr>
                        <m:e>
                          <m:r>
                            <a:rPr lang="en-US" sz="1600" i="1">
                              <a:latin typeface="Cambria Math" panose="02040503050406030204" pitchFamily="18" charset="0"/>
                            </a:rPr>
                            <m:t>𝑝</m:t>
                          </m:r>
                        </m:e>
                        <m:e>
                          <m:r>
                            <a:rPr lang="en-US" sz="1600" i="1">
                              <a:latin typeface="Cambria Math" panose="02040503050406030204" pitchFamily="18" charset="0"/>
                            </a:rPr>
                            <m:t>𝑞</m:t>
                          </m:r>
                        </m:e>
                      </m:d>
                      <m:r>
                        <a:rPr lang="en-US" sz="1600" i="0">
                          <a:latin typeface="Cambria Math" panose="02040503050406030204" pitchFamily="18" charset="0"/>
                        </a:rPr>
                        <m:t>=</m:t>
                      </m:r>
                      <m:sSup>
                        <m:sSupPr>
                          <m:ctrlPr>
                            <a:rPr lang="en-US" sz="1600" i="1">
                              <a:latin typeface="Cambria Math" panose="02040503050406030204" pitchFamily="18" charset="0"/>
                            </a:rPr>
                          </m:ctrlPr>
                        </m:sSupPr>
                        <m:e>
                          <m:d>
                            <m:dPr>
                              <m:ctrlPr>
                                <a:rPr lang="en-US" sz="1600" i="1">
                                  <a:latin typeface="Cambria Math" panose="02040503050406030204" pitchFamily="18" charset="0"/>
                                </a:rPr>
                              </m:ctrlPr>
                            </m:dPr>
                            <m:e>
                              <m:nary>
                                <m:naryPr>
                                  <m:chr m:val="∑"/>
                                  <m:grow m:val="on"/>
                                  <m:ctrlPr>
                                    <a:rPr lang="en-US" sz="1600" i="1">
                                      <a:latin typeface="Cambria Math" panose="02040503050406030204" pitchFamily="18" charset="0"/>
                                    </a:rPr>
                                  </m:ctrlPr>
                                </m:naryPr>
                                <m:sub>
                                  <m:r>
                                    <a:rPr lang="en-US" sz="1600" i="1">
                                      <a:latin typeface="Cambria Math" panose="02040503050406030204" pitchFamily="18" charset="0"/>
                                    </a:rPr>
                                    <m:t>𝑖</m:t>
                                  </m:r>
                                  <m:r>
                                    <a:rPr lang="en-US" sz="1600" i="0">
                                      <a:latin typeface="Cambria Math" panose="02040503050406030204" pitchFamily="18" charset="0"/>
                                    </a:rPr>
                                    <m:t>=1</m:t>
                                  </m:r>
                                </m:sub>
                                <m:sup>
                                  <m:r>
                                    <a:rPr lang="en-US" sz="1600" i="1">
                                      <a:latin typeface="Cambria Math" panose="02040503050406030204" pitchFamily="18" charset="0"/>
                                    </a:rPr>
                                    <m:t>𝑛</m:t>
                                  </m:r>
                                </m:sup>
                                <m:e>
                                  <m:r>
                                    <a:rPr lang="en-US" sz="1600" i="0">
                                      <a:latin typeface="Cambria Math" panose="02040503050406030204" pitchFamily="18" charset="0"/>
                                    </a:rPr>
                                    <m:t>∣</m:t>
                                  </m:r>
                                </m:e>
                              </m:nary>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𝑖</m:t>
                                  </m:r>
                                </m:sub>
                              </m:sSub>
                              <m:r>
                                <a:rPr lang="en-US" sz="1600" i="0">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𝑞</m:t>
                                  </m:r>
                                </m:e>
                                <m:sub>
                                  <m:r>
                                    <a:rPr lang="en-US" sz="1600" i="1">
                                      <a:latin typeface="Cambria Math" panose="02040503050406030204" pitchFamily="18" charset="0"/>
                                    </a:rPr>
                                    <m:t>𝑖</m:t>
                                  </m:r>
                                </m:sub>
                              </m:sSub>
                              <m:sSup>
                                <m:sSupPr>
                                  <m:ctrlPr>
                                    <a:rPr lang="en-US" sz="1600" i="1">
                                      <a:latin typeface="Cambria Math" panose="02040503050406030204" pitchFamily="18" charset="0"/>
                                    </a:rPr>
                                  </m:ctrlPr>
                                </m:sSupPr>
                                <m:e>
                                  <m:r>
                                    <a:rPr lang="en-US" sz="1600" i="0">
                                      <a:latin typeface="Cambria Math" panose="02040503050406030204" pitchFamily="18" charset="0"/>
                                    </a:rPr>
                                    <m:t>∣</m:t>
                                  </m:r>
                                </m:e>
                                <m:sup>
                                  <m:r>
                                    <a:rPr lang="en-US" sz="1600" i="1">
                                      <a:latin typeface="Cambria Math" panose="02040503050406030204" pitchFamily="18" charset="0"/>
                                    </a:rPr>
                                    <m:t>𝑝</m:t>
                                  </m:r>
                                </m:sup>
                              </m:sSup>
                            </m:e>
                          </m:d>
                        </m:e>
                        <m:sup>
                          <m:r>
                            <a:rPr lang="en-US" sz="1600" i="0">
                              <a:latin typeface="Cambria Math" panose="02040503050406030204" pitchFamily="18" charset="0"/>
                            </a:rPr>
                            <m:t>1/</m:t>
                          </m:r>
                          <m:r>
                            <a:rPr lang="en-US" sz="1600" i="1">
                              <a:latin typeface="Cambria Math" panose="02040503050406030204" pitchFamily="18" charset="0"/>
                            </a:rPr>
                            <m:t>𝑝</m:t>
                          </m:r>
                        </m:sup>
                      </m:sSup>
                    </m:oMath>
                  </m:oMathPara>
                </a14:m>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Intuition: A flexible family of distances.</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If </a:t>
                </a:r>
                <a14:m>
                  <m:oMath xmlns:m="http://schemas.openxmlformats.org/officeDocument/2006/math">
                    <m:r>
                      <a:rPr lang="en-US" sz="1600" i="1">
                        <a:latin typeface="Cambria Math" panose="02040503050406030204" pitchFamily="18" charset="0"/>
                      </a:rPr>
                      <m:t>𝑝</m:t>
                    </m:r>
                    <m:r>
                      <a:rPr lang="en-US" sz="1600" i="0">
                        <a:latin typeface="Cambria Math" panose="02040503050406030204" pitchFamily="18" charset="0"/>
                      </a:rPr>
                      <m:t>=1</m:t>
                    </m:r>
                  </m:oMath>
                </a14:m>
                <a:r>
                  <a:rPr lang="en-US" sz="1600" dirty="0">
                    <a:effectLst/>
                    <a:latin typeface="Arial Black" panose="020B0A04020102020204" pitchFamily="34" charset="0"/>
                  </a:rPr>
                  <a:t>→ Manhattan distance.</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If </a:t>
                </a:r>
                <a14:m>
                  <m:oMath xmlns:m="http://schemas.openxmlformats.org/officeDocument/2006/math">
                    <m:r>
                      <a:rPr lang="en-US" sz="1600" i="1">
                        <a:latin typeface="Cambria Math" panose="02040503050406030204" pitchFamily="18" charset="0"/>
                      </a:rPr>
                      <m:t>𝑝</m:t>
                    </m:r>
                    <m:r>
                      <a:rPr lang="en-US" sz="1600" i="0">
                        <a:latin typeface="Cambria Math" panose="02040503050406030204" pitchFamily="18" charset="0"/>
                      </a:rPr>
                      <m:t>=2</m:t>
                    </m:r>
                  </m:oMath>
                </a14:m>
                <a:r>
                  <a:rPr lang="en-US" sz="1600" dirty="0">
                    <a:effectLst/>
                    <a:latin typeface="Arial Black" panose="020B0A04020102020204" pitchFamily="34" charset="0"/>
                  </a:rPr>
                  <a:t>→ Euclidean distance.</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Higher </a:t>
                </a:r>
                <a14:m>
                  <m:oMath xmlns:m="http://schemas.openxmlformats.org/officeDocument/2006/math">
                    <m:r>
                      <a:rPr lang="en-US" sz="1600" i="1">
                        <a:latin typeface="Cambria Math" panose="02040503050406030204" pitchFamily="18" charset="0"/>
                      </a:rPr>
                      <m:t>𝑝</m:t>
                    </m:r>
                  </m:oMath>
                </a14:m>
                <a:r>
                  <a:rPr lang="en-US" sz="1600" dirty="0">
                    <a:effectLst/>
                    <a:latin typeface="Arial Black" panose="020B0A04020102020204" pitchFamily="34" charset="0"/>
                  </a:rPr>
                  <a:t>values emphasize larger differences more strongly.</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Use case:</a:t>
                </a:r>
                <a:r>
                  <a:rPr lang="en-US" sz="1600" dirty="0">
                    <a:effectLst/>
                    <a:latin typeface="Arial Black" panose="020B0A04020102020204" pitchFamily="34" charset="0"/>
                  </a:rPr>
                  <a:t> Allows tuning sensitivity to feature differences depending on dataset characteristics.</a:t>
                </a:r>
                <a:endParaRPr lang="en-US" sz="1600" dirty="0">
                  <a:latin typeface="Arial Black" panose="020B0A04020102020204" pitchFamily="34" charset="0"/>
                </a:endParaRPr>
              </a:p>
            </p:txBody>
          </p:sp>
        </mc:Choice>
        <mc:Fallback>
          <p:sp>
            <p:nvSpPr>
              <p:cNvPr id="4" name="TextBox 3">
                <a:extLst>
                  <a:ext uri="{FF2B5EF4-FFF2-40B4-BE49-F238E27FC236}">
                    <a16:creationId xmlns:a16="http://schemas.microsoft.com/office/drawing/2014/main" id="{9F42DCDD-1B9F-AE86-6EDB-DFBDE57EFC25}"/>
                  </a:ext>
                </a:extLst>
              </p:cNvPr>
              <p:cNvSpPr txBox="1">
                <a:spLocks noRot="1" noChangeAspect="1" noMove="1" noResize="1" noEditPoints="1" noAdjustHandles="1" noChangeArrowheads="1" noChangeShapeType="1" noTextEdit="1"/>
              </p:cNvSpPr>
              <p:nvPr/>
            </p:nvSpPr>
            <p:spPr>
              <a:xfrm>
                <a:off x="735496" y="2805555"/>
                <a:ext cx="5764696" cy="3531480"/>
              </a:xfrm>
              <a:prstGeom prst="rect">
                <a:avLst/>
              </a:prstGeom>
              <a:blipFill>
                <a:blip r:embed="rId2"/>
                <a:stretch>
                  <a:fillRect l="-635" t="-517" b="-1207"/>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1781DAB4-4E0C-F9FB-ECAA-A89D6E33F38E}"/>
              </a:ext>
            </a:extLst>
          </p:cNvPr>
          <p:cNvSpPr txBox="1"/>
          <p:nvPr/>
        </p:nvSpPr>
        <p:spPr>
          <a:xfrm>
            <a:off x="6484455" y="2805555"/>
            <a:ext cx="4902476" cy="2800767"/>
          </a:xfrm>
          <a:prstGeom prst="rect">
            <a:avLst/>
          </a:prstGeom>
          <a:noFill/>
        </p:spPr>
        <p:txBody>
          <a:bodyPr wrap="square">
            <a:spAutoFit/>
          </a:bodyPr>
          <a:lstStyle/>
          <a:p>
            <a:pPr>
              <a:buNone/>
            </a:pPr>
            <a:r>
              <a:rPr lang="en-US" sz="1600" dirty="0">
                <a:solidFill>
                  <a:srgbClr val="FF0000"/>
                </a:solidFill>
                <a:effectLst/>
                <a:latin typeface="Arial Black" panose="020B0A04020102020204" pitchFamily="34" charset="0"/>
              </a:rPr>
              <a:t>If you classify survival based on Age and Fare for The Titanic problem:</a:t>
            </a:r>
          </a:p>
          <a:p>
            <a:pPr>
              <a:buNone/>
            </a:pPr>
            <a:endParaRPr lang="en-US" sz="1600"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Euclidean favors smooth circular boundaries.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Manhattan creates sharper, grid‑like boundaries.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Minkowski lets you adjust between the two extremes.</a:t>
            </a:r>
            <a:endParaRPr lang="en-US" sz="1600" dirty="0">
              <a:latin typeface="Arial Black" panose="020B0A04020102020204" pitchFamily="34" charset="0"/>
            </a:endParaRPr>
          </a:p>
          <a:p>
            <a:pPr>
              <a:buNone/>
            </a:pPr>
            <a:r>
              <a:rPr lang="en-US" sz="1600" dirty="0">
                <a:effectLst/>
                <a:latin typeface="Arial Black" panose="020B0A04020102020204" pitchFamily="34" charset="0"/>
              </a:rPr>
              <a:t>This shows why </a:t>
            </a:r>
            <a:r>
              <a:rPr lang="en-US" sz="1600" b="1" dirty="0">
                <a:effectLst/>
                <a:latin typeface="Arial Black" panose="020B0A04020102020204" pitchFamily="34" charset="0"/>
              </a:rPr>
              <a:t>choosing the right metric</a:t>
            </a:r>
            <a:r>
              <a:rPr lang="en-US" sz="1600" dirty="0">
                <a:effectLst/>
                <a:latin typeface="Arial Black" panose="020B0A04020102020204" pitchFamily="34" charset="0"/>
              </a:rPr>
              <a:t> is critical for accuracy.</a:t>
            </a:r>
            <a:endParaRPr lang="en-US" sz="1600" dirty="0">
              <a:latin typeface="Arial Black" panose="020B0A04020102020204" pitchFamily="34" charset="0"/>
            </a:endParaRPr>
          </a:p>
        </p:txBody>
      </p:sp>
    </p:spTree>
    <p:extLst>
      <p:ext uri="{BB962C8B-B14F-4D97-AF65-F5344CB8AC3E}">
        <p14:creationId xmlns:p14="http://schemas.microsoft.com/office/powerpoint/2010/main" val="32992147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B8AED-C4A5-27AE-A31D-1B87E1C25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71600-4F09-5CA8-DA93-2B94C7CE571B}"/>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6" name="TextBox 5">
            <a:extLst>
              <a:ext uri="{FF2B5EF4-FFF2-40B4-BE49-F238E27FC236}">
                <a16:creationId xmlns:a16="http://schemas.microsoft.com/office/drawing/2014/main" id="{FB6C11AC-6802-A9FD-6FA7-ABE954D8E3CF}"/>
              </a:ext>
            </a:extLst>
          </p:cNvPr>
          <p:cNvSpPr txBox="1"/>
          <p:nvPr/>
        </p:nvSpPr>
        <p:spPr>
          <a:xfrm>
            <a:off x="768251" y="1339912"/>
            <a:ext cx="10267122" cy="1815882"/>
          </a:xfrm>
          <a:prstGeom prst="rect">
            <a:avLst/>
          </a:prstGeom>
          <a:noFill/>
        </p:spPr>
        <p:txBody>
          <a:bodyPr wrap="square">
            <a:spAutoFit/>
          </a:bodyPr>
          <a:lstStyle/>
          <a:p>
            <a:pPr algn="just">
              <a:buNone/>
            </a:pPr>
            <a:r>
              <a:rPr lang="en-US" sz="1600" b="1" dirty="0">
                <a:solidFill>
                  <a:srgbClr val="FF0000"/>
                </a:solidFill>
                <a:latin typeface="Arial Black" panose="020B0A04020102020204" pitchFamily="34" charset="0"/>
              </a:rPr>
              <a:t>Euclidean Distance (Circular Boundaries)</a:t>
            </a:r>
          </a:p>
          <a:p>
            <a:pPr algn="just">
              <a:buNone/>
            </a:pPr>
            <a:endParaRPr lang="en-US" sz="1600" b="1" dirty="0">
              <a:latin typeface="Arial Black" panose="020B0A04020102020204" pitchFamily="34" charset="0"/>
            </a:endParaRPr>
          </a:p>
          <a:p>
            <a:pPr marL="285750" indent="-285750" algn="just">
              <a:buFont typeface="Arial" panose="020B0604020202020204" pitchFamily="34" charset="0"/>
              <a:buChar char="•"/>
            </a:pPr>
            <a:r>
              <a:rPr lang="en-US" sz="1600" b="1" dirty="0">
                <a:effectLst/>
                <a:latin typeface="Arial Black" panose="020B0A04020102020204" pitchFamily="34" charset="0"/>
              </a:rPr>
              <a:t>Best when:</a:t>
            </a:r>
            <a:r>
              <a:rPr lang="en-US" sz="1600" dirty="0">
                <a:effectLst/>
                <a:latin typeface="Arial Black" panose="020B0A04020102020204" pitchFamily="34" charset="0"/>
              </a:rPr>
              <a:t> Features are continuous and properly scaled.</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b="1" dirty="0">
                <a:effectLst/>
                <a:latin typeface="Arial Black" panose="020B0A04020102020204" pitchFamily="34" charset="0"/>
              </a:rPr>
              <a:t>Why:</a:t>
            </a:r>
            <a:r>
              <a:rPr lang="en-US" sz="1600" dirty="0">
                <a:effectLst/>
                <a:latin typeface="Arial Black" panose="020B0A04020102020204" pitchFamily="34" charset="0"/>
              </a:rPr>
              <a:t> It measures straight‑line similarity, so smooth circular neighborhoods make sense if Age and Fare are normalized.</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b="1" dirty="0">
                <a:effectLst/>
                <a:latin typeface="Arial Black" panose="020B0A04020102020204" pitchFamily="34" charset="0"/>
              </a:rPr>
              <a:t>Limitation:</a:t>
            </a:r>
            <a:r>
              <a:rPr lang="en-US" sz="1600" dirty="0">
                <a:effectLst/>
                <a:latin typeface="Arial Black" panose="020B0A04020102020204" pitchFamily="34" charset="0"/>
              </a:rPr>
              <a:t> If one feature has a much larger range (e.g., Fare vs. Age), Euclidean can be skewed unless you scale.</a:t>
            </a:r>
            <a:endParaRPr lang="en-US" sz="1600" dirty="0">
              <a:latin typeface="Arial Black" panose="020B0A04020102020204" pitchFamily="34" charset="0"/>
            </a:endParaRPr>
          </a:p>
        </p:txBody>
      </p:sp>
      <p:sp>
        <p:nvSpPr>
          <p:cNvPr id="9" name="TextBox 8">
            <a:extLst>
              <a:ext uri="{FF2B5EF4-FFF2-40B4-BE49-F238E27FC236}">
                <a16:creationId xmlns:a16="http://schemas.microsoft.com/office/drawing/2014/main" id="{9F2240D2-AC36-31FF-B2E4-06D7BEAF7A0C}"/>
              </a:ext>
            </a:extLst>
          </p:cNvPr>
          <p:cNvSpPr txBox="1"/>
          <p:nvPr/>
        </p:nvSpPr>
        <p:spPr>
          <a:xfrm>
            <a:off x="768251" y="3185611"/>
            <a:ext cx="10267121" cy="1815882"/>
          </a:xfrm>
          <a:prstGeom prst="rect">
            <a:avLst/>
          </a:prstGeom>
          <a:noFill/>
        </p:spPr>
        <p:txBody>
          <a:bodyPr wrap="square">
            <a:spAutoFit/>
          </a:bodyPr>
          <a:lstStyle/>
          <a:p>
            <a:pPr>
              <a:buNone/>
            </a:pPr>
            <a:r>
              <a:rPr lang="en-US" sz="1600" b="1" dirty="0">
                <a:solidFill>
                  <a:srgbClr val="FF0000"/>
                </a:solidFill>
                <a:latin typeface="Arial Black" panose="020B0A04020102020204" pitchFamily="34" charset="0"/>
              </a:rPr>
              <a:t>Manhattan Distance (Grid‑like Boundaries)</a:t>
            </a:r>
          </a:p>
          <a:p>
            <a:pPr>
              <a:buNone/>
            </a:pPr>
            <a:endParaRPr lang="en-US" sz="1600" b="1" dirty="0">
              <a:solidFill>
                <a:srgbClr val="FF0000"/>
              </a:solidFill>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Best when:</a:t>
            </a:r>
            <a:r>
              <a:rPr lang="en-US" sz="1600" dirty="0">
                <a:effectLst/>
                <a:latin typeface="Arial Black" panose="020B0A04020102020204" pitchFamily="34" charset="0"/>
              </a:rPr>
              <a:t> Features are categorical or when movement is constrained to orthogonal axes.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Why:</a:t>
            </a:r>
            <a:r>
              <a:rPr lang="en-US" sz="1600" dirty="0">
                <a:effectLst/>
                <a:latin typeface="Arial Black" panose="020B0A04020102020204" pitchFamily="34" charset="0"/>
              </a:rPr>
              <a:t> It adds absolute differences, so boundaries look like diamonds.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b="1" dirty="0">
                <a:effectLst/>
                <a:latin typeface="Arial Black" panose="020B0A04020102020204" pitchFamily="34" charset="0"/>
              </a:rPr>
              <a:t>Limitation:</a:t>
            </a:r>
            <a:r>
              <a:rPr lang="en-US" sz="1600" dirty="0">
                <a:effectLst/>
                <a:latin typeface="Arial Black" panose="020B0A04020102020204" pitchFamily="34" charset="0"/>
              </a:rPr>
              <a:t> Less natural for continuous features like Age and Fare, unless the dataset has strong axis‑aligned patterns.</a:t>
            </a:r>
            <a:endParaRPr lang="en-US" sz="1600" dirty="0">
              <a:latin typeface="Arial Black" panose="020B0A04020102020204" pitchFamily="34" charset="0"/>
            </a:endParaRP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77BE6DA-C422-8734-E644-FD6AA68EA53B}"/>
                  </a:ext>
                </a:extLst>
              </p:cNvPr>
              <p:cNvSpPr txBox="1"/>
              <p:nvPr/>
            </p:nvSpPr>
            <p:spPr>
              <a:xfrm>
                <a:off x="768251" y="4986704"/>
                <a:ext cx="10267121" cy="1815882"/>
              </a:xfrm>
              <a:prstGeom prst="rect">
                <a:avLst/>
              </a:prstGeom>
              <a:noFill/>
            </p:spPr>
            <p:txBody>
              <a:bodyPr wrap="square">
                <a:spAutoFit/>
              </a:bodyPr>
              <a:lstStyle/>
              <a:p>
                <a:pPr algn="just">
                  <a:buNone/>
                </a:pPr>
                <a:r>
                  <a:rPr lang="en-US" sz="1600" b="1" dirty="0">
                    <a:solidFill>
                      <a:srgbClr val="FF0000"/>
                    </a:solidFill>
                    <a:latin typeface="Arial Black" panose="020B0A04020102020204" pitchFamily="34" charset="0"/>
                  </a:rPr>
                  <a:t>Minkowski Distance (Adjustable Boundaries)</a:t>
                </a:r>
              </a:p>
              <a:p>
                <a:pPr algn="just">
                  <a:buNone/>
                </a:pPr>
                <a:endParaRPr lang="en-US" sz="1600" b="1" dirty="0">
                  <a:latin typeface="Arial Black" panose="020B0A04020102020204" pitchFamily="34" charset="0"/>
                </a:endParaRPr>
              </a:p>
              <a:p>
                <a:pPr marL="285750" indent="-285750" algn="just">
                  <a:buFont typeface="Arial" panose="020B0604020202020204" pitchFamily="34" charset="0"/>
                  <a:buChar char="•"/>
                </a:pPr>
                <a:r>
                  <a:rPr lang="en-US" sz="1600" b="1" dirty="0">
                    <a:effectLst/>
                    <a:latin typeface="Arial Black" panose="020B0A04020102020204" pitchFamily="34" charset="0"/>
                  </a:rPr>
                  <a:t>Best when:</a:t>
                </a:r>
                <a:r>
                  <a:rPr lang="en-US" sz="1600" dirty="0">
                    <a:effectLst/>
                    <a:latin typeface="Arial Black" panose="020B0A04020102020204" pitchFamily="34" charset="0"/>
                  </a:rPr>
                  <a:t> You want flexibility.</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b="1" dirty="0">
                    <a:effectLst/>
                    <a:latin typeface="Arial Black" panose="020B0A04020102020204" pitchFamily="34" charset="0"/>
                  </a:rPr>
                  <a:t>Why:</a:t>
                </a:r>
                <a:r>
                  <a:rPr lang="en-US" sz="1600" dirty="0">
                    <a:effectLst/>
                    <a:latin typeface="Arial Black" panose="020B0A04020102020204" pitchFamily="34" charset="0"/>
                  </a:rPr>
                  <a:t> It generalizes both Euclidean (</a:t>
                </a:r>
                <a14:m>
                  <m:oMath xmlns:m="http://schemas.openxmlformats.org/officeDocument/2006/math">
                    <m:r>
                      <a:rPr lang="en-US" sz="1600" i="1">
                        <a:latin typeface="Cambria Math" panose="02040503050406030204" pitchFamily="18" charset="0"/>
                      </a:rPr>
                      <m:t>𝑝</m:t>
                    </m:r>
                    <m:r>
                      <a:rPr lang="en-US" sz="1600" i="0">
                        <a:latin typeface="Cambria Math" panose="02040503050406030204" pitchFamily="18" charset="0"/>
                      </a:rPr>
                      <m:t>=2</m:t>
                    </m:r>
                  </m:oMath>
                </a14:m>
                <a:r>
                  <a:rPr lang="en-US" sz="1600" dirty="0">
                    <a:effectLst/>
                    <a:latin typeface="Arial Black" panose="020B0A04020102020204" pitchFamily="34" charset="0"/>
                  </a:rPr>
                  <a:t>) and Manhattan (</a:t>
                </a:r>
                <a14:m>
                  <m:oMath xmlns:m="http://schemas.openxmlformats.org/officeDocument/2006/math">
                    <m:r>
                      <a:rPr lang="en-US" sz="1600" i="1">
                        <a:latin typeface="Cambria Math" panose="02040503050406030204" pitchFamily="18" charset="0"/>
                      </a:rPr>
                      <m:t>𝑝</m:t>
                    </m:r>
                    <m:r>
                      <a:rPr lang="en-US" sz="1600" i="0">
                        <a:latin typeface="Cambria Math" panose="02040503050406030204" pitchFamily="18" charset="0"/>
                      </a:rPr>
                      <m:t>=1</m:t>
                    </m:r>
                  </m:oMath>
                </a14:m>
                <a:r>
                  <a:rPr lang="en-US" sz="1600" dirty="0">
                    <a:effectLst/>
                    <a:latin typeface="Arial Black" panose="020B0A04020102020204" pitchFamily="34" charset="0"/>
                  </a:rPr>
                  <a:t>), and lets you tune sensitivity with </a:t>
                </a:r>
                <a14:m>
                  <m:oMath xmlns:m="http://schemas.openxmlformats.org/officeDocument/2006/math">
                    <m:r>
                      <a:rPr lang="en-US" sz="1600" i="1">
                        <a:latin typeface="Cambria Math" panose="02040503050406030204" pitchFamily="18" charset="0"/>
                      </a:rPr>
                      <m:t>𝑝</m:t>
                    </m:r>
                  </m:oMath>
                </a14:m>
                <a:r>
                  <a:rPr lang="en-US" sz="1600" dirty="0">
                    <a:effectLst/>
                    <a:latin typeface="Arial Black" panose="020B0A04020102020204" pitchFamily="34" charset="0"/>
                  </a:rPr>
                  <a:t>.</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b="1" dirty="0">
                    <a:effectLst/>
                    <a:latin typeface="Arial Black" panose="020B0A04020102020204" pitchFamily="34" charset="0"/>
                  </a:rPr>
                  <a:t>Limitation:</a:t>
                </a:r>
                <a:r>
                  <a:rPr lang="en-US" sz="1600" dirty="0">
                    <a:effectLst/>
                    <a:latin typeface="Arial Black" panose="020B0A04020102020204" pitchFamily="34" charset="0"/>
                  </a:rPr>
                  <a:t> Choosing </a:t>
                </a:r>
                <a14:m>
                  <m:oMath xmlns:m="http://schemas.openxmlformats.org/officeDocument/2006/math">
                    <m:r>
                      <a:rPr lang="en-US" sz="1600" i="1">
                        <a:latin typeface="Cambria Math" panose="02040503050406030204" pitchFamily="18" charset="0"/>
                      </a:rPr>
                      <m:t>𝑝</m:t>
                    </m:r>
                  </m:oMath>
                </a14:m>
                <a:r>
                  <a:rPr lang="en-US" sz="1600" dirty="0">
                    <a:effectLst/>
                    <a:latin typeface="Arial Black" panose="020B0A04020102020204" pitchFamily="34" charset="0"/>
                  </a:rPr>
                  <a:t>requires experimentation — too high a value can exaggerate outliers.</a:t>
                </a:r>
                <a:endParaRPr lang="en-US" sz="1600" dirty="0">
                  <a:latin typeface="Arial Black" panose="020B0A04020102020204" pitchFamily="34" charset="0"/>
                </a:endParaRPr>
              </a:p>
            </p:txBody>
          </p:sp>
        </mc:Choice>
        <mc:Fallback>
          <p:sp>
            <p:nvSpPr>
              <p:cNvPr id="11" name="TextBox 10">
                <a:extLst>
                  <a:ext uri="{FF2B5EF4-FFF2-40B4-BE49-F238E27FC236}">
                    <a16:creationId xmlns:a16="http://schemas.microsoft.com/office/drawing/2014/main" id="{C77BE6DA-C422-8734-E644-FD6AA68EA53B}"/>
                  </a:ext>
                </a:extLst>
              </p:cNvPr>
              <p:cNvSpPr txBox="1">
                <a:spLocks noRot="1" noChangeAspect="1" noMove="1" noResize="1" noEditPoints="1" noAdjustHandles="1" noChangeArrowheads="1" noChangeShapeType="1" noTextEdit="1"/>
              </p:cNvSpPr>
              <p:nvPr/>
            </p:nvSpPr>
            <p:spPr>
              <a:xfrm>
                <a:off x="768251" y="4986704"/>
                <a:ext cx="10267121" cy="1815882"/>
              </a:xfrm>
              <a:prstGeom prst="rect">
                <a:avLst/>
              </a:prstGeom>
              <a:blipFill>
                <a:blip r:embed="rId2"/>
                <a:stretch>
                  <a:fillRect l="-297" t="-1007" r="-356" b="-3356"/>
                </a:stretch>
              </a:blipFill>
            </p:spPr>
            <p:txBody>
              <a:bodyPr/>
              <a:lstStyle/>
              <a:p>
                <a:r>
                  <a:rPr lang="en-US">
                    <a:noFill/>
                  </a:rPr>
                  <a:t> </a:t>
                </a:r>
              </a:p>
            </p:txBody>
          </p:sp>
        </mc:Fallback>
      </mc:AlternateContent>
    </p:spTree>
    <p:extLst>
      <p:ext uri="{BB962C8B-B14F-4D97-AF65-F5344CB8AC3E}">
        <p14:creationId xmlns:p14="http://schemas.microsoft.com/office/powerpoint/2010/main" val="11165456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7BE19-964D-1908-259C-7EEFF6B108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C4C084-3F29-0B5D-01AB-03E01837B039}"/>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9A3F3CC-0C54-F33E-66AC-71A41DF7DA3E}"/>
                  </a:ext>
                </a:extLst>
              </p:cNvPr>
              <p:cNvSpPr txBox="1"/>
              <p:nvPr/>
            </p:nvSpPr>
            <p:spPr>
              <a:xfrm>
                <a:off x="1351722" y="1480356"/>
                <a:ext cx="9390019" cy="2585323"/>
              </a:xfrm>
              <a:prstGeom prst="rect">
                <a:avLst/>
              </a:prstGeom>
              <a:noFill/>
            </p:spPr>
            <p:txBody>
              <a:bodyPr wrap="square">
                <a:spAutoFit/>
              </a:bodyPr>
              <a:lstStyle/>
              <a:p>
                <a:pPr algn="ctr">
                  <a:buNone/>
                </a:pPr>
                <a:r>
                  <a:rPr lang="en-US" b="1" dirty="0">
                    <a:solidFill>
                      <a:srgbClr val="FF0000"/>
                    </a:solidFill>
                    <a:latin typeface="Arial Black" panose="020B0A04020102020204" pitchFamily="34" charset="0"/>
                  </a:rPr>
                  <a:t>Titanic Dataset Context</a:t>
                </a:r>
              </a:p>
              <a:p>
                <a:pPr>
                  <a:buNone/>
                </a:pPr>
                <a:endParaRPr lang="en-US" b="1"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Age and Fare are </a:t>
                </a:r>
                <a:r>
                  <a:rPr lang="en-US" b="1" dirty="0">
                    <a:effectLst/>
                    <a:latin typeface="Arial Black" panose="020B0A04020102020204" pitchFamily="34" charset="0"/>
                  </a:rPr>
                  <a:t>continuous variables</a:t>
                </a:r>
                <a:r>
                  <a:rPr lang="en-US" dirty="0">
                    <a:effectLst/>
                    <a:latin typeface="Arial Black" panose="020B0A04020102020204" pitchFamily="34" charset="0"/>
                  </a:rPr>
                  <a:t>.</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After normalization, </a:t>
                </a:r>
                <a:r>
                  <a:rPr lang="en-US" b="1" dirty="0">
                    <a:effectLst/>
                    <a:latin typeface="Arial Black" panose="020B0A04020102020204" pitchFamily="34" charset="0"/>
                  </a:rPr>
                  <a:t>Euclidean distance</a:t>
                </a:r>
                <a:r>
                  <a:rPr lang="en-US" dirty="0">
                    <a:effectLst/>
                    <a:latin typeface="Arial Black" panose="020B0A04020102020204" pitchFamily="34" charset="0"/>
                  </a:rPr>
                  <a:t> is usually the most appropriate because it reflects smooth similarity in continuous space.</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Manhattan could be used if you wanted to emphasize axis‑aligned differences (e.g., Age alone or Fare alone).</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Minkowski is a compromise tool — you can adjust </a:t>
                </a:r>
                <a14:m>
                  <m:oMath xmlns:m="http://schemas.openxmlformats.org/officeDocument/2006/math">
                    <m:r>
                      <a:rPr lang="en-US" i="1">
                        <a:latin typeface="Cambria Math" panose="02040503050406030204" pitchFamily="18" charset="0"/>
                      </a:rPr>
                      <m:t>𝑝</m:t>
                    </m:r>
                  </m:oMath>
                </a14:m>
                <a:r>
                  <a:rPr lang="en-US" dirty="0">
                    <a:effectLst/>
                    <a:latin typeface="Arial Black" panose="020B0A04020102020204" pitchFamily="34" charset="0"/>
                  </a:rPr>
                  <a:t>to see which boundary fits survival classification better.</a:t>
                </a:r>
                <a:endParaRPr lang="en-US" dirty="0">
                  <a:latin typeface="Arial Black" panose="020B0A04020102020204" pitchFamily="34" charset="0"/>
                </a:endParaRPr>
              </a:p>
            </p:txBody>
          </p:sp>
        </mc:Choice>
        <mc:Fallback>
          <p:sp>
            <p:nvSpPr>
              <p:cNvPr id="4" name="TextBox 3">
                <a:extLst>
                  <a:ext uri="{FF2B5EF4-FFF2-40B4-BE49-F238E27FC236}">
                    <a16:creationId xmlns:a16="http://schemas.microsoft.com/office/drawing/2014/main" id="{39A3F3CC-0C54-F33E-66AC-71A41DF7DA3E}"/>
                  </a:ext>
                </a:extLst>
              </p:cNvPr>
              <p:cNvSpPr txBox="1">
                <a:spLocks noRot="1" noChangeAspect="1" noMove="1" noResize="1" noEditPoints="1" noAdjustHandles="1" noChangeArrowheads="1" noChangeShapeType="1" noTextEdit="1"/>
              </p:cNvSpPr>
              <p:nvPr/>
            </p:nvSpPr>
            <p:spPr>
              <a:xfrm>
                <a:off x="1351722" y="1480356"/>
                <a:ext cx="9390019" cy="2585323"/>
              </a:xfrm>
              <a:prstGeom prst="rect">
                <a:avLst/>
              </a:prstGeom>
              <a:blipFill>
                <a:blip r:embed="rId2"/>
                <a:stretch>
                  <a:fillRect l="-455" t="-1415" r="-1234" b="-283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B0C1159-1DCF-955F-20F3-86786C74E76B}"/>
              </a:ext>
            </a:extLst>
          </p:cNvPr>
          <p:cNvSpPr txBox="1"/>
          <p:nvPr/>
        </p:nvSpPr>
        <p:spPr>
          <a:xfrm>
            <a:off x="646043" y="4638980"/>
            <a:ext cx="10873409" cy="1200329"/>
          </a:xfrm>
          <a:prstGeom prst="rect">
            <a:avLst/>
          </a:prstGeom>
          <a:noFill/>
        </p:spPr>
        <p:txBody>
          <a:bodyPr wrap="square">
            <a:spAutoFit/>
          </a:bodyPr>
          <a:lstStyle/>
          <a:p>
            <a:pPr algn="just"/>
            <a:r>
              <a:rPr lang="en-US" dirty="0">
                <a:solidFill>
                  <a:srgbClr val="FF0000"/>
                </a:solidFill>
                <a:latin typeface="Arial Black" panose="020B0A04020102020204" pitchFamily="34" charset="0"/>
              </a:rPr>
              <a:t>“There isn’t a single ‘right’ metric — the choice depends on your data. For Titanic’s Age and Fare, Euclidean is most natural after scaling, but Minkowski lets you experiment between Euclidean and Manhattan to see which captures survival patterns better.”</a:t>
            </a:r>
          </a:p>
        </p:txBody>
      </p:sp>
    </p:spTree>
    <p:extLst>
      <p:ext uri="{BB962C8B-B14F-4D97-AF65-F5344CB8AC3E}">
        <p14:creationId xmlns:p14="http://schemas.microsoft.com/office/powerpoint/2010/main" val="2721563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79443-D99B-50DC-AFD8-CD15056DE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928437-F62F-2E2C-9E31-96F7A37BB686}"/>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631D431A-C4BE-9F5A-A7A2-33B5992D7E6B}"/>
              </a:ext>
            </a:extLst>
          </p:cNvPr>
          <p:cNvSpPr txBox="1"/>
          <p:nvPr/>
        </p:nvSpPr>
        <p:spPr>
          <a:xfrm>
            <a:off x="812977" y="1150219"/>
            <a:ext cx="6899788" cy="5262979"/>
          </a:xfrm>
          <a:prstGeom prst="rect">
            <a:avLst/>
          </a:prstGeom>
          <a:noFill/>
        </p:spPr>
        <p:txBody>
          <a:bodyPr wrap="square">
            <a:spAutoFit/>
          </a:bodyPr>
          <a:lstStyle/>
          <a:p>
            <a:r>
              <a:rPr lang="en-US" sz="1600" dirty="0"/>
              <a:t>import </a:t>
            </a:r>
            <a:r>
              <a:rPr lang="en-US" sz="1600" dirty="0" err="1"/>
              <a:t>numpy</a:t>
            </a:r>
            <a:r>
              <a:rPr lang="en-US" sz="1600" dirty="0"/>
              <a:t> as np</a:t>
            </a:r>
          </a:p>
          <a:p>
            <a:r>
              <a:rPr lang="en-US" sz="1600" dirty="0"/>
              <a:t>from collections import Counter</a:t>
            </a:r>
          </a:p>
          <a:p>
            <a:r>
              <a:rPr lang="en-US" sz="1600" b="1" dirty="0">
                <a:solidFill>
                  <a:srgbClr val="FF0000"/>
                </a:solidFill>
              </a:rPr>
              <a:t># Function to calculate Euclidean distance</a:t>
            </a:r>
          </a:p>
          <a:p>
            <a:r>
              <a:rPr lang="en-US" sz="1600" dirty="0"/>
              <a:t>def </a:t>
            </a:r>
            <a:r>
              <a:rPr lang="en-US" sz="1600" dirty="0" err="1"/>
              <a:t>euclidean_distance</a:t>
            </a:r>
            <a:r>
              <a:rPr lang="en-US" sz="1600" dirty="0"/>
              <a:t>(point1, point2):</a:t>
            </a:r>
          </a:p>
          <a:p>
            <a:r>
              <a:rPr lang="en-US" sz="1600" dirty="0"/>
              <a:t>   return </a:t>
            </a:r>
            <a:r>
              <a:rPr lang="en-US" sz="1600" dirty="0" err="1"/>
              <a:t>np.sqrt</a:t>
            </a:r>
            <a:r>
              <a:rPr lang="en-US" sz="1600" dirty="0"/>
              <a:t>(</a:t>
            </a:r>
            <a:r>
              <a:rPr lang="en-US" sz="1600" dirty="0" err="1"/>
              <a:t>np.sum</a:t>
            </a:r>
            <a:r>
              <a:rPr lang="en-US" sz="1600" dirty="0"/>
              <a:t>((</a:t>
            </a:r>
            <a:r>
              <a:rPr lang="en-US" sz="1600" dirty="0" err="1"/>
              <a:t>np.array</a:t>
            </a:r>
            <a:r>
              <a:rPr lang="en-US" sz="1600" dirty="0"/>
              <a:t>(point1) - </a:t>
            </a:r>
            <a:r>
              <a:rPr lang="en-US" sz="1600" dirty="0" err="1"/>
              <a:t>np.array</a:t>
            </a:r>
            <a:r>
              <a:rPr lang="en-US" sz="1600" dirty="0"/>
              <a:t>(point2))**2))</a:t>
            </a:r>
          </a:p>
          <a:p>
            <a:r>
              <a:rPr lang="en-US" sz="1600" b="1" dirty="0">
                <a:solidFill>
                  <a:srgbClr val="FF0000"/>
                </a:solidFill>
              </a:rPr>
              <a:t># KNN prediction function</a:t>
            </a:r>
          </a:p>
          <a:p>
            <a:r>
              <a:rPr lang="en-US" sz="1600" dirty="0"/>
              <a:t>def </a:t>
            </a:r>
            <a:r>
              <a:rPr lang="en-US" sz="1600" dirty="0" err="1"/>
              <a:t>knn_predict</a:t>
            </a:r>
            <a:r>
              <a:rPr lang="en-US" sz="1600" dirty="0"/>
              <a:t>(</a:t>
            </a:r>
            <a:r>
              <a:rPr lang="en-US" sz="1600" dirty="0" err="1"/>
              <a:t>training_data</a:t>
            </a:r>
            <a:r>
              <a:rPr lang="en-US" sz="1600" dirty="0"/>
              <a:t>, </a:t>
            </a:r>
            <a:r>
              <a:rPr lang="en-US" sz="1600" dirty="0" err="1"/>
              <a:t>training_labels</a:t>
            </a:r>
            <a:r>
              <a:rPr lang="en-US" sz="1600" dirty="0"/>
              <a:t>, </a:t>
            </a:r>
            <a:r>
              <a:rPr lang="en-US" sz="1600" dirty="0" err="1"/>
              <a:t>test_point</a:t>
            </a:r>
            <a:r>
              <a:rPr lang="en-US" sz="1600" dirty="0"/>
              <a:t>, k):</a:t>
            </a:r>
          </a:p>
          <a:p>
            <a:r>
              <a:rPr lang="en-US" sz="1600" dirty="0"/>
              <a:t>   distances = []</a:t>
            </a:r>
          </a:p>
          <a:p>
            <a:r>
              <a:rPr lang="en-US" sz="1600" dirty="0"/>
              <a:t>   for </a:t>
            </a:r>
            <a:r>
              <a:rPr lang="en-US" sz="1600" dirty="0" err="1"/>
              <a:t>i</a:t>
            </a:r>
            <a:r>
              <a:rPr lang="en-US" sz="1600" dirty="0"/>
              <a:t> in range(</a:t>
            </a:r>
            <a:r>
              <a:rPr lang="en-US" sz="1600" dirty="0" err="1"/>
              <a:t>len</a:t>
            </a:r>
            <a:r>
              <a:rPr lang="en-US" sz="1600" dirty="0"/>
              <a:t>(</a:t>
            </a:r>
            <a:r>
              <a:rPr lang="en-US" sz="1600" dirty="0" err="1"/>
              <a:t>training_data</a:t>
            </a:r>
            <a:r>
              <a:rPr lang="en-US" sz="1600" dirty="0"/>
              <a:t>)):</a:t>
            </a:r>
          </a:p>
          <a:p>
            <a:r>
              <a:rPr lang="en-US" sz="1600" dirty="0"/>
              <a:t>       </a:t>
            </a:r>
            <a:r>
              <a:rPr lang="en-US" sz="1600" dirty="0" err="1"/>
              <a:t>dist</a:t>
            </a:r>
            <a:r>
              <a:rPr lang="en-US" sz="1600" dirty="0"/>
              <a:t> = </a:t>
            </a:r>
            <a:r>
              <a:rPr lang="en-US" sz="1600" dirty="0" err="1"/>
              <a:t>euclidean_distance</a:t>
            </a:r>
            <a:r>
              <a:rPr lang="en-US" sz="1600" dirty="0"/>
              <a:t>(</a:t>
            </a:r>
            <a:r>
              <a:rPr lang="en-US" sz="1600" dirty="0" err="1"/>
              <a:t>test_point</a:t>
            </a:r>
            <a:r>
              <a:rPr lang="en-US" sz="1600" dirty="0"/>
              <a:t>, </a:t>
            </a:r>
            <a:r>
              <a:rPr lang="en-US" sz="1600" dirty="0" err="1"/>
              <a:t>training_data</a:t>
            </a:r>
            <a:r>
              <a:rPr lang="en-US" sz="1600" dirty="0"/>
              <a:t>[</a:t>
            </a:r>
            <a:r>
              <a:rPr lang="en-US" sz="1600" dirty="0" err="1"/>
              <a:t>i</a:t>
            </a:r>
            <a:r>
              <a:rPr lang="en-US" sz="1600" dirty="0"/>
              <a:t>])</a:t>
            </a:r>
          </a:p>
          <a:p>
            <a:r>
              <a:rPr lang="en-US" sz="1600" dirty="0"/>
              <a:t>       </a:t>
            </a:r>
            <a:r>
              <a:rPr lang="en-US" sz="1600" dirty="0" err="1"/>
              <a:t>distances.append</a:t>
            </a:r>
            <a:r>
              <a:rPr lang="en-US" sz="1600" dirty="0"/>
              <a:t>((</a:t>
            </a:r>
            <a:r>
              <a:rPr lang="en-US" sz="1600" dirty="0" err="1"/>
              <a:t>dist</a:t>
            </a:r>
            <a:r>
              <a:rPr lang="en-US" sz="1600" dirty="0"/>
              <a:t>, </a:t>
            </a:r>
            <a:r>
              <a:rPr lang="en-US" sz="1600" dirty="0" err="1"/>
              <a:t>training_labels</a:t>
            </a:r>
            <a:r>
              <a:rPr lang="en-US" sz="1600" dirty="0"/>
              <a:t>[</a:t>
            </a:r>
            <a:r>
              <a:rPr lang="en-US" sz="1600" dirty="0" err="1"/>
              <a:t>i</a:t>
            </a:r>
            <a:r>
              <a:rPr lang="en-US" sz="1600" dirty="0"/>
              <a:t>]))</a:t>
            </a:r>
          </a:p>
          <a:p>
            <a:r>
              <a:rPr lang="en-US" sz="1600" dirty="0"/>
              <a:t>   </a:t>
            </a:r>
            <a:r>
              <a:rPr lang="en-US" sz="1600" dirty="0" err="1"/>
              <a:t>distances.sort</a:t>
            </a:r>
            <a:r>
              <a:rPr lang="en-US" sz="1600" dirty="0"/>
              <a:t>(key=lambda x: x[0])</a:t>
            </a:r>
          </a:p>
          <a:p>
            <a:r>
              <a:rPr lang="en-US" sz="1600" dirty="0"/>
              <a:t>   </a:t>
            </a:r>
            <a:r>
              <a:rPr lang="en-US" sz="1600" dirty="0" err="1"/>
              <a:t>k_nearest_labels</a:t>
            </a:r>
            <a:r>
              <a:rPr lang="en-US" sz="1600" dirty="0"/>
              <a:t> = [label for _, label in distances[:k]]</a:t>
            </a:r>
          </a:p>
          <a:p>
            <a:r>
              <a:rPr lang="en-US" sz="1600" dirty="0"/>
              <a:t>   return Counter(</a:t>
            </a:r>
            <a:r>
              <a:rPr lang="en-US" sz="1600" dirty="0" err="1"/>
              <a:t>k_nearest_labels</a:t>
            </a:r>
            <a:r>
              <a:rPr lang="en-US" sz="1600" dirty="0"/>
              <a:t>).</a:t>
            </a:r>
            <a:r>
              <a:rPr lang="en-US" sz="1600" dirty="0" err="1"/>
              <a:t>most_common</a:t>
            </a:r>
            <a:r>
              <a:rPr lang="en-US" sz="1600" dirty="0"/>
              <a:t>(1)[0][0]</a:t>
            </a:r>
          </a:p>
          <a:p>
            <a:r>
              <a:rPr lang="en-US" sz="1600" b="1" dirty="0">
                <a:solidFill>
                  <a:srgbClr val="FF0000"/>
                </a:solidFill>
              </a:rPr>
              <a:t># Example usage</a:t>
            </a:r>
          </a:p>
          <a:p>
            <a:r>
              <a:rPr lang="en-US" sz="1600" dirty="0" err="1"/>
              <a:t>training_data</a:t>
            </a:r>
            <a:r>
              <a:rPr lang="en-US" sz="1600" dirty="0"/>
              <a:t> = [[1, 2], [2, 3], [3, 4], [6, 7], [7, 8]]</a:t>
            </a:r>
          </a:p>
          <a:p>
            <a:r>
              <a:rPr lang="en-US" sz="1600" dirty="0" err="1"/>
              <a:t>training_labels</a:t>
            </a:r>
            <a:r>
              <a:rPr lang="en-US" sz="1600" dirty="0"/>
              <a:t> = ['A', 'A', 'A', 'B', 'B']</a:t>
            </a:r>
          </a:p>
          <a:p>
            <a:r>
              <a:rPr lang="en-US" sz="1600" dirty="0" err="1"/>
              <a:t>test_point</a:t>
            </a:r>
            <a:r>
              <a:rPr lang="en-US" sz="1600" dirty="0"/>
              <a:t> = [4, 5]</a:t>
            </a:r>
          </a:p>
          <a:p>
            <a:r>
              <a:rPr lang="en-US" sz="1600" dirty="0"/>
              <a:t>k = 3</a:t>
            </a:r>
          </a:p>
          <a:p>
            <a:r>
              <a:rPr lang="en-US" sz="1600" dirty="0"/>
              <a:t>prediction = </a:t>
            </a:r>
            <a:r>
              <a:rPr lang="en-US" sz="1600" dirty="0" err="1"/>
              <a:t>knn_predict</a:t>
            </a:r>
            <a:r>
              <a:rPr lang="en-US" sz="1600" dirty="0"/>
              <a:t>(</a:t>
            </a:r>
            <a:r>
              <a:rPr lang="en-US" sz="1600" dirty="0" err="1"/>
              <a:t>training_data</a:t>
            </a:r>
            <a:r>
              <a:rPr lang="en-US" sz="1600" dirty="0"/>
              <a:t>, </a:t>
            </a:r>
            <a:r>
              <a:rPr lang="en-US" sz="1600" dirty="0" err="1"/>
              <a:t>training_labels</a:t>
            </a:r>
            <a:r>
              <a:rPr lang="en-US" sz="1600" dirty="0"/>
              <a:t>, </a:t>
            </a:r>
            <a:r>
              <a:rPr lang="en-US" sz="1600" dirty="0" err="1"/>
              <a:t>test_point</a:t>
            </a:r>
            <a:r>
              <a:rPr lang="en-US" sz="1600" dirty="0"/>
              <a:t>, k)</a:t>
            </a:r>
          </a:p>
          <a:p>
            <a:r>
              <a:rPr lang="en-US" sz="1600" dirty="0"/>
              <a:t>print(prediction) # Output: 'A'</a:t>
            </a:r>
          </a:p>
        </p:txBody>
      </p:sp>
      <p:sp>
        <p:nvSpPr>
          <p:cNvPr id="8" name="TextBox 7">
            <a:extLst>
              <a:ext uri="{FF2B5EF4-FFF2-40B4-BE49-F238E27FC236}">
                <a16:creationId xmlns:a16="http://schemas.microsoft.com/office/drawing/2014/main" id="{099DA376-651C-4F8F-47C0-52F70DF71167}"/>
              </a:ext>
            </a:extLst>
          </p:cNvPr>
          <p:cNvSpPr txBox="1"/>
          <p:nvPr/>
        </p:nvSpPr>
        <p:spPr>
          <a:xfrm>
            <a:off x="7420764" y="3073822"/>
            <a:ext cx="3958259" cy="707886"/>
          </a:xfrm>
          <a:prstGeom prst="rect">
            <a:avLst/>
          </a:prstGeom>
          <a:noFill/>
        </p:spPr>
        <p:txBody>
          <a:bodyPr wrap="square">
            <a:spAutoFit/>
          </a:bodyPr>
          <a:lstStyle/>
          <a:p>
            <a:pPr algn="ctr"/>
            <a:r>
              <a:rPr lang="en-US" sz="2000" b="0" i="0" dirty="0">
                <a:effectLst/>
                <a:latin typeface="Arial Black" panose="020B0A04020102020204" pitchFamily="34" charset="0"/>
              </a:rPr>
              <a:t>simple implementation of KNN from scratch</a:t>
            </a:r>
            <a:endParaRPr lang="en-US" sz="2000" dirty="0">
              <a:latin typeface="Arial Black" panose="020B0A04020102020204" pitchFamily="34" charset="0"/>
            </a:endParaRPr>
          </a:p>
        </p:txBody>
      </p:sp>
    </p:spTree>
    <p:extLst>
      <p:ext uri="{BB962C8B-B14F-4D97-AF65-F5344CB8AC3E}">
        <p14:creationId xmlns:p14="http://schemas.microsoft.com/office/powerpoint/2010/main" val="13802184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786F2-6C66-BCA8-9D3C-F60B56C959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E20E1-7E66-234F-8E27-6B13EF2FC5E1}"/>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4" name="TextBox 3">
            <a:extLst>
              <a:ext uri="{FF2B5EF4-FFF2-40B4-BE49-F238E27FC236}">
                <a16:creationId xmlns:a16="http://schemas.microsoft.com/office/drawing/2014/main" id="{25AB89D5-D7D3-E2A8-8D37-43B5AE483A99}"/>
              </a:ext>
            </a:extLst>
          </p:cNvPr>
          <p:cNvSpPr txBox="1"/>
          <p:nvPr/>
        </p:nvSpPr>
        <p:spPr>
          <a:xfrm>
            <a:off x="907774" y="1150219"/>
            <a:ext cx="10376452" cy="1569660"/>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Choosing K Wisely</a:t>
            </a:r>
          </a:p>
          <a:p>
            <a:pPr>
              <a:buNone/>
            </a:pPr>
            <a:endParaRPr lang="en-US" sz="1600" b="1"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The value of </a:t>
            </a:r>
            <a:r>
              <a:rPr lang="en-US" sz="1600" b="1" dirty="0">
                <a:effectLst/>
                <a:latin typeface="Arial Black" panose="020B0A04020102020204" pitchFamily="34" charset="0"/>
              </a:rPr>
              <a:t>K</a:t>
            </a:r>
            <a:r>
              <a:rPr lang="en-US" sz="1600" dirty="0">
                <a:effectLst/>
                <a:latin typeface="Arial Black" panose="020B0A04020102020204" pitchFamily="34" charset="0"/>
              </a:rPr>
              <a:t> is critical:</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Small K (like 1 or 3) → highly sensitive to noise, can overfit.</a:t>
            </a:r>
            <a:endParaRPr lang="en-US" sz="1600" dirty="0">
              <a:latin typeface="Arial Black" panose="020B0A04020102020204" pitchFamily="34" charset="0"/>
            </a:endParaRPr>
          </a:p>
          <a:p>
            <a:pPr marL="742950" lvl="1" indent="-285750">
              <a:buFont typeface="Arial" panose="020B0604020202020204" pitchFamily="34" charset="0"/>
              <a:buChar char="•"/>
            </a:pPr>
            <a:r>
              <a:rPr lang="en-US" sz="1600" dirty="0">
                <a:effectLst/>
                <a:latin typeface="Arial Black" panose="020B0A04020102020204" pitchFamily="34" charset="0"/>
              </a:rPr>
              <a:t>Large K → smoother decision boundaries, but may dilute local patterns.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A practical tip: use </a:t>
            </a:r>
            <a:r>
              <a:rPr lang="en-US" sz="1600" b="1" dirty="0">
                <a:effectLst/>
                <a:latin typeface="Arial Black" panose="020B0A04020102020204" pitchFamily="34" charset="0"/>
              </a:rPr>
              <a:t>cross‑validation</a:t>
            </a:r>
            <a:r>
              <a:rPr lang="en-US" sz="1600" dirty="0">
                <a:effectLst/>
                <a:latin typeface="Arial Black" panose="020B0A04020102020204" pitchFamily="34" charset="0"/>
              </a:rPr>
              <a:t> to select the best K for your dataset.</a:t>
            </a:r>
            <a:endParaRPr lang="en-US" sz="1600" dirty="0">
              <a:latin typeface="Arial Black" panose="020B0A04020102020204" pitchFamily="34" charset="0"/>
            </a:endParaRPr>
          </a:p>
        </p:txBody>
      </p:sp>
      <p:sp>
        <p:nvSpPr>
          <p:cNvPr id="7" name="TextBox 6">
            <a:extLst>
              <a:ext uri="{FF2B5EF4-FFF2-40B4-BE49-F238E27FC236}">
                <a16:creationId xmlns:a16="http://schemas.microsoft.com/office/drawing/2014/main" id="{DF474697-FEAE-FBE6-AF2D-4D280DAF2EB0}"/>
              </a:ext>
            </a:extLst>
          </p:cNvPr>
          <p:cNvSpPr txBox="1"/>
          <p:nvPr/>
        </p:nvSpPr>
        <p:spPr>
          <a:xfrm>
            <a:off x="907774" y="2845460"/>
            <a:ext cx="10114722" cy="1815882"/>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Feature Scaling</a:t>
            </a:r>
          </a:p>
          <a:p>
            <a:pPr>
              <a:buNone/>
            </a:pPr>
            <a:endParaRPr lang="en-US" sz="1600" b="1"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KNN relies on distance metrics, so features must be on comparable scales.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Without normalization, a feature like </a:t>
            </a:r>
            <a:r>
              <a:rPr lang="en-US" sz="1600" i="1" dirty="0">
                <a:effectLst/>
                <a:latin typeface="Arial Black" panose="020B0A04020102020204" pitchFamily="34" charset="0"/>
              </a:rPr>
              <a:t>Fare</a:t>
            </a:r>
            <a:r>
              <a:rPr lang="en-US" sz="1600" dirty="0">
                <a:effectLst/>
                <a:latin typeface="Arial Black" panose="020B0A04020102020204" pitchFamily="34" charset="0"/>
              </a:rPr>
              <a:t> (0–500) can dominate </a:t>
            </a:r>
            <a:r>
              <a:rPr lang="en-US" sz="1600" i="1" dirty="0">
                <a:effectLst/>
                <a:latin typeface="Arial Black" panose="020B0A04020102020204" pitchFamily="34" charset="0"/>
              </a:rPr>
              <a:t>Age</a:t>
            </a:r>
            <a:r>
              <a:rPr lang="en-US" sz="1600" dirty="0">
                <a:effectLst/>
                <a:latin typeface="Arial Black" panose="020B0A04020102020204" pitchFamily="34" charset="0"/>
              </a:rPr>
              <a:t> (0–80).</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Standardization (z‑score) or Min‑Max scaling ensures fair contribution of all features.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Titanic example: scaling Age and Fare before applying Euclidean distance improves classification accuracy.</a:t>
            </a:r>
            <a:endParaRPr lang="en-US" sz="1600" dirty="0">
              <a:latin typeface="Arial Black" panose="020B0A04020102020204" pitchFamily="34" charset="0"/>
            </a:endParaRPr>
          </a:p>
        </p:txBody>
      </p:sp>
      <p:sp>
        <p:nvSpPr>
          <p:cNvPr id="10" name="TextBox 9">
            <a:extLst>
              <a:ext uri="{FF2B5EF4-FFF2-40B4-BE49-F238E27FC236}">
                <a16:creationId xmlns:a16="http://schemas.microsoft.com/office/drawing/2014/main" id="{F8E524B0-F8C7-4FE9-FCBE-C0FF9E3249A7}"/>
              </a:ext>
            </a:extLst>
          </p:cNvPr>
          <p:cNvSpPr txBox="1"/>
          <p:nvPr/>
        </p:nvSpPr>
        <p:spPr>
          <a:xfrm>
            <a:off x="907774" y="4786923"/>
            <a:ext cx="9852992" cy="1569660"/>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Weighted KNN</a:t>
            </a:r>
          </a:p>
          <a:p>
            <a:pPr algn="ctr">
              <a:buNone/>
            </a:pPr>
            <a:endParaRPr lang="en-US" sz="1600" b="1" dirty="0">
              <a:solidFill>
                <a:srgbClr val="FF0000"/>
              </a:solidFill>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Instead of treating all neighbors equally, you can </a:t>
            </a:r>
            <a:r>
              <a:rPr lang="en-US" sz="1600" b="1" dirty="0">
                <a:effectLst/>
                <a:latin typeface="Arial Black" panose="020B0A04020102020204" pitchFamily="34" charset="0"/>
              </a:rPr>
              <a:t>weight them by distance</a:t>
            </a:r>
            <a:r>
              <a:rPr lang="en-US" sz="1600" dirty="0">
                <a:effectLst/>
                <a:latin typeface="Arial Black" panose="020B0A04020102020204" pitchFamily="34" charset="0"/>
              </a:rPr>
              <a:t>.</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Closer neighbors have more influence than farther ones.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This often improves performance, especially when data density varies.</a:t>
            </a:r>
            <a:endParaRPr lang="en-US" sz="1600" dirty="0">
              <a:latin typeface="Arial Black" panose="020B0A04020102020204" pitchFamily="34" charset="0"/>
            </a:endParaRPr>
          </a:p>
          <a:p>
            <a:pPr marL="285750" indent="-285750" algn="just">
              <a:buFont typeface="Arial" panose="020B0604020202020204" pitchFamily="34" charset="0"/>
              <a:buChar char="•"/>
            </a:pPr>
            <a:r>
              <a:rPr lang="en-US" sz="1600" dirty="0">
                <a:effectLst/>
                <a:latin typeface="Arial Black" panose="020B0A04020102020204" pitchFamily="34" charset="0"/>
              </a:rPr>
              <a:t>Teaching cue: Compare predictions with uniform vs. distance‑weighted voting.</a:t>
            </a:r>
            <a:endParaRPr lang="en-US" sz="1600" dirty="0">
              <a:latin typeface="Arial Black" panose="020B0A04020102020204" pitchFamily="34" charset="0"/>
            </a:endParaRPr>
          </a:p>
        </p:txBody>
      </p:sp>
    </p:spTree>
    <p:extLst>
      <p:ext uri="{BB962C8B-B14F-4D97-AF65-F5344CB8AC3E}">
        <p14:creationId xmlns:p14="http://schemas.microsoft.com/office/powerpoint/2010/main" val="3498536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083B6-A2BB-B926-2911-94789807BA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931972-7DA3-3CD9-FFA9-EEA5D3C9B598}"/>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1B2799D6-7886-D304-E1C6-22A692D06AD7}"/>
              </a:ext>
            </a:extLst>
          </p:cNvPr>
          <p:cNvSpPr txBox="1"/>
          <p:nvPr/>
        </p:nvSpPr>
        <p:spPr>
          <a:xfrm>
            <a:off x="867642" y="1241168"/>
            <a:ext cx="10068339" cy="1569660"/>
          </a:xfrm>
          <a:prstGeom prst="rect">
            <a:avLst/>
          </a:prstGeom>
          <a:noFill/>
        </p:spPr>
        <p:txBody>
          <a:bodyPr wrap="square">
            <a:spAutoFit/>
          </a:bodyPr>
          <a:lstStyle/>
          <a:p>
            <a:pPr algn="ctr">
              <a:buNone/>
            </a:pPr>
            <a:r>
              <a:rPr lang="en-US" sz="1600" b="1" dirty="0">
                <a:solidFill>
                  <a:srgbClr val="FF0000"/>
                </a:solidFill>
                <a:latin typeface="Arial Black" panose="020B0A04020102020204" pitchFamily="34" charset="0"/>
              </a:rPr>
              <a:t>Beyond Basics</a:t>
            </a:r>
          </a:p>
          <a:p>
            <a:pPr>
              <a:buNone/>
            </a:pPr>
            <a:endParaRPr lang="en-US" sz="1600" b="1"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KNN can be extended to regression (predicting continuous values).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It’s also used in recommendation systems (finding “nearest” users/items).</a:t>
            </a:r>
            <a:endParaRPr lang="en-US" sz="1600" dirty="0">
              <a:latin typeface="Arial Black" panose="020B0A04020102020204" pitchFamily="34" charset="0"/>
            </a:endParaRPr>
          </a:p>
          <a:p>
            <a:pPr marL="285750" indent="-285750">
              <a:buFont typeface="Arial" panose="020B0604020202020204" pitchFamily="34" charset="0"/>
              <a:buChar char="•"/>
            </a:pPr>
            <a:r>
              <a:rPr lang="en-US" sz="1600" dirty="0">
                <a:effectLst/>
                <a:latin typeface="Arial Black" panose="020B0A04020102020204" pitchFamily="34" charset="0"/>
              </a:rPr>
              <a:t>In high‑dimensional data, KNN struggles (curse of dimensionality) — a good segue into dimensionality reduction techniques like PCA.</a:t>
            </a:r>
            <a:endParaRPr lang="en-US" sz="1600" dirty="0">
              <a:latin typeface="Arial Black" panose="020B0A04020102020204" pitchFamily="34" charset="0"/>
            </a:endParaRPr>
          </a:p>
        </p:txBody>
      </p:sp>
    </p:spTree>
    <p:extLst>
      <p:ext uri="{BB962C8B-B14F-4D97-AF65-F5344CB8AC3E}">
        <p14:creationId xmlns:p14="http://schemas.microsoft.com/office/powerpoint/2010/main" val="1351270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F1210-609D-8C9B-DCC1-1A6413A2F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B6830-7F8A-47EA-96B6-A39DA54C6463}"/>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4" name="TextBox 3">
            <a:extLst>
              <a:ext uri="{FF2B5EF4-FFF2-40B4-BE49-F238E27FC236}">
                <a16:creationId xmlns:a16="http://schemas.microsoft.com/office/drawing/2014/main" id="{EF4E03E5-6F65-54BA-6AC4-213D98B2B500}"/>
              </a:ext>
            </a:extLst>
          </p:cNvPr>
          <p:cNvSpPr txBox="1"/>
          <p:nvPr/>
        </p:nvSpPr>
        <p:spPr>
          <a:xfrm>
            <a:off x="506897" y="1426490"/>
            <a:ext cx="10873408" cy="5355312"/>
          </a:xfrm>
          <a:prstGeom prst="rect">
            <a:avLst/>
          </a:prstGeom>
          <a:noFill/>
        </p:spPr>
        <p:txBody>
          <a:bodyPr wrap="square">
            <a:spAutoFit/>
          </a:bodyPr>
          <a:lstStyle/>
          <a:p>
            <a:pPr>
              <a:buNone/>
            </a:pPr>
            <a:r>
              <a:rPr lang="en-US" b="1" dirty="0">
                <a:latin typeface="Arial Black" panose="020B0A04020102020204" pitchFamily="34" charset="0"/>
              </a:rPr>
              <a:t>1</a:t>
            </a:r>
            <a:r>
              <a:rPr lang="en-US" b="1" dirty="0">
                <a:solidFill>
                  <a:srgbClr val="FF0000"/>
                </a:solidFill>
                <a:latin typeface="Arial Black" panose="020B0A04020102020204" pitchFamily="34" charset="0"/>
              </a:rPr>
              <a:t>. Collect Solar Flare Data</a:t>
            </a:r>
          </a:p>
          <a:p>
            <a:pPr>
              <a:buNone/>
            </a:pPr>
            <a:r>
              <a:rPr lang="en-US" dirty="0">
                <a:latin typeface="Arial Black" panose="020B0A04020102020204" pitchFamily="34" charset="0"/>
              </a:rPr>
              <a:t>Start Here</a:t>
            </a:r>
          </a:p>
          <a:p>
            <a:pPr>
              <a:buNone/>
            </a:pPr>
            <a:r>
              <a:rPr lang="en-US" dirty="0">
                <a:effectLst/>
                <a:latin typeface="Arial Black" panose="020B0A04020102020204" pitchFamily="34" charset="0"/>
              </a:rPr>
              <a:t>Gather observational data from satellites and instruments.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Use datasets from </a:t>
            </a:r>
            <a:r>
              <a:rPr lang="en-US" b="1" dirty="0">
                <a:effectLst/>
                <a:latin typeface="Arial Black" panose="020B0A04020102020204" pitchFamily="34" charset="0"/>
              </a:rPr>
              <a:t>GOES</a:t>
            </a:r>
            <a:r>
              <a:rPr lang="en-US" dirty="0">
                <a:effectLst/>
                <a:latin typeface="Arial Black" panose="020B0A04020102020204" pitchFamily="34" charset="0"/>
              </a:rPr>
              <a:t>, </a:t>
            </a:r>
            <a:r>
              <a:rPr lang="en-US" b="1" dirty="0">
                <a:effectLst/>
                <a:latin typeface="Arial Black" panose="020B0A04020102020204" pitchFamily="34" charset="0"/>
              </a:rPr>
              <a:t>Aditya-L1 </a:t>
            </a:r>
            <a:r>
              <a:rPr lang="en-US" b="1" dirty="0" err="1">
                <a:effectLst/>
                <a:latin typeface="Arial Black" panose="020B0A04020102020204" pitchFamily="34" charset="0"/>
              </a:rPr>
              <a:t>SoLEXS</a:t>
            </a:r>
            <a:r>
              <a:rPr lang="en-US" dirty="0">
                <a:effectLst/>
                <a:latin typeface="Arial Black" panose="020B0A04020102020204" pitchFamily="34" charset="0"/>
              </a:rPr>
              <a:t>, or </a:t>
            </a:r>
            <a:r>
              <a:rPr lang="en-US" b="1" dirty="0">
                <a:effectLst/>
                <a:latin typeface="Arial Black" panose="020B0A04020102020204" pitchFamily="34" charset="0"/>
              </a:rPr>
              <a:t>Solar Orbiter</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Record features such as </a:t>
            </a:r>
            <a:r>
              <a:rPr lang="en-US" b="1" dirty="0">
                <a:effectLst/>
                <a:latin typeface="Arial Black" panose="020B0A04020102020204" pitchFamily="34" charset="0"/>
              </a:rPr>
              <a:t>X-ray flux</a:t>
            </a:r>
            <a:r>
              <a:rPr lang="en-US" dirty="0">
                <a:effectLst/>
                <a:latin typeface="Arial Black" panose="020B0A04020102020204" pitchFamily="34" charset="0"/>
              </a:rPr>
              <a:t>, </a:t>
            </a:r>
            <a:r>
              <a:rPr lang="en-US" b="1" dirty="0">
                <a:effectLst/>
                <a:latin typeface="Arial Black" panose="020B0A04020102020204" pitchFamily="34" charset="0"/>
              </a:rPr>
              <a:t>duration</a:t>
            </a:r>
            <a:r>
              <a:rPr lang="en-US" dirty="0">
                <a:effectLst/>
                <a:latin typeface="Arial Black" panose="020B0A04020102020204" pitchFamily="34" charset="0"/>
              </a:rPr>
              <a:t>, </a:t>
            </a:r>
            <a:r>
              <a:rPr lang="en-US" b="1" dirty="0">
                <a:effectLst/>
                <a:latin typeface="Arial Black" panose="020B0A04020102020204" pitchFamily="34" charset="0"/>
              </a:rPr>
              <a:t>peak intensity</a:t>
            </a:r>
            <a:r>
              <a:rPr lang="en-US" dirty="0">
                <a:effectLst/>
                <a:latin typeface="Arial Black" panose="020B0A04020102020204" pitchFamily="34" charset="0"/>
              </a:rPr>
              <a:t>, and </a:t>
            </a:r>
            <a:r>
              <a:rPr lang="en-US" b="1" dirty="0">
                <a:effectLst/>
                <a:latin typeface="Arial Black" panose="020B0A04020102020204" pitchFamily="34" charset="0"/>
              </a:rPr>
              <a:t>spectral bands</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Label events by class (C, M, X)</a:t>
            </a:r>
            <a:endParaRPr lang="en-US" dirty="0">
              <a:latin typeface="Arial Black" panose="020B0A04020102020204" pitchFamily="34" charset="0"/>
            </a:endParaRPr>
          </a:p>
          <a:p>
            <a:pPr>
              <a:buNone/>
            </a:pPr>
            <a:endParaRPr lang="en-US" b="1" dirty="0">
              <a:latin typeface="Arial Black" panose="020B0A04020102020204" pitchFamily="34" charset="0"/>
            </a:endParaRPr>
          </a:p>
          <a:p>
            <a:pPr>
              <a:buNone/>
            </a:pPr>
            <a:r>
              <a:rPr lang="en-US" b="1" dirty="0">
                <a:latin typeface="Arial Black" panose="020B0A04020102020204" pitchFamily="34" charset="0"/>
              </a:rPr>
              <a:t>2. </a:t>
            </a:r>
            <a:r>
              <a:rPr lang="en-US" b="1" dirty="0">
                <a:solidFill>
                  <a:srgbClr val="FF0000"/>
                </a:solidFill>
                <a:latin typeface="Arial Black" panose="020B0A04020102020204" pitchFamily="34" charset="0"/>
              </a:rPr>
              <a:t>Preprocess and Normalize Features</a:t>
            </a:r>
          </a:p>
          <a:p>
            <a:pPr>
              <a:buNone/>
            </a:pPr>
            <a:r>
              <a:rPr lang="en-US" dirty="0">
                <a:effectLst/>
                <a:latin typeface="Arial Black" panose="020B0A04020102020204" pitchFamily="34" charset="0"/>
              </a:rPr>
              <a:t>Prepare the data so distance metrics are meaningful.</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Handle missing values and remove noise</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Normalize features (e.g., scale flux and duration)</a:t>
            </a:r>
            <a:endParaRPr lang="en-US" dirty="0">
              <a:latin typeface="Arial Black" panose="020B0A04020102020204" pitchFamily="34" charset="0"/>
            </a:endParaRPr>
          </a:p>
          <a:p>
            <a:pPr marL="285750" indent="-285750">
              <a:buFont typeface="Arial" panose="020B0604020202020204" pitchFamily="34" charset="0"/>
              <a:buChar char="•"/>
            </a:pPr>
            <a:r>
              <a:rPr lang="en-US" dirty="0">
                <a:effectLst/>
                <a:latin typeface="Arial Black" panose="020B0A04020102020204" pitchFamily="34" charset="0"/>
              </a:rPr>
              <a:t>Encode categorical labels (flare classes)</a:t>
            </a:r>
            <a:endParaRPr lang="en-US" dirty="0">
              <a:latin typeface="Arial Black" panose="020B0A04020102020204" pitchFamily="34" charset="0"/>
            </a:endParaRPr>
          </a:p>
          <a:p>
            <a:pPr>
              <a:buNone/>
            </a:pPr>
            <a:endParaRPr lang="en-US" b="1" dirty="0">
              <a:latin typeface="Arial Black" panose="020B0A04020102020204" pitchFamily="34" charset="0"/>
            </a:endParaRPr>
          </a:p>
          <a:p>
            <a:pPr>
              <a:buNone/>
            </a:pPr>
            <a:r>
              <a:rPr lang="en-US" b="1" dirty="0">
                <a:latin typeface="Arial Black" panose="020B0A04020102020204" pitchFamily="34" charset="0"/>
              </a:rPr>
              <a:t>3. </a:t>
            </a:r>
            <a:r>
              <a:rPr lang="en-US" b="1" dirty="0">
                <a:solidFill>
                  <a:srgbClr val="FF0000"/>
                </a:solidFill>
                <a:latin typeface="Arial Black" panose="020B0A04020102020204" pitchFamily="34" charset="0"/>
              </a:rPr>
              <a:t>Choose Distance Metric</a:t>
            </a:r>
          </a:p>
          <a:p>
            <a:pPr>
              <a:buNone/>
            </a:pPr>
            <a:r>
              <a:rPr lang="en-US" dirty="0">
                <a:effectLst/>
                <a:latin typeface="Arial Black" panose="020B0A04020102020204" pitchFamily="34" charset="0"/>
              </a:rPr>
              <a:t>Select how similarity between flare events is measured.</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Euclidean</a:t>
            </a:r>
            <a:r>
              <a:rPr lang="en-US" dirty="0">
                <a:effectLst/>
                <a:latin typeface="Arial Black" panose="020B0A04020102020204" pitchFamily="34" charset="0"/>
              </a:rPr>
              <a:t> for continuous flux and duration</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Manhattan</a:t>
            </a:r>
            <a:r>
              <a:rPr lang="en-US" dirty="0">
                <a:effectLst/>
                <a:latin typeface="Arial Black" panose="020B0A04020102020204" pitchFamily="34" charset="0"/>
              </a:rPr>
              <a:t> if emphasizing axis-aligned differences</a:t>
            </a:r>
            <a:endParaRPr lang="en-US" dirty="0">
              <a:latin typeface="Arial Black" panose="020B0A04020102020204" pitchFamily="34" charset="0"/>
            </a:endParaRPr>
          </a:p>
          <a:p>
            <a:pPr marL="285750" indent="-285750">
              <a:buFont typeface="Arial" panose="020B0604020202020204" pitchFamily="34" charset="0"/>
              <a:buChar char="•"/>
            </a:pPr>
            <a:r>
              <a:rPr lang="en-US" b="1" dirty="0">
                <a:effectLst/>
                <a:latin typeface="Arial Black" panose="020B0A04020102020204" pitchFamily="34" charset="0"/>
              </a:rPr>
              <a:t>Minkowski</a:t>
            </a:r>
            <a:r>
              <a:rPr lang="en-US" dirty="0">
                <a:effectLst/>
                <a:latin typeface="Arial Black" panose="020B0A04020102020204" pitchFamily="34" charset="0"/>
              </a:rPr>
              <a:t> for adjustable sensitivity</a:t>
            </a:r>
            <a:endParaRPr lang="en-US" dirty="0">
              <a:latin typeface="Arial Black" panose="020B0A04020102020204" pitchFamily="34" charset="0"/>
            </a:endParaRPr>
          </a:p>
          <a:p>
            <a:pPr>
              <a:buNone/>
            </a:pPr>
            <a:endParaRPr lang="en-US" dirty="0"/>
          </a:p>
        </p:txBody>
      </p:sp>
    </p:spTree>
    <p:extLst>
      <p:ext uri="{BB962C8B-B14F-4D97-AF65-F5344CB8AC3E}">
        <p14:creationId xmlns:p14="http://schemas.microsoft.com/office/powerpoint/2010/main" val="27114110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9D452-279E-D545-638B-76CE9C831C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32B56-55DB-B082-03FC-9CD1D0D75770}"/>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10CBA413-D267-36E7-80BD-AE37212DF74E}"/>
              </a:ext>
            </a:extLst>
          </p:cNvPr>
          <p:cNvSpPr txBox="1"/>
          <p:nvPr/>
        </p:nvSpPr>
        <p:spPr>
          <a:xfrm>
            <a:off x="1160420" y="1348341"/>
            <a:ext cx="9871160" cy="5078313"/>
          </a:xfrm>
          <a:prstGeom prst="rect">
            <a:avLst/>
          </a:prstGeom>
          <a:noFill/>
        </p:spPr>
        <p:txBody>
          <a:bodyPr wrap="square">
            <a:spAutoFit/>
          </a:bodyPr>
          <a:lstStyle/>
          <a:p>
            <a:pPr>
              <a:buNone/>
            </a:pPr>
            <a:r>
              <a:rPr lang="en-US" b="1" dirty="0">
                <a:solidFill>
                  <a:srgbClr val="FF0000"/>
                </a:solidFill>
                <a:latin typeface="Arial Black" panose="020B0A04020102020204" pitchFamily="34" charset="0"/>
              </a:rPr>
              <a:t>4. Select K Value</a:t>
            </a:r>
          </a:p>
          <a:p>
            <a:pPr>
              <a:buNone/>
            </a:pPr>
            <a:r>
              <a:rPr lang="en-US" dirty="0">
                <a:effectLst/>
                <a:latin typeface="Arial Black" panose="020B0A04020102020204" pitchFamily="34" charset="0"/>
              </a:rPr>
              <a:t>Determine the number of neighbors to consider.</a:t>
            </a:r>
            <a:endParaRPr lang="en-US" dirty="0">
              <a:latin typeface="Arial Black" panose="020B0A04020102020204" pitchFamily="34" charset="0"/>
            </a:endParaRPr>
          </a:p>
          <a:p>
            <a:pPr>
              <a:buFont typeface="Arial" panose="020B0604020202020204" pitchFamily="34" charset="0"/>
              <a:buChar char="•"/>
            </a:pPr>
            <a:r>
              <a:rPr lang="en-US" dirty="0">
                <a:effectLst/>
                <a:latin typeface="Arial Black" panose="020B0A04020102020204" pitchFamily="34" charset="0"/>
              </a:rPr>
              <a:t>Use </a:t>
            </a:r>
            <a:r>
              <a:rPr lang="en-US" b="1" dirty="0">
                <a:effectLst/>
                <a:latin typeface="Arial Black" panose="020B0A04020102020204" pitchFamily="34" charset="0"/>
              </a:rPr>
              <a:t>cross-validation</a:t>
            </a:r>
            <a:r>
              <a:rPr lang="en-US" dirty="0">
                <a:effectLst/>
                <a:latin typeface="Arial Black" panose="020B0A04020102020204" pitchFamily="34" charset="0"/>
              </a:rPr>
              <a:t> to find optimal K</a:t>
            </a:r>
            <a:endParaRPr lang="en-US" dirty="0">
              <a:latin typeface="Arial Black" panose="020B0A04020102020204" pitchFamily="34" charset="0"/>
            </a:endParaRPr>
          </a:p>
          <a:p>
            <a:pPr>
              <a:buFont typeface="Arial" panose="020B0604020202020204" pitchFamily="34" charset="0"/>
              <a:buChar char="•"/>
            </a:pPr>
            <a:r>
              <a:rPr lang="en-US" dirty="0">
                <a:effectLst/>
                <a:latin typeface="Arial Black" panose="020B0A04020102020204" pitchFamily="34" charset="0"/>
              </a:rPr>
              <a:t>Small K → sensitive to noise</a:t>
            </a:r>
            <a:endParaRPr lang="en-US" dirty="0">
              <a:latin typeface="Arial Black" panose="020B0A04020102020204" pitchFamily="34" charset="0"/>
            </a:endParaRPr>
          </a:p>
          <a:p>
            <a:pPr>
              <a:buFont typeface="Arial" panose="020B0604020202020204" pitchFamily="34" charset="0"/>
              <a:buChar char="•"/>
            </a:pPr>
            <a:r>
              <a:rPr lang="en-US" dirty="0">
                <a:effectLst/>
                <a:latin typeface="Arial Black" panose="020B0A04020102020204" pitchFamily="34" charset="0"/>
              </a:rPr>
              <a:t>Larger K → smoother classification boundaries</a:t>
            </a:r>
            <a:endParaRPr lang="en-US" dirty="0">
              <a:latin typeface="Arial Black" panose="020B0A04020102020204" pitchFamily="34" charset="0"/>
            </a:endParaRPr>
          </a:p>
          <a:p>
            <a:pPr>
              <a:buNone/>
            </a:pPr>
            <a:endParaRPr lang="en-US" b="1" dirty="0">
              <a:latin typeface="Arial Black" panose="020B0A04020102020204" pitchFamily="34" charset="0"/>
            </a:endParaRPr>
          </a:p>
          <a:p>
            <a:pPr>
              <a:buNone/>
            </a:pPr>
            <a:r>
              <a:rPr lang="en-US" b="1" dirty="0">
                <a:solidFill>
                  <a:srgbClr val="FF0000"/>
                </a:solidFill>
                <a:latin typeface="Arial Black" panose="020B0A04020102020204" pitchFamily="34" charset="0"/>
              </a:rPr>
              <a:t>5. Train and Predict</a:t>
            </a:r>
          </a:p>
          <a:p>
            <a:pPr>
              <a:buNone/>
            </a:pPr>
            <a:r>
              <a:rPr lang="en-US" dirty="0">
                <a:effectLst/>
                <a:latin typeface="Arial Black" panose="020B0A04020102020204" pitchFamily="34" charset="0"/>
              </a:rPr>
              <a:t>Apply KNN to classify new solar flare events.</a:t>
            </a:r>
            <a:endParaRPr lang="en-US" dirty="0">
              <a:latin typeface="Arial Black" panose="020B0A04020102020204" pitchFamily="34" charset="0"/>
            </a:endParaRPr>
          </a:p>
          <a:p>
            <a:pPr>
              <a:buFont typeface="Arial" panose="020B0604020202020204" pitchFamily="34" charset="0"/>
              <a:buChar char="•"/>
            </a:pPr>
            <a:r>
              <a:rPr lang="en-US" dirty="0">
                <a:effectLst/>
                <a:latin typeface="Arial Black" panose="020B0A04020102020204" pitchFamily="34" charset="0"/>
              </a:rPr>
              <a:t>Store all training flare examples</a:t>
            </a:r>
            <a:endParaRPr lang="en-US" dirty="0">
              <a:latin typeface="Arial Black" panose="020B0A04020102020204" pitchFamily="34" charset="0"/>
            </a:endParaRPr>
          </a:p>
          <a:p>
            <a:pPr>
              <a:buFont typeface="Arial" panose="020B0604020202020204" pitchFamily="34" charset="0"/>
              <a:buChar char="•"/>
            </a:pPr>
            <a:r>
              <a:rPr lang="en-US" dirty="0">
                <a:effectLst/>
                <a:latin typeface="Arial Black" panose="020B0A04020102020204" pitchFamily="34" charset="0"/>
              </a:rPr>
              <a:t>For a new flare, compute distances to all stored events</a:t>
            </a:r>
            <a:endParaRPr lang="en-US" dirty="0">
              <a:latin typeface="Arial Black" panose="020B0A04020102020204" pitchFamily="34" charset="0"/>
            </a:endParaRPr>
          </a:p>
          <a:p>
            <a:pPr>
              <a:buFont typeface="Arial" panose="020B0604020202020204" pitchFamily="34" charset="0"/>
              <a:buChar char="•"/>
            </a:pPr>
            <a:r>
              <a:rPr lang="en-US" dirty="0">
                <a:effectLst/>
                <a:latin typeface="Arial Black" panose="020B0A04020102020204" pitchFamily="34" charset="0"/>
              </a:rPr>
              <a:t>Predict class based on majority vote of nearest neighbors</a:t>
            </a:r>
            <a:endParaRPr lang="en-US" dirty="0">
              <a:latin typeface="Arial Black" panose="020B0A04020102020204" pitchFamily="34" charset="0"/>
            </a:endParaRPr>
          </a:p>
          <a:p>
            <a:pPr>
              <a:buNone/>
            </a:pPr>
            <a:endParaRPr lang="en-US" b="1" dirty="0">
              <a:latin typeface="Arial Black" panose="020B0A04020102020204" pitchFamily="34" charset="0"/>
            </a:endParaRPr>
          </a:p>
          <a:p>
            <a:pPr>
              <a:buNone/>
            </a:pPr>
            <a:r>
              <a:rPr lang="en-US" b="1" dirty="0">
                <a:solidFill>
                  <a:srgbClr val="FF0000"/>
                </a:solidFill>
                <a:latin typeface="Arial Black" panose="020B0A04020102020204" pitchFamily="34" charset="0"/>
              </a:rPr>
              <a:t>6. Evaluate Performance</a:t>
            </a:r>
          </a:p>
          <a:p>
            <a:pPr>
              <a:buNone/>
            </a:pPr>
            <a:r>
              <a:rPr lang="en-US" dirty="0">
                <a:latin typeface="Arial Black" panose="020B0A04020102020204" pitchFamily="34" charset="0"/>
              </a:rPr>
              <a:t>Recommended</a:t>
            </a:r>
          </a:p>
          <a:p>
            <a:pPr>
              <a:buNone/>
            </a:pPr>
            <a:r>
              <a:rPr lang="en-US" dirty="0">
                <a:effectLst/>
                <a:latin typeface="Arial Black" panose="020B0A04020102020204" pitchFamily="34" charset="0"/>
              </a:rPr>
              <a:t>Assess how well the model classifies solar flares.</a:t>
            </a:r>
            <a:endParaRPr lang="en-US" dirty="0">
              <a:latin typeface="Arial Black" panose="020B0A04020102020204" pitchFamily="34" charset="0"/>
            </a:endParaRPr>
          </a:p>
          <a:p>
            <a:pPr>
              <a:buFont typeface="Arial" panose="020B0604020202020204" pitchFamily="34" charset="0"/>
              <a:buChar char="•"/>
            </a:pPr>
            <a:r>
              <a:rPr lang="en-US" dirty="0">
                <a:effectLst/>
                <a:latin typeface="Arial Black" panose="020B0A04020102020204" pitchFamily="34" charset="0"/>
              </a:rPr>
              <a:t>Use metrics like </a:t>
            </a:r>
            <a:r>
              <a:rPr lang="en-US" b="1" dirty="0">
                <a:effectLst/>
                <a:latin typeface="Arial Black" panose="020B0A04020102020204" pitchFamily="34" charset="0"/>
              </a:rPr>
              <a:t>accuracy</a:t>
            </a:r>
            <a:r>
              <a:rPr lang="en-US" dirty="0">
                <a:effectLst/>
                <a:latin typeface="Arial Black" panose="020B0A04020102020204" pitchFamily="34" charset="0"/>
              </a:rPr>
              <a:t>, </a:t>
            </a:r>
            <a:r>
              <a:rPr lang="en-US" b="1" dirty="0">
                <a:effectLst/>
                <a:latin typeface="Arial Black" panose="020B0A04020102020204" pitchFamily="34" charset="0"/>
              </a:rPr>
              <a:t>precision</a:t>
            </a:r>
            <a:r>
              <a:rPr lang="en-US" dirty="0">
                <a:effectLst/>
                <a:latin typeface="Arial Black" panose="020B0A04020102020204" pitchFamily="34" charset="0"/>
              </a:rPr>
              <a:t>, </a:t>
            </a:r>
            <a:r>
              <a:rPr lang="en-US" b="1" dirty="0">
                <a:effectLst/>
                <a:latin typeface="Arial Black" panose="020B0A04020102020204" pitchFamily="34" charset="0"/>
              </a:rPr>
              <a:t>recall</a:t>
            </a:r>
            <a:r>
              <a:rPr lang="en-US" dirty="0">
                <a:effectLst/>
                <a:latin typeface="Arial Black" panose="020B0A04020102020204" pitchFamily="34" charset="0"/>
              </a:rPr>
              <a:t>, and </a:t>
            </a:r>
            <a:r>
              <a:rPr lang="en-US" b="1" dirty="0">
                <a:effectLst/>
                <a:latin typeface="Arial Black" panose="020B0A04020102020204" pitchFamily="34" charset="0"/>
              </a:rPr>
              <a:t>F1-score</a:t>
            </a:r>
            <a:endParaRPr lang="en-US" dirty="0">
              <a:latin typeface="Arial Black" panose="020B0A04020102020204" pitchFamily="34" charset="0"/>
            </a:endParaRPr>
          </a:p>
          <a:p>
            <a:pPr>
              <a:buFont typeface="Arial" panose="020B0604020202020204" pitchFamily="34" charset="0"/>
              <a:buChar char="•"/>
            </a:pPr>
            <a:r>
              <a:rPr lang="en-US" dirty="0">
                <a:effectLst/>
                <a:latin typeface="Arial Black" panose="020B0A04020102020204" pitchFamily="34" charset="0"/>
              </a:rPr>
              <a:t>Compare results with parametric models (e.g., Logistic Regression)</a:t>
            </a:r>
            <a:endParaRPr lang="en-US" dirty="0">
              <a:latin typeface="Arial Black" panose="020B0A04020102020204" pitchFamily="34" charset="0"/>
            </a:endParaRPr>
          </a:p>
          <a:p>
            <a:pPr>
              <a:buFont typeface="Arial" panose="020B0604020202020204" pitchFamily="34" charset="0"/>
              <a:buChar char="•"/>
            </a:pPr>
            <a:r>
              <a:rPr lang="en-US" dirty="0">
                <a:effectLst/>
                <a:latin typeface="Arial Black" panose="020B0A04020102020204" pitchFamily="34" charset="0"/>
              </a:rPr>
              <a:t>Adjust K or distance metric if needed</a:t>
            </a:r>
            <a:endParaRPr lang="en-US" dirty="0">
              <a:latin typeface="Arial Black" panose="020B0A04020102020204" pitchFamily="34" charset="0"/>
            </a:endParaRPr>
          </a:p>
        </p:txBody>
      </p:sp>
      <p:sp>
        <p:nvSpPr>
          <p:cNvPr id="6" name="TextBox 5">
            <a:extLst>
              <a:ext uri="{FF2B5EF4-FFF2-40B4-BE49-F238E27FC236}">
                <a16:creationId xmlns:a16="http://schemas.microsoft.com/office/drawing/2014/main" id="{3772572E-7F36-FBF8-9CB9-423CF666F205}"/>
              </a:ext>
            </a:extLst>
          </p:cNvPr>
          <p:cNvSpPr txBox="1"/>
          <p:nvPr/>
        </p:nvSpPr>
        <p:spPr>
          <a:xfrm>
            <a:off x="8825947" y="2701860"/>
            <a:ext cx="2942087" cy="646331"/>
          </a:xfrm>
          <a:prstGeom prst="rect">
            <a:avLst/>
          </a:prstGeom>
          <a:noFill/>
        </p:spPr>
        <p:txBody>
          <a:bodyPr wrap="none" rtlCol="0">
            <a:spAutoFit/>
          </a:bodyPr>
          <a:lstStyle/>
          <a:p>
            <a:r>
              <a:rPr lang="en-US" dirty="0">
                <a:solidFill>
                  <a:srgbClr val="7030A0"/>
                </a:solidFill>
                <a:latin typeface="Arial Black" panose="020B0A04020102020204" pitchFamily="34" charset="0"/>
              </a:rPr>
              <a:t>This is an example in </a:t>
            </a:r>
          </a:p>
          <a:p>
            <a:pPr algn="ctr"/>
            <a:r>
              <a:rPr lang="en-US" dirty="0">
                <a:solidFill>
                  <a:srgbClr val="7030A0"/>
                </a:solidFill>
                <a:latin typeface="Arial Black" panose="020B0A04020102020204" pitchFamily="34" charset="0"/>
              </a:rPr>
              <a:t>Space Science</a:t>
            </a:r>
          </a:p>
        </p:txBody>
      </p:sp>
    </p:spTree>
    <p:extLst>
      <p:ext uri="{BB962C8B-B14F-4D97-AF65-F5344CB8AC3E}">
        <p14:creationId xmlns:p14="http://schemas.microsoft.com/office/powerpoint/2010/main" val="21775521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657B9-724E-332B-3F39-5E8005472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BCBE0E-9C9D-7E35-82B3-04669ACE344F}"/>
              </a:ext>
            </a:extLst>
          </p:cNvPr>
          <p:cNvSpPr>
            <a:spLocks noGrp="1"/>
          </p:cNvSpPr>
          <p:nvPr>
            <p:ph type="ctrTitle"/>
          </p:nvPr>
        </p:nvSpPr>
        <p:spPr>
          <a:xfrm>
            <a:off x="1061883" y="76198"/>
            <a:ext cx="9679858" cy="1074021"/>
          </a:xfrm>
        </p:spPr>
        <p:txBody>
          <a:bodyPr>
            <a:normAutofit/>
          </a:bodyPr>
          <a:lstStyle/>
          <a:p>
            <a:r>
              <a:rPr lang="en-US" sz="3200" dirty="0">
                <a:latin typeface="Arial Black" panose="020B0A04020102020204" pitchFamily="34" charset="0"/>
              </a:rPr>
              <a:t>KNN ALGORITHM IN MACHINE LANGUAGE</a:t>
            </a:r>
          </a:p>
        </p:txBody>
      </p:sp>
      <p:sp>
        <p:nvSpPr>
          <p:cNvPr id="5" name="TextBox 4">
            <a:extLst>
              <a:ext uri="{FF2B5EF4-FFF2-40B4-BE49-F238E27FC236}">
                <a16:creationId xmlns:a16="http://schemas.microsoft.com/office/drawing/2014/main" id="{1595E499-8D27-9895-8386-CB9B91952CD4}"/>
              </a:ext>
            </a:extLst>
          </p:cNvPr>
          <p:cNvSpPr txBox="1"/>
          <p:nvPr/>
        </p:nvSpPr>
        <p:spPr>
          <a:xfrm>
            <a:off x="1026241" y="1332353"/>
            <a:ext cx="10139517" cy="3539430"/>
          </a:xfrm>
          <a:prstGeom prst="rect">
            <a:avLst/>
          </a:prstGeom>
          <a:noFill/>
        </p:spPr>
        <p:txBody>
          <a:bodyPr wrap="square">
            <a:spAutoFit/>
          </a:bodyPr>
          <a:lstStyle/>
          <a:p>
            <a:pPr algn="just">
              <a:buNone/>
            </a:pPr>
            <a:r>
              <a:rPr lang="en-US" sz="1600" dirty="0">
                <a:effectLst/>
                <a:latin typeface="Arial Black" panose="020B0A04020102020204" pitchFamily="34" charset="0"/>
              </a:rPr>
              <a:t>As we close this session, it is clear that the K‑Nearest Neighbors algorithm is more than just a simple classifier — it is a powerful reminder that proximity and similarity often shape outcomes. Whether we explored distance metrics, lazy learning, or the Titanic dataset, each example highlighted how KNN adapts flexibly to data without assuming rigid formulas. This adaptability makes it an essential tool for students to understand, not only as a machine learning technique but also as a way of thinking about relationships in data.</a:t>
            </a:r>
          </a:p>
          <a:p>
            <a:pPr algn="just">
              <a:buNone/>
            </a:pPr>
            <a:endParaRPr lang="en-US" sz="1600" dirty="0">
              <a:latin typeface="Arial Black" panose="020B0A04020102020204" pitchFamily="34" charset="0"/>
            </a:endParaRPr>
          </a:p>
          <a:p>
            <a:pPr algn="just">
              <a:buNone/>
            </a:pPr>
            <a:r>
              <a:rPr lang="en-US" sz="1600" dirty="0">
                <a:effectLst/>
                <a:latin typeface="Arial Black" panose="020B0A04020102020204" pitchFamily="34" charset="0"/>
              </a:rPr>
              <a:t>At the same time, we must recognize its trade‑offs: KNN’s strength lies in its simplicity and intuition, but it demands careful preprocessing, scaling, and thoughtful choice of distance metrics. The lesson here is that no algorithm is universally perfect — the “right” approach depends on the nature of the problem and the data at hand. By comparing KNN with eager, parametric models like Logistic Regression, we see how different philosophies of learning can complement each other in practice.</a:t>
            </a:r>
            <a:endParaRPr lang="en-US" sz="1600" dirty="0">
              <a:latin typeface="Arial Black" panose="020B0A04020102020204" pitchFamily="34" charset="0"/>
            </a:endParaRPr>
          </a:p>
        </p:txBody>
      </p:sp>
      <p:sp>
        <p:nvSpPr>
          <p:cNvPr id="8" name="TextBox 7">
            <a:extLst>
              <a:ext uri="{FF2B5EF4-FFF2-40B4-BE49-F238E27FC236}">
                <a16:creationId xmlns:a16="http://schemas.microsoft.com/office/drawing/2014/main" id="{C0E0229E-732C-4F8F-F9AB-5B6820F4DBF0}"/>
              </a:ext>
            </a:extLst>
          </p:cNvPr>
          <p:cNvSpPr txBox="1"/>
          <p:nvPr/>
        </p:nvSpPr>
        <p:spPr>
          <a:xfrm>
            <a:off x="1026241" y="5053917"/>
            <a:ext cx="10006194" cy="1323439"/>
          </a:xfrm>
          <a:prstGeom prst="rect">
            <a:avLst/>
          </a:prstGeom>
          <a:noFill/>
        </p:spPr>
        <p:txBody>
          <a:bodyPr wrap="square">
            <a:spAutoFit/>
          </a:bodyPr>
          <a:lstStyle/>
          <a:p>
            <a:pPr algn="just">
              <a:buNone/>
            </a:pPr>
            <a:r>
              <a:rPr lang="en-US" sz="1600" dirty="0">
                <a:effectLst/>
                <a:latin typeface="Arial Black" panose="020B0A04020102020204" pitchFamily="34" charset="0"/>
              </a:rPr>
              <a:t>Ultimately, KNN teaches us a broader truth: in data science, as in life, context and closeness matter. The neighbors we choose — whether in algorithms or in communities — shape the predictions we make and the futures we build. With this perspective, I encourage you to carry forward both the technical insights and the intuitive wisdom of KNN into your own explorations.</a:t>
            </a:r>
            <a:endParaRPr lang="en-US" sz="1600" dirty="0">
              <a:latin typeface="Arial Black" panose="020B0A04020102020204" pitchFamily="34" charset="0"/>
            </a:endParaRPr>
          </a:p>
        </p:txBody>
      </p:sp>
    </p:spTree>
    <p:extLst>
      <p:ext uri="{BB962C8B-B14F-4D97-AF65-F5344CB8AC3E}">
        <p14:creationId xmlns:p14="http://schemas.microsoft.com/office/powerpoint/2010/main" val="5211847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F8CCE-924F-F840-8D02-1FAD12FEC76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3796652-30F6-47EC-6A20-9FCAC49941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15009"/>
            <a:ext cx="7484165" cy="5227982"/>
          </a:xfrm>
          <a:prstGeom prst="rect">
            <a:avLst/>
          </a:prstGeom>
        </p:spPr>
      </p:pic>
      <p:sp>
        <p:nvSpPr>
          <p:cNvPr id="10" name="TextBox 9">
            <a:extLst>
              <a:ext uri="{FF2B5EF4-FFF2-40B4-BE49-F238E27FC236}">
                <a16:creationId xmlns:a16="http://schemas.microsoft.com/office/drawing/2014/main" id="{68559ED5-496F-35A3-E0EF-D7FDCAEB1A84}"/>
              </a:ext>
            </a:extLst>
          </p:cNvPr>
          <p:cNvSpPr txBox="1"/>
          <p:nvPr/>
        </p:nvSpPr>
        <p:spPr>
          <a:xfrm>
            <a:off x="7627454" y="1748064"/>
            <a:ext cx="4269685" cy="3539430"/>
          </a:xfrm>
          <a:prstGeom prst="rect">
            <a:avLst/>
          </a:prstGeom>
          <a:noFill/>
        </p:spPr>
        <p:txBody>
          <a:bodyPr wrap="square">
            <a:spAutoFit/>
          </a:bodyPr>
          <a:lstStyle/>
          <a:p>
            <a:pPr algn="just"/>
            <a:r>
              <a:rPr lang="en-US" sz="1600" dirty="0">
                <a:latin typeface="Arial Black" panose="020B0A04020102020204" pitchFamily="34" charset="0"/>
              </a:rPr>
              <a:t>“Before we conclude, let’s take a moment for your questions. We’ve explored lazy learning, distance metrics, and even how KNN can classify solar flares — but every insight becomes stronger when we discuss it together. So, if there’s a concept you’d like clarified, a topic you’d like reviewed, or a new idea you’d like to explore, now’s the time. Remember, curiosity is the real engine of learning — and today’s questions might spark tomorrow’s discoveries.”</a:t>
            </a:r>
          </a:p>
        </p:txBody>
      </p:sp>
    </p:spTree>
    <p:extLst>
      <p:ext uri="{BB962C8B-B14F-4D97-AF65-F5344CB8AC3E}">
        <p14:creationId xmlns:p14="http://schemas.microsoft.com/office/powerpoint/2010/main" val="42016914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253</TotalTime>
  <Words>4433</Words>
  <Application>Microsoft Office PowerPoint</Application>
  <PresentationFormat>Widescreen</PresentationFormat>
  <Paragraphs>416</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Aptos Display</vt:lpstr>
      <vt:lpstr>Arial</vt:lpstr>
      <vt:lpstr>Arial Black</vt:lpstr>
      <vt:lpstr>Cambria Math</vt:lpstr>
      <vt:lpstr>Verdana</vt:lpstr>
      <vt:lpstr>Office Theme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LAZY VERSUS LOGISTIC LEARNING</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KNN ALGORITHM IN MACHINE LANGUAGE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Ashok Gopalakrishnan</dc:creator>
  <cp:lastModifiedBy>Ashok Gopalakrishnan</cp:lastModifiedBy>
  <cp:revision>1</cp:revision>
  <dcterms:created xsi:type="dcterms:W3CDTF">2026-06-24T03:08:59Z</dcterms:created>
  <dcterms:modified xsi:type="dcterms:W3CDTF">2026-06-24T07:22:27Z</dcterms:modified>
</cp:coreProperties>
</file>