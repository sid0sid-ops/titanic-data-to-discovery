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4"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30B72-EAA4-445A-9C73-D6EAF929DE6B}" v="15" dt="2026-06-18T08:55:09.5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custSel addSld modSld">
      <pc:chgData name="Ashok Gopalakrishnan" userId="d8b748a0ad7c7b3a" providerId="LiveId" clId="{59FD0868-84F1-432F-883D-B36E85A19EB2}" dt="2026-06-18T08:55:50.947" v="778" actId="207"/>
      <pc:docMkLst>
        <pc:docMk/>
      </pc:docMkLst>
      <pc:sldChg chg="addSp delSp modSp mod">
        <pc:chgData name="Ashok Gopalakrishnan" userId="d8b748a0ad7c7b3a" providerId="LiveId" clId="{59FD0868-84F1-432F-883D-B36E85A19EB2}" dt="2026-06-18T04:43:46.881" v="4" actId="21"/>
        <pc:sldMkLst>
          <pc:docMk/>
          <pc:sldMk cId="1347343173" sldId="262"/>
        </pc:sldMkLst>
        <pc:picChg chg="add del mod">
          <ac:chgData name="Ashok Gopalakrishnan" userId="d8b748a0ad7c7b3a" providerId="LiveId" clId="{59FD0868-84F1-432F-883D-B36E85A19EB2}" dt="2026-06-18T04:43:46.881" v="4" actId="21"/>
          <ac:picMkLst>
            <pc:docMk/>
            <pc:sldMk cId="1347343173" sldId="262"/>
            <ac:picMk id="12" creationId="{180A85D2-2A9E-F05A-7401-522B6A1E0AD6}"/>
          </ac:picMkLst>
        </pc:picChg>
      </pc:sldChg>
      <pc:sldChg chg="addSp delSp modSp mod">
        <pc:chgData name="Ashok Gopalakrishnan" userId="d8b748a0ad7c7b3a" providerId="LiveId" clId="{59FD0868-84F1-432F-883D-B36E85A19EB2}" dt="2026-06-18T04:44:04.446" v="6" actId="1076"/>
        <pc:sldMkLst>
          <pc:docMk/>
          <pc:sldMk cId="3534061896" sldId="263"/>
        </pc:sldMkLst>
        <pc:picChg chg="del">
          <ac:chgData name="Ashok Gopalakrishnan" userId="d8b748a0ad7c7b3a" providerId="LiveId" clId="{59FD0868-84F1-432F-883D-B36E85A19EB2}" dt="2026-06-18T04:43:14.171" v="0" actId="21"/>
          <ac:picMkLst>
            <pc:docMk/>
            <pc:sldMk cId="3534061896" sldId="263"/>
            <ac:picMk id="4" creationId="{791C302B-EE33-2395-6776-4BE8351D206C}"/>
          </ac:picMkLst>
        </pc:picChg>
        <pc:picChg chg="add mod">
          <ac:chgData name="Ashok Gopalakrishnan" userId="d8b748a0ad7c7b3a" providerId="LiveId" clId="{59FD0868-84F1-432F-883D-B36E85A19EB2}" dt="2026-06-18T04:44:04.446" v="6" actId="1076"/>
          <ac:picMkLst>
            <pc:docMk/>
            <pc:sldMk cId="3534061896" sldId="263"/>
            <ac:picMk id="12" creationId="{180A85D2-2A9E-F05A-7401-522B6A1E0AD6}"/>
          </ac:picMkLst>
        </pc:picChg>
      </pc:sldChg>
      <pc:sldChg chg="addSp delSp modSp add mod">
        <pc:chgData name="Ashok Gopalakrishnan" userId="d8b748a0ad7c7b3a" providerId="LiveId" clId="{59FD0868-84F1-432F-883D-B36E85A19EB2}" dt="2026-06-18T05:04:51.155" v="34" actId="255"/>
        <pc:sldMkLst>
          <pc:docMk/>
          <pc:sldMk cId="3145473941" sldId="265"/>
        </pc:sldMkLst>
        <pc:spChg chg="del">
          <ac:chgData name="Ashok Gopalakrishnan" userId="d8b748a0ad7c7b3a" providerId="LiveId" clId="{59FD0868-84F1-432F-883D-B36E85A19EB2}" dt="2026-06-18T04:59:41.095" v="8" actId="478"/>
          <ac:spMkLst>
            <pc:docMk/>
            <pc:sldMk cId="3145473941" sldId="265"/>
            <ac:spMk id="3" creationId="{0D1168DF-374B-614A-BD47-75936C6376E9}"/>
          </ac:spMkLst>
        </pc:spChg>
        <pc:spChg chg="add mod">
          <ac:chgData name="Ashok Gopalakrishnan" userId="d8b748a0ad7c7b3a" providerId="LiveId" clId="{59FD0868-84F1-432F-883D-B36E85A19EB2}" dt="2026-06-18T05:03:47.740" v="24" actId="1076"/>
          <ac:spMkLst>
            <pc:docMk/>
            <pc:sldMk cId="3145473941" sldId="265"/>
            <ac:spMk id="4" creationId="{8FCD2B96-B95E-4A47-567A-A9481CBA98A9}"/>
          </ac:spMkLst>
        </pc:spChg>
        <pc:spChg chg="add mod">
          <ac:chgData name="Ashok Gopalakrishnan" userId="d8b748a0ad7c7b3a" providerId="LiveId" clId="{59FD0868-84F1-432F-883D-B36E85A19EB2}" dt="2026-06-18T05:04:51.155" v="34" actId="255"/>
          <ac:spMkLst>
            <pc:docMk/>
            <pc:sldMk cId="3145473941" sldId="265"/>
            <ac:spMk id="9" creationId="{AC7FA3FA-CDFE-7D0C-E550-3C8228ADD18F}"/>
          </ac:spMkLst>
        </pc:spChg>
        <pc:picChg chg="add mod">
          <ac:chgData name="Ashok Gopalakrishnan" userId="d8b748a0ad7c7b3a" providerId="LiveId" clId="{59FD0868-84F1-432F-883D-B36E85A19EB2}" dt="2026-06-18T05:03:53.172" v="25" actId="1076"/>
          <ac:picMkLst>
            <pc:docMk/>
            <pc:sldMk cId="3145473941" sldId="265"/>
            <ac:picMk id="7" creationId="{345697F4-4D1C-4309-76DA-DCC4A96618EF}"/>
          </ac:picMkLst>
        </pc:picChg>
        <pc:picChg chg="del">
          <ac:chgData name="Ashok Gopalakrishnan" userId="d8b748a0ad7c7b3a" providerId="LiveId" clId="{59FD0868-84F1-432F-883D-B36E85A19EB2}" dt="2026-06-18T04:59:43.718" v="9" actId="478"/>
          <ac:picMkLst>
            <pc:docMk/>
            <pc:sldMk cId="3145473941" sldId="265"/>
            <ac:picMk id="12" creationId="{475E66A6-8A06-B078-9C62-51D560FE3451}"/>
          </ac:picMkLst>
        </pc:picChg>
      </pc:sldChg>
      <pc:sldChg chg="addSp delSp modSp add mod">
        <pc:chgData name="Ashok Gopalakrishnan" userId="d8b748a0ad7c7b3a" providerId="LiveId" clId="{59FD0868-84F1-432F-883D-B36E85A19EB2}" dt="2026-06-18T05:10:26.648" v="87" actId="1076"/>
        <pc:sldMkLst>
          <pc:docMk/>
          <pc:sldMk cId="1749788628" sldId="266"/>
        </pc:sldMkLst>
        <pc:spChg chg="add mod">
          <ac:chgData name="Ashok Gopalakrishnan" userId="d8b748a0ad7c7b3a" providerId="LiveId" clId="{59FD0868-84F1-432F-883D-B36E85A19EB2}" dt="2026-06-18T05:07:54.270" v="59" actId="1076"/>
          <ac:spMkLst>
            <pc:docMk/>
            <pc:sldMk cId="1749788628" sldId="266"/>
            <ac:spMk id="3" creationId="{6D0C0528-B486-A1EF-C88D-E16E9E553B53}"/>
          </ac:spMkLst>
        </pc:spChg>
        <pc:spChg chg="del">
          <ac:chgData name="Ashok Gopalakrishnan" userId="d8b748a0ad7c7b3a" providerId="LiveId" clId="{59FD0868-84F1-432F-883D-B36E85A19EB2}" dt="2026-06-18T05:02:40.523" v="22" actId="478"/>
          <ac:spMkLst>
            <pc:docMk/>
            <pc:sldMk cId="1749788628" sldId="266"/>
            <ac:spMk id="4" creationId="{4F8BE101-E3AD-8274-EAE4-F4D0BB261143}"/>
          </ac:spMkLst>
        </pc:spChg>
        <pc:spChg chg="add mod">
          <ac:chgData name="Ashok Gopalakrishnan" userId="d8b748a0ad7c7b3a" providerId="LiveId" clId="{59FD0868-84F1-432F-883D-B36E85A19EB2}" dt="2026-06-18T05:07:58.006" v="60" actId="1076"/>
          <ac:spMkLst>
            <pc:docMk/>
            <pc:sldMk cId="1749788628" sldId="266"/>
            <ac:spMk id="8" creationId="{1DD24B4E-9EB4-5019-F0D5-D66BB19EE7AB}"/>
          </ac:spMkLst>
        </pc:spChg>
        <pc:spChg chg="add mod">
          <ac:chgData name="Ashok Gopalakrishnan" userId="d8b748a0ad7c7b3a" providerId="LiveId" clId="{59FD0868-84F1-432F-883D-B36E85A19EB2}" dt="2026-06-18T05:10:26.648" v="87" actId="1076"/>
          <ac:spMkLst>
            <pc:docMk/>
            <pc:sldMk cId="1749788628" sldId="266"/>
            <ac:spMk id="10" creationId="{F4DB9057-618E-24E0-36DD-8383EAA809A2}"/>
          </ac:spMkLst>
        </pc:spChg>
        <pc:picChg chg="del">
          <ac:chgData name="Ashok Gopalakrishnan" userId="d8b748a0ad7c7b3a" providerId="LiveId" clId="{59FD0868-84F1-432F-883D-B36E85A19EB2}" dt="2026-06-18T05:02:42.927" v="23" actId="478"/>
          <ac:picMkLst>
            <pc:docMk/>
            <pc:sldMk cId="1749788628" sldId="266"/>
            <ac:picMk id="7" creationId="{B142C794-71DD-421E-DB4D-B1BD569F16DF}"/>
          </ac:picMkLst>
        </pc:picChg>
      </pc:sldChg>
      <pc:sldChg chg="addSp delSp modSp add mod">
        <pc:chgData name="Ashok Gopalakrishnan" userId="d8b748a0ad7c7b3a" providerId="LiveId" clId="{59FD0868-84F1-432F-883D-B36E85A19EB2}" dt="2026-06-18T05:15:44.562" v="113" actId="207"/>
        <pc:sldMkLst>
          <pc:docMk/>
          <pc:sldMk cId="429921543" sldId="267"/>
        </pc:sldMkLst>
        <pc:spChg chg="del">
          <ac:chgData name="Ashok Gopalakrishnan" userId="d8b748a0ad7c7b3a" providerId="LiveId" clId="{59FD0868-84F1-432F-883D-B36E85A19EB2}" dt="2026-06-18T05:08:09.277" v="63" actId="478"/>
          <ac:spMkLst>
            <pc:docMk/>
            <pc:sldMk cId="429921543" sldId="267"/>
            <ac:spMk id="3" creationId="{65ADF7D1-2E31-A507-ABCB-BE9B67812C62}"/>
          </ac:spMkLst>
        </pc:spChg>
        <pc:spChg chg="add mod">
          <ac:chgData name="Ashok Gopalakrishnan" userId="d8b748a0ad7c7b3a" providerId="LiveId" clId="{59FD0868-84F1-432F-883D-B36E85A19EB2}" dt="2026-06-18T05:15:44.562" v="113" actId="207"/>
          <ac:spMkLst>
            <pc:docMk/>
            <pc:sldMk cId="429921543" sldId="267"/>
            <ac:spMk id="4" creationId="{D775A9C8-64E2-5EE6-7AEE-9B1F814168B5}"/>
          </ac:spMkLst>
        </pc:spChg>
        <pc:spChg chg="del">
          <ac:chgData name="Ashok Gopalakrishnan" userId="d8b748a0ad7c7b3a" providerId="LiveId" clId="{59FD0868-84F1-432F-883D-B36E85A19EB2}" dt="2026-06-18T05:08:06.646" v="62" actId="478"/>
          <ac:spMkLst>
            <pc:docMk/>
            <pc:sldMk cId="429921543" sldId="267"/>
            <ac:spMk id="8" creationId="{5D28243D-4A68-A210-C646-ED0A011AA6DF}"/>
          </ac:spMkLst>
        </pc:spChg>
        <pc:graphicFrameChg chg="add mod modGraphic">
          <ac:chgData name="Ashok Gopalakrishnan" userId="d8b748a0ad7c7b3a" providerId="LiveId" clId="{59FD0868-84F1-432F-883D-B36E85A19EB2}" dt="2026-06-18T05:08:38.355" v="67" actId="207"/>
          <ac:graphicFrameMkLst>
            <pc:docMk/>
            <pc:sldMk cId="429921543" sldId="267"/>
            <ac:graphicFrameMk id="2" creationId="{E640C245-8D73-0994-7B96-378BD3819EB5}"/>
          </ac:graphicFrameMkLst>
        </pc:graphicFrameChg>
      </pc:sldChg>
      <pc:sldChg chg="addSp delSp modSp add mod">
        <pc:chgData name="Ashok Gopalakrishnan" userId="d8b748a0ad7c7b3a" providerId="LiveId" clId="{59FD0868-84F1-432F-883D-B36E85A19EB2}" dt="2026-06-18T05:19:18.462" v="152" actId="1076"/>
        <pc:sldMkLst>
          <pc:docMk/>
          <pc:sldMk cId="2274655534" sldId="268"/>
        </pc:sldMkLst>
        <pc:spChg chg="del">
          <ac:chgData name="Ashok Gopalakrishnan" userId="d8b748a0ad7c7b3a" providerId="LiveId" clId="{59FD0868-84F1-432F-883D-B36E85A19EB2}" dt="2026-06-18T05:16:03.448" v="116" actId="478"/>
          <ac:spMkLst>
            <pc:docMk/>
            <pc:sldMk cId="2274655534" sldId="268"/>
            <ac:spMk id="4" creationId="{F1F752B4-8DAD-2552-0DF4-FAAB88915235}"/>
          </ac:spMkLst>
        </pc:spChg>
        <pc:spChg chg="add mod">
          <ac:chgData name="Ashok Gopalakrishnan" userId="d8b748a0ad7c7b3a" providerId="LiveId" clId="{59FD0868-84F1-432F-883D-B36E85A19EB2}" dt="2026-06-18T05:19:16.570" v="151" actId="1076"/>
          <ac:spMkLst>
            <pc:docMk/>
            <pc:sldMk cId="2274655534" sldId="268"/>
            <ac:spMk id="5" creationId="{483A099D-B2EA-D9F9-5C21-24E5FF53E288}"/>
          </ac:spMkLst>
        </pc:spChg>
        <pc:graphicFrameChg chg="del">
          <ac:chgData name="Ashok Gopalakrishnan" userId="d8b748a0ad7c7b3a" providerId="LiveId" clId="{59FD0868-84F1-432F-883D-B36E85A19EB2}" dt="2026-06-18T05:16:01.620" v="115" actId="478"/>
          <ac:graphicFrameMkLst>
            <pc:docMk/>
            <pc:sldMk cId="2274655534" sldId="268"/>
            <ac:graphicFrameMk id="2" creationId="{15A9CD5D-E0BD-A378-66C4-D30B0DF2D655}"/>
          </ac:graphicFrameMkLst>
        </pc:graphicFrameChg>
        <pc:picChg chg="add mod">
          <ac:chgData name="Ashok Gopalakrishnan" userId="d8b748a0ad7c7b3a" providerId="LiveId" clId="{59FD0868-84F1-432F-883D-B36E85A19EB2}" dt="2026-06-18T05:19:18.462" v="152" actId="1076"/>
          <ac:picMkLst>
            <pc:docMk/>
            <pc:sldMk cId="2274655534" sldId="268"/>
            <ac:picMk id="8" creationId="{4A2E47CC-CE50-102C-D67E-629D57D767AF}"/>
          </ac:picMkLst>
        </pc:picChg>
      </pc:sldChg>
      <pc:sldChg chg="addSp delSp modSp add mod">
        <pc:chgData name="Ashok Gopalakrishnan" userId="d8b748a0ad7c7b3a" providerId="LiveId" clId="{59FD0868-84F1-432F-883D-B36E85A19EB2}" dt="2026-06-18T05:21:51.452" v="164" actId="207"/>
        <pc:sldMkLst>
          <pc:docMk/>
          <pc:sldMk cId="1110020652" sldId="269"/>
        </pc:sldMkLst>
        <pc:spChg chg="add mod">
          <ac:chgData name="Ashok Gopalakrishnan" userId="d8b748a0ad7c7b3a" providerId="LiveId" clId="{59FD0868-84F1-432F-883D-B36E85A19EB2}" dt="2026-06-18T05:21:00.992" v="161" actId="255"/>
          <ac:spMkLst>
            <pc:docMk/>
            <pc:sldMk cId="1110020652" sldId="269"/>
            <ac:spMk id="3" creationId="{31DF7A44-6A01-0839-2480-314F7C9DEF0B}"/>
          </ac:spMkLst>
        </pc:spChg>
        <pc:spChg chg="del">
          <ac:chgData name="Ashok Gopalakrishnan" userId="d8b748a0ad7c7b3a" providerId="LiveId" clId="{59FD0868-84F1-432F-883D-B36E85A19EB2}" dt="2026-06-18T05:19:42.011" v="155" actId="478"/>
          <ac:spMkLst>
            <pc:docMk/>
            <pc:sldMk cId="1110020652" sldId="269"/>
            <ac:spMk id="5" creationId="{F5209CFD-D2C3-38B3-860C-CFE714349CB7}"/>
          </ac:spMkLst>
        </pc:spChg>
        <pc:graphicFrameChg chg="add mod modGraphic">
          <ac:chgData name="Ashok Gopalakrishnan" userId="d8b748a0ad7c7b3a" providerId="LiveId" clId="{59FD0868-84F1-432F-883D-B36E85A19EB2}" dt="2026-06-18T05:21:51.452" v="164" actId="207"/>
          <ac:graphicFrameMkLst>
            <pc:docMk/>
            <pc:sldMk cId="1110020652" sldId="269"/>
            <ac:graphicFrameMk id="4" creationId="{899D933D-4BE6-72DD-9D90-A154D791063E}"/>
          </ac:graphicFrameMkLst>
        </pc:graphicFrameChg>
        <pc:picChg chg="del">
          <ac:chgData name="Ashok Gopalakrishnan" userId="d8b748a0ad7c7b3a" providerId="LiveId" clId="{59FD0868-84F1-432F-883D-B36E85A19EB2}" dt="2026-06-18T05:19:39.028" v="154" actId="478"/>
          <ac:picMkLst>
            <pc:docMk/>
            <pc:sldMk cId="1110020652" sldId="269"/>
            <ac:picMk id="8" creationId="{0FE6717F-0DE9-C235-B7DF-707CFE777D75}"/>
          </ac:picMkLst>
        </pc:picChg>
      </pc:sldChg>
      <pc:sldChg chg="addSp delSp modSp add mod">
        <pc:chgData name="Ashok Gopalakrishnan" userId="d8b748a0ad7c7b3a" providerId="LiveId" clId="{59FD0868-84F1-432F-883D-B36E85A19EB2}" dt="2026-06-18T05:25:53.656" v="200" actId="255"/>
        <pc:sldMkLst>
          <pc:docMk/>
          <pc:sldMk cId="148456710" sldId="270"/>
        </pc:sldMkLst>
        <pc:spChg chg="del">
          <ac:chgData name="Ashok Gopalakrishnan" userId="d8b748a0ad7c7b3a" providerId="LiveId" clId="{59FD0868-84F1-432F-883D-B36E85A19EB2}" dt="2026-06-18T05:22:19.075" v="167" actId="478"/>
          <ac:spMkLst>
            <pc:docMk/>
            <pc:sldMk cId="148456710" sldId="270"/>
            <ac:spMk id="3" creationId="{A56AD7A2-A0D2-13B3-1452-63109D383EA2}"/>
          </ac:spMkLst>
        </pc:spChg>
        <pc:spChg chg="add mod">
          <ac:chgData name="Ashok Gopalakrishnan" userId="d8b748a0ad7c7b3a" providerId="LiveId" clId="{59FD0868-84F1-432F-883D-B36E85A19EB2}" dt="2026-06-18T05:23:39.916" v="179" actId="207"/>
          <ac:spMkLst>
            <pc:docMk/>
            <pc:sldMk cId="148456710" sldId="270"/>
            <ac:spMk id="5" creationId="{367C18C8-F427-950D-BA74-00A3CEE2E951}"/>
          </ac:spMkLst>
        </pc:spChg>
        <pc:spChg chg="add mod">
          <ac:chgData name="Ashok Gopalakrishnan" userId="d8b748a0ad7c7b3a" providerId="LiveId" clId="{59FD0868-84F1-432F-883D-B36E85A19EB2}" dt="2026-06-18T05:25:53.656" v="200" actId="255"/>
          <ac:spMkLst>
            <pc:docMk/>
            <pc:sldMk cId="148456710" sldId="270"/>
            <ac:spMk id="8" creationId="{FB2D46B0-C6A6-1613-2454-EEDA844D653A}"/>
          </ac:spMkLst>
        </pc:spChg>
        <pc:graphicFrameChg chg="del">
          <ac:chgData name="Ashok Gopalakrishnan" userId="d8b748a0ad7c7b3a" providerId="LiveId" clId="{59FD0868-84F1-432F-883D-B36E85A19EB2}" dt="2026-06-18T05:22:16.463" v="166" actId="478"/>
          <ac:graphicFrameMkLst>
            <pc:docMk/>
            <pc:sldMk cId="148456710" sldId="270"/>
            <ac:graphicFrameMk id="4" creationId="{E6034AA9-4839-0515-4DFD-B771CC33F8C8}"/>
          </ac:graphicFrameMkLst>
        </pc:graphicFrameChg>
      </pc:sldChg>
      <pc:sldChg chg="addSp delSp modSp add mod">
        <pc:chgData name="Ashok Gopalakrishnan" userId="d8b748a0ad7c7b3a" providerId="LiveId" clId="{59FD0868-84F1-432F-883D-B36E85A19EB2}" dt="2026-06-18T07:13:38.172" v="239" actId="207"/>
        <pc:sldMkLst>
          <pc:docMk/>
          <pc:sldMk cId="2661616445" sldId="271"/>
        </pc:sldMkLst>
        <pc:spChg chg="add mod">
          <ac:chgData name="Ashok Gopalakrishnan" userId="d8b748a0ad7c7b3a" providerId="LiveId" clId="{59FD0868-84F1-432F-883D-B36E85A19EB2}" dt="2026-06-18T07:10:10.724" v="210" actId="1076"/>
          <ac:spMkLst>
            <pc:docMk/>
            <pc:sldMk cId="2661616445" sldId="271"/>
            <ac:spMk id="3" creationId="{1B85C3C5-F8E1-95B6-2BB4-0B3EA64B26A8}"/>
          </ac:spMkLst>
        </pc:spChg>
        <pc:spChg chg="del">
          <ac:chgData name="Ashok Gopalakrishnan" userId="d8b748a0ad7c7b3a" providerId="LiveId" clId="{59FD0868-84F1-432F-883D-B36E85A19EB2}" dt="2026-06-18T07:09:37.585" v="203" actId="478"/>
          <ac:spMkLst>
            <pc:docMk/>
            <pc:sldMk cId="2661616445" sldId="271"/>
            <ac:spMk id="5" creationId="{24E206CB-17B7-ADDC-BD49-5067A5A0E36A}"/>
          </ac:spMkLst>
        </pc:spChg>
        <pc:spChg chg="add mod">
          <ac:chgData name="Ashok Gopalakrishnan" userId="d8b748a0ad7c7b3a" providerId="LiveId" clId="{59FD0868-84F1-432F-883D-B36E85A19EB2}" dt="2026-06-18T07:13:18.985" v="236" actId="1076"/>
          <ac:spMkLst>
            <pc:docMk/>
            <pc:sldMk cId="2661616445" sldId="271"/>
            <ac:spMk id="7" creationId="{4AFF9911-8D76-2AE8-1C00-4A4F4D635EC6}"/>
          </ac:spMkLst>
        </pc:spChg>
        <pc:spChg chg="del">
          <ac:chgData name="Ashok Gopalakrishnan" userId="d8b748a0ad7c7b3a" providerId="LiveId" clId="{59FD0868-84F1-432F-883D-B36E85A19EB2}" dt="2026-06-18T07:09:34.326" v="202" actId="478"/>
          <ac:spMkLst>
            <pc:docMk/>
            <pc:sldMk cId="2661616445" sldId="271"/>
            <ac:spMk id="8" creationId="{05F9BF89-AFAE-F0A7-7CDD-9447D4A6AA15}"/>
          </ac:spMkLst>
        </pc:spChg>
        <pc:spChg chg="add mod">
          <ac:chgData name="Ashok Gopalakrishnan" userId="d8b748a0ad7c7b3a" providerId="LiveId" clId="{59FD0868-84F1-432F-883D-B36E85A19EB2}" dt="2026-06-18T07:13:38.172" v="239" actId="207"/>
          <ac:spMkLst>
            <pc:docMk/>
            <pc:sldMk cId="2661616445" sldId="271"/>
            <ac:spMk id="10" creationId="{E02AEBFE-8AF7-E1AB-B954-8E4B7675432C}"/>
          </ac:spMkLst>
        </pc:spChg>
      </pc:sldChg>
      <pc:sldChg chg="addSp delSp modSp add mod">
        <pc:chgData name="Ashok Gopalakrishnan" userId="d8b748a0ad7c7b3a" providerId="LiveId" clId="{59FD0868-84F1-432F-883D-B36E85A19EB2}" dt="2026-06-18T07:16:26.007" v="263" actId="207"/>
        <pc:sldMkLst>
          <pc:docMk/>
          <pc:sldMk cId="3000329129" sldId="272"/>
        </pc:sldMkLst>
        <pc:spChg chg="add mod">
          <ac:chgData name="Ashok Gopalakrishnan" userId="d8b748a0ad7c7b3a" providerId="LiveId" clId="{59FD0868-84F1-432F-883D-B36E85A19EB2}" dt="2026-06-18T07:16:26.007" v="263" actId="207"/>
          <ac:spMkLst>
            <pc:docMk/>
            <pc:sldMk cId="3000329129" sldId="272"/>
            <ac:spMk id="4" creationId="{BCCB2BD4-2853-47A6-95BF-DE9D8BC9A85D}"/>
          </ac:spMkLst>
        </pc:spChg>
        <pc:spChg chg="del">
          <ac:chgData name="Ashok Gopalakrishnan" userId="d8b748a0ad7c7b3a" providerId="LiveId" clId="{59FD0868-84F1-432F-883D-B36E85A19EB2}" dt="2026-06-18T07:15:03.569" v="247" actId="478"/>
          <ac:spMkLst>
            <pc:docMk/>
            <pc:sldMk cId="3000329129" sldId="272"/>
            <ac:spMk id="7" creationId="{E7E09873-4444-B815-9CAE-75C1B12A3E69}"/>
          </ac:spMkLst>
        </pc:spChg>
        <pc:spChg chg="del">
          <ac:chgData name="Ashok Gopalakrishnan" userId="d8b748a0ad7c7b3a" providerId="LiveId" clId="{59FD0868-84F1-432F-883D-B36E85A19EB2}" dt="2026-06-18T07:14:10.752" v="241" actId="478"/>
          <ac:spMkLst>
            <pc:docMk/>
            <pc:sldMk cId="3000329129" sldId="272"/>
            <ac:spMk id="10" creationId="{F7088F32-B299-5DAC-ACCB-D6073A30B87E}"/>
          </ac:spMkLst>
        </pc:spChg>
      </pc:sldChg>
      <pc:sldChg chg="addSp delSp modSp add mod">
        <pc:chgData name="Ashok Gopalakrishnan" userId="d8b748a0ad7c7b3a" providerId="LiveId" clId="{59FD0868-84F1-432F-883D-B36E85A19EB2}" dt="2026-06-18T07:19:28.284" v="291" actId="1076"/>
        <pc:sldMkLst>
          <pc:docMk/>
          <pc:sldMk cId="109541497" sldId="273"/>
        </pc:sldMkLst>
        <pc:spChg chg="del">
          <ac:chgData name="Ashok Gopalakrishnan" userId="d8b748a0ad7c7b3a" providerId="LiveId" clId="{59FD0868-84F1-432F-883D-B36E85A19EB2}" dt="2026-06-18T07:16:41.511" v="265" actId="478"/>
          <ac:spMkLst>
            <pc:docMk/>
            <pc:sldMk cId="109541497" sldId="273"/>
            <ac:spMk id="4" creationId="{6D2A3833-CB3F-200F-80B8-A2FD1EC736F5}"/>
          </ac:spMkLst>
        </pc:spChg>
        <pc:spChg chg="add mod">
          <ac:chgData name="Ashok Gopalakrishnan" userId="d8b748a0ad7c7b3a" providerId="LiveId" clId="{59FD0868-84F1-432F-883D-B36E85A19EB2}" dt="2026-06-18T07:19:25.373" v="290" actId="1076"/>
          <ac:spMkLst>
            <pc:docMk/>
            <pc:sldMk cId="109541497" sldId="273"/>
            <ac:spMk id="5" creationId="{A0AD2750-513E-968A-4C70-8DC13E3EADE7}"/>
          </ac:spMkLst>
        </pc:spChg>
        <pc:spChg chg="add mod">
          <ac:chgData name="Ashok Gopalakrishnan" userId="d8b748a0ad7c7b3a" providerId="LiveId" clId="{59FD0868-84F1-432F-883D-B36E85A19EB2}" dt="2026-06-18T07:19:28.284" v="291" actId="1076"/>
          <ac:spMkLst>
            <pc:docMk/>
            <pc:sldMk cId="109541497" sldId="273"/>
            <ac:spMk id="8" creationId="{4C22AF06-50A1-7DC5-3912-F74878B90740}"/>
          </ac:spMkLst>
        </pc:spChg>
      </pc:sldChg>
      <pc:sldChg chg="addSp delSp modSp add mod">
        <pc:chgData name="Ashok Gopalakrishnan" userId="d8b748a0ad7c7b3a" providerId="LiveId" clId="{59FD0868-84F1-432F-883D-B36E85A19EB2}" dt="2026-06-18T07:22:26.935" v="315" actId="207"/>
        <pc:sldMkLst>
          <pc:docMk/>
          <pc:sldMk cId="3211333770" sldId="274"/>
        </pc:sldMkLst>
        <pc:spChg chg="del">
          <ac:chgData name="Ashok Gopalakrishnan" userId="d8b748a0ad7c7b3a" providerId="LiveId" clId="{59FD0868-84F1-432F-883D-B36E85A19EB2}" dt="2026-06-18T07:21:02.105" v="295" actId="478"/>
          <ac:spMkLst>
            <pc:docMk/>
            <pc:sldMk cId="3211333770" sldId="274"/>
            <ac:spMk id="3" creationId="{0915D161-CFCD-0EB7-7627-0F07934F97D4}"/>
          </ac:spMkLst>
        </pc:spChg>
        <pc:spChg chg="add mod">
          <ac:chgData name="Ashok Gopalakrishnan" userId="d8b748a0ad7c7b3a" providerId="LiveId" clId="{59FD0868-84F1-432F-883D-B36E85A19EB2}" dt="2026-06-18T07:22:26.935" v="315" actId="207"/>
          <ac:spMkLst>
            <pc:docMk/>
            <pc:sldMk cId="3211333770" sldId="274"/>
            <ac:spMk id="4" creationId="{A160CAD8-88AF-0737-5F9B-1412EBEA1246}"/>
          </ac:spMkLst>
        </pc:spChg>
        <pc:spChg chg="del">
          <ac:chgData name="Ashok Gopalakrishnan" userId="d8b748a0ad7c7b3a" providerId="LiveId" clId="{59FD0868-84F1-432F-883D-B36E85A19EB2}" dt="2026-06-18T07:19:54.546" v="293" actId="478"/>
          <ac:spMkLst>
            <pc:docMk/>
            <pc:sldMk cId="3211333770" sldId="274"/>
            <ac:spMk id="5" creationId="{D918B3BB-29D6-05AF-3CCE-4EE70A94E89C}"/>
          </ac:spMkLst>
        </pc:spChg>
        <pc:spChg chg="del">
          <ac:chgData name="Ashok Gopalakrishnan" userId="d8b748a0ad7c7b3a" providerId="LiveId" clId="{59FD0868-84F1-432F-883D-B36E85A19EB2}" dt="2026-06-18T07:19:57.352" v="294" actId="478"/>
          <ac:spMkLst>
            <pc:docMk/>
            <pc:sldMk cId="3211333770" sldId="274"/>
            <ac:spMk id="8" creationId="{6CA70D8D-94AE-1210-4AA7-689434EEF898}"/>
          </ac:spMkLst>
        </pc:spChg>
      </pc:sldChg>
      <pc:sldChg chg="addSp delSp modSp add mod">
        <pc:chgData name="Ashok Gopalakrishnan" userId="d8b748a0ad7c7b3a" providerId="LiveId" clId="{59FD0868-84F1-432F-883D-B36E85A19EB2}" dt="2026-06-18T07:24:23.881" v="330" actId="207"/>
        <pc:sldMkLst>
          <pc:docMk/>
          <pc:sldMk cId="1899502116" sldId="275"/>
        </pc:sldMkLst>
        <pc:spChg chg="add mod">
          <ac:chgData name="Ashok Gopalakrishnan" userId="d8b748a0ad7c7b3a" providerId="LiveId" clId="{59FD0868-84F1-432F-883D-B36E85A19EB2}" dt="2026-06-18T07:24:23.881" v="330" actId="207"/>
          <ac:spMkLst>
            <pc:docMk/>
            <pc:sldMk cId="1899502116" sldId="275"/>
            <ac:spMk id="3" creationId="{0D426694-7861-6568-3C10-124B6DAA6771}"/>
          </ac:spMkLst>
        </pc:spChg>
        <pc:spChg chg="del">
          <ac:chgData name="Ashok Gopalakrishnan" userId="d8b748a0ad7c7b3a" providerId="LiveId" clId="{59FD0868-84F1-432F-883D-B36E85A19EB2}" dt="2026-06-18T07:22:41.421" v="317" actId="478"/>
          <ac:spMkLst>
            <pc:docMk/>
            <pc:sldMk cId="1899502116" sldId="275"/>
            <ac:spMk id="4" creationId="{0598CDF6-B740-7217-7EBC-A527B702F92D}"/>
          </ac:spMkLst>
        </pc:spChg>
      </pc:sldChg>
      <pc:sldChg chg="addSp delSp modSp add mod">
        <pc:chgData name="Ashok Gopalakrishnan" userId="d8b748a0ad7c7b3a" providerId="LiveId" clId="{59FD0868-84F1-432F-883D-B36E85A19EB2}" dt="2026-06-18T08:18:51.105" v="387" actId="1076"/>
        <pc:sldMkLst>
          <pc:docMk/>
          <pc:sldMk cId="3683098841" sldId="276"/>
        </pc:sldMkLst>
        <pc:spChg chg="del">
          <ac:chgData name="Ashok Gopalakrishnan" userId="d8b748a0ad7c7b3a" providerId="LiveId" clId="{59FD0868-84F1-432F-883D-B36E85A19EB2}" dt="2026-06-18T08:14:42.842" v="332" actId="478"/>
          <ac:spMkLst>
            <pc:docMk/>
            <pc:sldMk cId="3683098841" sldId="276"/>
            <ac:spMk id="3" creationId="{A4DE4F69-EAD7-857E-2BFC-BA275E7905B1}"/>
          </ac:spMkLst>
        </pc:spChg>
        <pc:spChg chg="add mod">
          <ac:chgData name="Ashok Gopalakrishnan" userId="d8b748a0ad7c7b3a" providerId="LiveId" clId="{59FD0868-84F1-432F-883D-B36E85A19EB2}" dt="2026-06-18T08:18:40.529" v="385" actId="1076"/>
          <ac:spMkLst>
            <pc:docMk/>
            <pc:sldMk cId="3683098841" sldId="276"/>
            <ac:spMk id="4" creationId="{E5F1841A-A662-5B01-86A2-96A22F6C97B6}"/>
          </ac:spMkLst>
        </pc:spChg>
        <pc:spChg chg="add mod">
          <ac:chgData name="Ashok Gopalakrishnan" userId="d8b748a0ad7c7b3a" providerId="LiveId" clId="{59FD0868-84F1-432F-883D-B36E85A19EB2}" dt="2026-06-18T08:18:45.485" v="386" actId="1076"/>
          <ac:spMkLst>
            <pc:docMk/>
            <pc:sldMk cId="3683098841" sldId="276"/>
            <ac:spMk id="7" creationId="{358439AA-E595-7796-C291-02E1727C8B22}"/>
          </ac:spMkLst>
        </pc:spChg>
        <pc:graphicFrameChg chg="add mod modGraphic">
          <ac:chgData name="Ashok Gopalakrishnan" userId="d8b748a0ad7c7b3a" providerId="LiveId" clId="{59FD0868-84F1-432F-883D-B36E85A19EB2}" dt="2026-06-18T08:18:51.105" v="387" actId="1076"/>
          <ac:graphicFrameMkLst>
            <pc:docMk/>
            <pc:sldMk cId="3683098841" sldId="276"/>
            <ac:graphicFrameMk id="8" creationId="{2DD8D8C2-6589-21DB-DB94-1D22084F889E}"/>
          </ac:graphicFrameMkLst>
        </pc:graphicFrameChg>
      </pc:sldChg>
      <pc:sldChg chg="addSp delSp modSp add mod">
        <pc:chgData name="Ashok Gopalakrishnan" userId="d8b748a0ad7c7b3a" providerId="LiveId" clId="{59FD0868-84F1-432F-883D-B36E85A19EB2}" dt="2026-06-18T08:25:01.099" v="402" actId="123"/>
        <pc:sldMkLst>
          <pc:docMk/>
          <pc:sldMk cId="1148770880" sldId="277"/>
        </pc:sldMkLst>
        <pc:spChg chg="del">
          <ac:chgData name="Ashok Gopalakrishnan" userId="d8b748a0ad7c7b3a" providerId="LiveId" clId="{59FD0868-84F1-432F-883D-B36E85A19EB2}" dt="2026-06-18T08:19:17.163" v="391" actId="478"/>
          <ac:spMkLst>
            <pc:docMk/>
            <pc:sldMk cId="1148770880" sldId="277"/>
            <ac:spMk id="4" creationId="{D0931AC7-038A-4882-6143-B78AD07B066D}"/>
          </ac:spMkLst>
        </pc:spChg>
        <pc:spChg chg="del">
          <ac:chgData name="Ashok Gopalakrishnan" userId="d8b748a0ad7c7b3a" providerId="LiveId" clId="{59FD0868-84F1-432F-883D-B36E85A19EB2}" dt="2026-06-18T08:19:20.004" v="392" actId="478"/>
          <ac:spMkLst>
            <pc:docMk/>
            <pc:sldMk cId="1148770880" sldId="277"/>
            <ac:spMk id="7" creationId="{A6349619-62C7-EEE8-E981-5625462FCB25}"/>
          </ac:spMkLst>
        </pc:spChg>
        <pc:spChg chg="add mod">
          <ac:chgData name="Ashok Gopalakrishnan" userId="d8b748a0ad7c7b3a" providerId="LiveId" clId="{59FD0868-84F1-432F-883D-B36E85A19EB2}" dt="2026-06-18T08:25:01.099" v="402" actId="123"/>
          <ac:spMkLst>
            <pc:docMk/>
            <pc:sldMk cId="1148770880" sldId="277"/>
            <ac:spMk id="9" creationId="{05ADD459-E485-0664-1CA7-6DBF9AA448F4}"/>
          </ac:spMkLst>
        </pc:spChg>
        <pc:graphicFrameChg chg="del modGraphic">
          <ac:chgData name="Ashok Gopalakrishnan" userId="d8b748a0ad7c7b3a" providerId="LiveId" clId="{59FD0868-84F1-432F-883D-B36E85A19EB2}" dt="2026-06-18T08:19:14.538" v="390" actId="478"/>
          <ac:graphicFrameMkLst>
            <pc:docMk/>
            <pc:sldMk cId="1148770880" sldId="277"/>
            <ac:graphicFrameMk id="8" creationId="{D1713A32-D526-387E-15B5-0A1AC79CD687}"/>
          </ac:graphicFrameMkLst>
        </pc:graphicFrameChg>
        <pc:picChg chg="add mod">
          <ac:chgData name="Ashok Gopalakrishnan" userId="d8b748a0ad7c7b3a" providerId="LiveId" clId="{59FD0868-84F1-432F-883D-B36E85A19EB2}" dt="2026-06-18T08:24:42.714" v="399" actId="1076"/>
          <ac:picMkLst>
            <pc:docMk/>
            <pc:sldMk cId="1148770880" sldId="277"/>
            <ac:picMk id="3" creationId="{05DD2FB3-F4B6-B99C-4A36-406BB13644E4}"/>
          </ac:picMkLst>
        </pc:picChg>
      </pc:sldChg>
      <pc:sldChg chg="addSp delSp modSp add mod">
        <pc:chgData name="Ashok Gopalakrishnan" userId="d8b748a0ad7c7b3a" providerId="LiveId" clId="{59FD0868-84F1-432F-883D-B36E85A19EB2}" dt="2026-06-18T08:28:29.080" v="432" actId="122"/>
        <pc:sldMkLst>
          <pc:docMk/>
          <pc:sldMk cId="1841526858" sldId="278"/>
        </pc:sldMkLst>
        <pc:spChg chg="add mod">
          <ac:chgData name="Ashok Gopalakrishnan" userId="d8b748a0ad7c7b3a" providerId="LiveId" clId="{59FD0868-84F1-432F-883D-B36E85A19EB2}" dt="2026-06-18T08:28:29.080" v="432" actId="122"/>
          <ac:spMkLst>
            <pc:docMk/>
            <pc:sldMk cId="1841526858" sldId="278"/>
            <ac:spMk id="4" creationId="{31F4B811-3A0C-E3A8-9EE1-6805D440DF04}"/>
          </ac:spMkLst>
        </pc:spChg>
        <pc:spChg chg="del">
          <ac:chgData name="Ashok Gopalakrishnan" userId="d8b748a0ad7c7b3a" providerId="LiveId" clId="{59FD0868-84F1-432F-883D-B36E85A19EB2}" dt="2026-06-18T08:25:26.563" v="405" actId="478"/>
          <ac:spMkLst>
            <pc:docMk/>
            <pc:sldMk cId="1841526858" sldId="278"/>
            <ac:spMk id="9" creationId="{B638B2FA-BB9F-CD3E-7BC2-86D868DE902C}"/>
          </ac:spMkLst>
        </pc:spChg>
        <pc:picChg chg="del">
          <ac:chgData name="Ashok Gopalakrishnan" userId="d8b748a0ad7c7b3a" providerId="LiveId" clId="{59FD0868-84F1-432F-883D-B36E85A19EB2}" dt="2026-06-18T08:25:23.975" v="404" actId="478"/>
          <ac:picMkLst>
            <pc:docMk/>
            <pc:sldMk cId="1841526858" sldId="278"/>
            <ac:picMk id="3" creationId="{6CCD4411-1B9A-DD19-A938-E4C024C2922A}"/>
          </ac:picMkLst>
        </pc:picChg>
      </pc:sldChg>
      <pc:sldChg chg="addSp delSp modSp add mod">
        <pc:chgData name="Ashok Gopalakrishnan" userId="d8b748a0ad7c7b3a" providerId="LiveId" clId="{59FD0868-84F1-432F-883D-B36E85A19EB2}" dt="2026-06-18T08:39:04.778" v="711" actId="20577"/>
        <pc:sldMkLst>
          <pc:docMk/>
          <pc:sldMk cId="2625457441" sldId="279"/>
        </pc:sldMkLst>
        <pc:spChg chg="add mod">
          <ac:chgData name="Ashok Gopalakrishnan" userId="d8b748a0ad7c7b3a" providerId="LiveId" clId="{59FD0868-84F1-432F-883D-B36E85A19EB2}" dt="2026-06-18T08:39:04.778" v="711" actId="20577"/>
          <ac:spMkLst>
            <pc:docMk/>
            <pc:sldMk cId="2625457441" sldId="279"/>
            <ac:spMk id="2" creationId="{854FF5F6-8E5B-F468-DDC8-3BF6F67416D7}"/>
          </ac:spMkLst>
        </pc:spChg>
        <pc:spChg chg="add mod">
          <ac:chgData name="Ashok Gopalakrishnan" userId="d8b748a0ad7c7b3a" providerId="LiveId" clId="{59FD0868-84F1-432F-883D-B36E85A19EB2}" dt="2026-06-18T08:31:24.360" v="528" actId="207"/>
          <ac:spMkLst>
            <pc:docMk/>
            <pc:sldMk cId="2625457441" sldId="279"/>
            <ac:spMk id="3" creationId="{99C0AA08-1F26-A56F-8DA1-7BF6824760E5}"/>
          </ac:spMkLst>
        </pc:spChg>
        <pc:spChg chg="del">
          <ac:chgData name="Ashok Gopalakrishnan" userId="d8b748a0ad7c7b3a" providerId="LiveId" clId="{59FD0868-84F1-432F-883D-B36E85A19EB2}" dt="2026-06-18T08:29:40.675" v="434" actId="478"/>
          <ac:spMkLst>
            <pc:docMk/>
            <pc:sldMk cId="2625457441" sldId="279"/>
            <ac:spMk id="4" creationId="{E372BD56-FF30-E83B-1A3E-028D49FB44D9}"/>
          </ac:spMkLst>
        </pc:spChg>
        <pc:spChg chg="add del mod">
          <ac:chgData name="Ashok Gopalakrishnan" userId="d8b748a0ad7c7b3a" providerId="LiveId" clId="{59FD0868-84F1-432F-883D-B36E85A19EB2}" dt="2026-06-18T08:36:02.258" v="554"/>
          <ac:spMkLst>
            <pc:docMk/>
            <pc:sldMk cId="2625457441" sldId="279"/>
            <ac:spMk id="5" creationId="{5A536814-7815-4B7D-43D5-5513908275D7}"/>
          </ac:spMkLst>
        </pc:spChg>
        <pc:spChg chg="add mod">
          <ac:chgData name="Ashok Gopalakrishnan" userId="d8b748a0ad7c7b3a" providerId="LiveId" clId="{59FD0868-84F1-432F-883D-B36E85A19EB2}" dt="2026-06-18T08:37:20.753" v="644" actId="1076"/>
          <ac:spMkLst>
            <pc:docMk/>
            <pc:sldMk cId="2625457441" sldId="279"/>
            <ac:spMk id="7" creationId="{0A4E5640-42C6-A12A-657A-DC90385378E7}"/>
          </ac:spMkLst>
        </pc:spChg>
      </pc:sldChg>
      <pc:sldChg chg="addSp delSp modSp add mod">
        <pc:chgData name="Ashok Gopalakrishnan" userId="d8b748a0ad7c7b3a" providerId="LiveId" clId="{59FD0868-84F1-432F-883D-B36E85A19EB2}" dt="2026-06-18T08:55:50.947" v="778" actId="207"/>
        <pc:sldMkLst>
          <pc:docMk/>
          <pc:sldMk cId="812722780" sldId="280"/>
        </pc:sldMkLst>
        <pc:spChg chg="del">
          <ac:chgData name="Ashok Gopalakrishnan" userId="d8b748a0ad7c7b3a" providerId="LiveId" clId="{59FD0868-84F1-432F-883D-B36E85A19EB2}" dt="2026-06-18T08:39:18.666" v="713" actId="478"/>
          <ac:spMkLst>
            <pc:docMk/>
            <pc:sldMk cId="812722780" sldId="280"/>
            <ac:spMk id="2" creationId="{4AED4FF7-FB0E-4434-D96C-0C562E8DBAAC}"/>
          </ac:spMkLst>
        </pc:spChg>
        <pc:spChg chg="del">
          <ac:chgData name="Ashok Gopalakrishnan" userId="d8b748a0ad7c7b3a" providerId="LiveId" clId="{59FD0868-84F1-432F-883D-B36E85A19EB2}" dt="2026-06-18T08:39:20.527" v="714" actId="478"/>
          <ac:spMkLst>
            <pc:docMk/>
            <pc:sldMk cId="812722780" sldId="280"/>
            <ac:spMk id="3" creationId="{A54E3182-CCB5-467D-E7DC-60F3BC6C64B8}"/>
          </ac:spMkLst>
        </pc:spChg>
        <pc:spChg chg="add mod">
          <ac:chgData name="Ashok Gopalakrishnan" userId="d8b748a0ad7c7b3a" providerId="LiveId" clId="{59FD0868-84F1-432F-883D-B36E85A19EB2}" dt="2026-06-18T08:40:55.937" v="722" actId="1076"/>
          <ac:spMkLst>
            <pc:docMk/>
            <pc:sldMk cId="812722780" sldId="280"/>
            <ac:spMk id="5" creationId="{7936A887-4D6C-4F58-6AD7-FD2BA39B692A}"/>
          </ac:spMkLst>
        </pc:spChg>
        <pc:spChg chg="del">
          <ac:chgData name="Ashok Gopalakrishnan" userId="d8b748a0ad7c7b3a" providerId="LiveId" clId="{59FD0868-84F1-432F-883D-B36E85A19EB2}" dt="2026-06-18T08:39:22.794" v="715" actId="478"/>
          <ac:spMkLst>
            <pc:docMk/>
            <pc:sldMk cId="812722780" sldId="280"/>
            <ac:spMk id="7" creationId="{488D0321-173F-4DA3-9485-50066A7E2964}"/>
          </ac:spMkLst>
        </pc:spChg>
        <pc:spChg chg="add mod">
          <ac:chgData name="Ashok Gopalakrishnan" userId="d8b748a0ad7c7b3a" providerId="LiveId" clId="{59FD0868-84F1-432F-883D-B36E85A19EB2}" dt="2026-06-18T08:55:50.947" v="778" actId="207"/>
          <ac:spMkLst>
            <pc:docMk/>
            <pc:sldMk cId="812722780" sldId="280"/>
            <ac:spMk id="8" creationId="{F03F9BA3-FC4D-7C19-8310-7C476F2CE164}"/>
          </ac:spMkLst>
        </pc:spChg>
      </pc:sldChg>
      <pc:sldChg chg="addSp delSp modSp add mod">
        <pc:chgData name="Ashok Gopalakrishnan" userId="d8b748a0ad7c7b3a" providerId="LiveId" clId="{59FD0868-84F1-432F-883D-B36E85A19EB2}" dt="2026-06-18T08:41:48.793" v="730" actId="123"/>
        <pc:sldMkLst>
          <pc:docMk/>
          <pc:sldMk cId="1227917286" sldId="281"/>
        </pc:sldMkLst>
        <pc:spChg chg="add mod">
          <ac:chgData name="Ashok Gopalakrishnan" userId="d8b748a0ad7c7b3a" providerId="LiveId" clId="{59FD0868-84F1-432F-883D-B36E85A19EB2}" dt="2026-06-18T08:41:48.793" v="730" actId="123"/>
          <ac:spMkLst>
            <pc:docMk/>
            <pc:sldMk cId="1227917286" sldId="281"/>
            <ac:spMk id="3" creationId="{4DD22A93-F6EF-0A82-74A5-74413014284F}"/>
          </ac:spMkLst>
        </pc:spChg>
        <pc:spChg chg="del">
          <ac:chgData name="Ashok Gopalakrishnan" userId="d8b748a0ad7c7b3a" providerId="LiveId" clId="{59FD0868-84F1-432F-883D-B36E85A19EB2}" dt="2026-06-18T08:41:05.782" v="724" actId="478"/>
          <ac:spMkLst>
            <pc:docMk/>
            <pc:sldMk cId="1227917286" sldId="281"/>
            <ac:spMk id="5" creationId="{442AE208-31BF-BBDA-6615-8D8A58B742D4}"/>
          </ac:spMkLst>
        </pc:spChg>
      </pc:sldChg>
      <pc:sldChg chg="addSp delSp modSp add mod">
        <pc:chgData name="Ashok Gopalakrishnan" userId="d8b748a0ad7c7b3a" providerId="LiveId" clId="{59FD0868-84F1-432F-883D-B36E85A19EB2}" dt="2026-06-18T08:44:51.292" v="735" actId="14100"/>
        <pc:sldMkLst>
          <pc:docMk/>
          <pc:sldMk cId="2535168627" sldId="282"/>
        </pc:sldMkLst>
        <pc:spChg chg="del">
          <ac:chgData name="Ashok Gopalakrishnan" userId="d8b748a0ad7c7b3a" providerId="LiveId" clId="{59FD0868-84F1-432F-883D-B36E85A19EB2}" dt="2026-06-18T08:42:05.469" v="732" actId="478"/>
          <ac:spMkLst>
            <pc:docMk/>
            <pc:sldMk cId="2535168627" sldId="282"/>
            <ac:spMk id="3" creationId="{39C556C9-C8F1-658F-485E-C4AF601C6E7B}"/>
          </ac:spMkLst>
        </pc:spChg>
        <pc:picChg chg="add mod">
          <ac:chgData name="Ashok Gopalakrishnan" userId="d8b748a0ad7c7b3a" providerId="LiveId" clId="{59FD0868-84F1-432F-883D-B36E85A19EB2}" dt="2026-06-18T08:44:51.292" v="735" actId="14100"/>
          <ac:picMkLst>
            <pc:docMk/>
            <pc:sldMk cId="2535168627" sldId="282"/>
            <ac:picMk id="4" creationId="{4CEA8A33-8F4F-DDC1-D2D3-3B0B9C29200F}"/>
          </ac:picMkLst>
        </pc:picChg>
      </pc:sldChg>
      <pc:sldChg chg="addSp delSp modSp add mod">
        <pc:chgData name="Ashok Gopalakrishnan" userId="d8b748a0ad7c7b3a" providerId="LiveId" clId="{59FD0868-84F1-432F-883D-B36E85A19EB2}" dt="2026-06-18T08:49:19.775" v="753" actId="1076"/>
        <pc:sldMkLst>
          <pc:docMk/>
          <pc:sldMk cId="231546601" sldId="283"/>
        </pc:sldMkLst>
        <pc:spChg chg="add mod">
          <ac:chgData name="Ashok Gopalakrishnan" userId="d8b748a0ad7c7b3a" providerId="LiveId" clId="{59FD0868-84F1-432F-883D-B36E85A19EB2}" dt="2026-06-18T08:49:19.775" v="753" actId="1076"/>
          <ac:spMkLst>
            <pc:docMk/>
            <pc:sldMk cId="231546601" sldId="283"/>
            <ac:spMk id="3" creationId="{A7CDF358-0499-8766-71C0-68EEE4F0F808}"/>
          </ac:spMkLst>
        </pc:spChg>
        <pc:picChg chg="del">
          <ac:chgData name="Ashok Gopalakrishnan" userId="d8b748a0ad7c7b3a" providerId="LiveId" clId="{59FD0868-84F1-432F-883D-B36E85A19EB2}" dt="2026-06-18T08:45:16.764" v="737" actId="478"/>
          <ac:picMkLst>
            <pc:docMk/>
            <pc:sldMk cId="231546601" sldId="283"/>
            <ac:picMk id="4" creationId="{203C8057-779C-C139-9D6D-8EDBD9FFE646}"/>
          </ac:picMkLst>
        </pc:picChg>
        <pc:picChg chg="add mod">
          <ac:chgData name="Ashok Gopalakrishnan" userId="d8b748a0ad7c7b3a" providerId="LiveId" clId="{59FD0868-84F1-432F-883D-B36E85A19EB2}" dt="2026-06-18T08:49:13.303" v="752" actId="14100"/>
          <ac:picMkLst>
            <pc:docMk/>
            <pc:sldMk cId="231546601" sldId="283"/>
            <ac:picMk id="7" creationId="{5FB201D6-28BA-8D67-5492-6FABAA498CB5}"/>
          </ac:picMkLst>
        </pc:picChg>
      </pc:sldChg>
      <pc:sldChg chg="addSp delSp modSp add mod">
        <pc:chgData name="Ashok Gopalakrishnan" userId="d8b748a0ad7c7b3a" providerId="LiveId" clId="{59FD0868-84F1-432F-883D-B36E85A19EB2}" dt="2026-06-18T08:54:36.764" v="760" actId="14100"/>
        <pc:sldMkLst>
          <pc:docMk/>
          <pc:sldMk cId="2167167864" sldId="284"/>
        </pc:sldMkLst>
        <pc:spChg chg="del">
          <ac:chgData name="Ashok Gopalakrishnan" userId="d8b748a0ad7c7b3a" providerId="LiveId" clId="{59FD0868-84F1-432F-883D-B36E85A19EB2}" dt="2026-06-18T08:49:51.421" v="756" actId="478"/>
          <ac:spMkLst>
            <pc:docMk/>
            <pc:sldMk cId="2167167864" sldId="284"/>
            <ac:spMk id="3" creationId="{645D1978-BD47-B9F0-B7CA-582E02C3A3C5}"/>
          </ac:spMkLst>
        </pc:spChg>
        <pc:picChg chg="add mod">
          <ac:chgData name="Ashok Gopalakrishnan" userId="d8b748a0ad7c7b3a" providerId="LiveId" clId="{59FD0868-84F1-432F-883D-B36E85A19EB2}" dt="2026-06-18T08:54:36.764" v="760" actId="14100"/>
          <ac:picMkLst>
            <pc:docMk/>
            <pc:sldMk cId="2167167864" sldId="284"/>
            <ac:picMk id="4" creationId="{59B7BEBC-F0FE-DDC8-417B-245D069CD2F6}"/>
          </ac:picMkLst>
        </pc:picChg>
        <pc:picChg chg="del">
          <ac:chgData name="Ashok Gopalakrishnan" userId="d8b748a0ad7c7b3a" providerId="LiveId" clId="{59FD0868-84F1-432F-883D-B36E85A19EB2}" dt="2026-06-18T08:49:48.730" v="755" actId="478"/>
          <ac:picMkLst>
            <pc:docMk/>
            <pc:sldMk cId="2167167864" sldId="284"/>
            <ac:picMk id="7" creationId="{8D7B4EEF-C246-7849-19D6-E7F9F216AFC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063938-94CC-460A-8CB0-D1D016421BFA}" type="datetimeFigureOut">
              <a:rPr lang="en-US" smtClean="0"/>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A6C06-748D-4BAB-9E66-3031D3D234FB}" type="slidenum">
              <a:rPr lang="en-US" smtClean="0"/>
              <a:t>‹#›</a:t>
            </a:fld>
            <a:endParaRPr lang="en-US"/>
          </a:p>
        </p:txBody>
      </p:sp>
    </p:spTree>
    <p:extLst>
      <p:ext uri="{BB962C8B-B14F-4D97-AF65-F5344CB8AC3E}">
        <p14:creationId xmlns:p14="http://schemas.microsoft.com/office/powerpoint/2010/main" val="2803451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4A6C06-748D-4BAB-9E66-3031D3D234FB}" type="slidenum">
              <a:rPr lang="en-US" smtClean="0"/>
              <a:t>7</a:t>
            </a:fld>
            <a:endParaRPr lang="en-US"/>
          </a:p>
        </p:txBody>
      </p:sp>
    </p:spTree>
    <p:extLst>
      <p:ext uri="{BB962C8B-B14F-4D97-AF65-F5344CB8AC3E}">
        <p14:creationId xmlns:p14="http://schemas.microsoft.com/office/powerpoint/2010/main" val="3909992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4A6C06-748D-4BAB-9E66-3031D3D234FB}" type="slidenum">
              <a:rPr lang="en-US" smtClean="0"/>
              <a:t>15</a:t>
            </a:fld>
            <a:endParaRPr lang="en-US"/>
          </a:p>
        </p:txBody>
      </p:sp>
    </p:spTree>
    <p:extLst>
      <p:ext uri="{BB962C8B-B14F-4D97-AF65-F5344CB8AC3E}">
        <p14:creationId xmlns:p14="http://schemas.microsoft.com/office/powerpoint/2010/main" val="2579730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83E4-C4B5-3ED5-307F-3A67DCD17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D90DB-AAA7-CE00-8AFB-23377D833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85C86-5237-8334-8C35-B3E9235FB5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794870-751A-32E1-3A31-B28EF91B4BA5}"/>
              </a:ext>
            </a:extLst>
          </p:cNvPr>
          <p:cNvSpPr>
            <a:spLocks noGrp="1"/>
          </p:cNvSpPr>
          <p:nvPr>
            <p:ph type="sldNum" sz="quarter" idx="5"/>
          </p:nvPr>
        </p:nvSpPr>
        <p:spPr/>
        <p:txBody>
          <a:bodyPr/>
          <a:lstStyle/>
          <a:p>
            <a:fld id="{FE4A6C06-748D-4BAB-9E66-3031D3D234FB}" type="slidenum">
              <a:rPr lang="en-US" smtClean="0"/>
              <a:t>16</a:t>
            </a:fld>
            <a:endParaRPr lang="en-US"/>
          </a:p>
        </p:txBody>
      </p:sp>
    </p:spTree>
    <p:extLst>
      <p:ext uri="{BB962C8B-B14F-4D97-AF65-F5344CB8AC3E}">
        <p14:creationId xmlns:p14="http://schemas.microsoft.com/office/powerpoint/2010/main" val="1529277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265D7-7213-CC56-1D09-C2063D630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B92B5-EF50-7AE3-3A2A-AD96DCE65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FCF1C4-7131-8E2F-C0E3-07FC042E0F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7076D-1AD3-6600-3914-E5F836D1A461}"/>
              </a:ext>
            </a:extLst>
          </p:cNvPr>
          <p:cNvSpPr>
            <a:spLocks noGrp="1"/>
          </p:cNvSpPr>
          <p:nvPr>
            <p:ph type="sldNum" sz="quarter" idx="5"/>
          </p:nvPr>
        </p:nvSpPr>
        <p:spPr/>
        <p:txBody>
          <a:bodyPr/>
          <a:lstStyle/>
          <a:p>
            <a:fld id="{FE4A6C06-748D-4BAB-9E66-3031D3D234FB}" type="slidenum">
              <a:rPr lang="en-US" smtClean="0"/>
              <a:t>17</a:t>
            </a:fld>
            <a:endParaRPr lang="en-US"/>
          </a:p>
        </p:txBody>
      </p:sp>
    </p:spTree>
    <p:extLst>
      <p:ext uri="{BB962C8B-B14F-4D97-AF65-F5344CB8AC3E}">
        <p14:creationId xmlns:p14="http://schemas.microsoft.com/office/powerpoint/2010/main" val="1389654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D3B49-F8FD-A585-B81C-C896090F1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8E6E5-DF69-19DB-26A8-3FA1541D4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C3042-8DDD-85E7-2FF3-4A3E8547E8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23EF5C-EA5E-278F-A9C5-75269C592B77}"/>
              </a:ext>
            </a:extLst>
          </p:cNvPr>
          <p:cNvSpPr>
            <a:spLocks noGrp="1"/>
          </p:cNvSpPr>
          <p:nvPr>
            <p:ph type="sldNum" sz="quarter" idx="5"/>
          </p:nvPr>
        </p:nvSpPr>
        <p:spPr/>
        <p:txBody>
          <a:bodyPr/>
          <a:lstStyle/>
          <a:p>
            <a:fld id="{FE4A6C06-748D-4BAB-9E66-3031D3D234FB}" type="slidenum">
              <a:rPr lang="en-US" smtClean="0"/>
              <a:t>18</a:t>
            </a:fld>
            <a:endParaRPr lang="en-US"/>
          </a:p>
        </p:txBody>
      </p:sp>
    </p:spTree>
    <p:extLst>
      <p:ext uri="{BB962C8B-B14F-4D97-AF65-F5344CB8AC3E}">
        <p14:creationId xmlns:p14="http://schemas.microsoft.com/office/powerpoint/2010/main" val="1780841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072E-3032-C2E0-BB00-853FDA5EC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11D4E-F36D-4CD2-E645-A9E14E50D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97C62-D910-3B04-0226-271EF09F0B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C1163D-9E21-13F7-678E-349D26AF04BD}"/>
              </a:ext>
            </a:extLst>
          </p:cNvPr>
          <p:cNvSpPr>
            <a:spLocks noGrp="1"/>
          </p:cNvSpPr>
          <p:nvPr>
            <p:ph type="sldNum" sz="quarter" idx="5"/>
          </p:nvPr>
        </p:nvSpPr>
        <p:spPr/>
        <p:txBody>
          <a:bodyPr/>
          <a:lstStyle/>
          <a:p>
            <a:fld id="{FE4A6C06-748D-4BAB-9E66-3031D3D234FB}" type="slidenum">
              <a:rPr lang="en-US" smtClean="0"/>
              <a:t>19</a:t>
            </a:fld>
            <a:endParaRPr lang="en-US"/>
          </a:p>
        </p:txBody>
      </p:sp>
    </p:spTree>
    <p:extLst>
      <p:ext uri="{BB962C8B-B14F-4D97-AF65-F5344CB8AC3E}">
        <p14:creationId xmlns:p14="http://schemas.microsoft.com/office/powerpoint/2010/main" val="2159077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5092B-60F0-5C73-105B-A2121CD06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5BE66-D6D6-ADDD-6B7A-FE5F40720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34B3F6-619D-71C3-3AE9-A4057C3F97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02EF02-2EA7-8F38-531F-D6E8B048DC80}"/>
              </a:ext>
            </a:extLst>
          </p:cNvPr>
          <p:cNvSpPr>
            <a:spLocks noGrp="1"/>
          </p:cNvSpPr>
          <p:nvPr>
            <p:ph type="sldNum" sz="quarter" idx="5"/>
          </p:nvPr>
        </p:nvSpPr>
        <p:spPr/>
        <p:txBody>
          <a:bodyPr/>
          <a:lstStyle/>
          <a:p>
            <a:fld id="{FE4A6C06-748D-4BAB-9E66-3031D3D234FB}" type="slidenum">
              <a:rPr lang="en-US" smtClean="0"/>
              <a:t>20</a:t>
            </a:fld>
            <a:endParaRPr lang="en-US"/>
          </a:p>
        </p:txBody>
      </p:sp>
    </p:spTree>
    <p:extLst>
      <p:ext uri="{BB962C8B-B14F-4D97-AF65-F5344CB8AC3E}">
        <p14:creationId xmlns:p14="http://schemas.microsoft.com/office/powerpoint/2010/main" val="2639154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03139-4C42-32FA-D697-6ED3FF223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ABC11-B8F0-6315-90B2-A17866A657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CE286-90E2-CF7E-47E1-EC3EC51AC7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0701D0-C704-75C5-2F0A-21880BB7B389}"/>
              </a:ext>
            </a:extLst>
          </p:cNvPr>
          <p:cNvSpPr>
            <a:spLocks noGrp="1"/>
          </p:cNvSpPr>
          <p:nvPr>
            <p:ph type="sldNum" sz="quarter" idx="5"/>
          </p:nvPr>
        </p:nvSpPr>
        <p:spPr/>
        <p:txBody>
          <a:bodyPr/>
          <a:lstStyle/>
          <a:p>
            <a:fld id="{FE4A6C06-748D-4BAB-9E66-3031D3D234FB}" type="slidenum">
              <a:rPr lang="en-US" smtClean="0"/>
              <a:t>21</a:t>
            </a:fld>
            <a:endParaRPr lang="en-US"/>
          </a:p>
        </p:txBody>
      </p:sp>
    </p:spTree>
    <p:extLst>
      <p:ext uri="{BB962C8B-B14F-4D97-AF65-F5344CB8AC3E}">
        <p14:creationId xmlns:p14="http://schemas.microsoft.com/office/powerpoint/2010/main" val="115379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E49C8-0C4F-46C8-2FE6-0EC9E61A3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2331C-E626-498B-A092-D60F8ED13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A67EB5-93A4-4DC9-F75D-A4945E7011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63634F-C844-A1C5-3F24-B28F0BE505A5}"/>
              </a:ext>
            </a:extLst>
          </p:cNvPr>
          <p:cNvSpPr>
            <a:spLocks noGrp="1"/>
          </p:cNvSpPr>
          <p:nvPr>
            <p:ph type="sldNum" sz="quarter" idx="5"/>
          </p:nvPr>
        </p:nvSpPr>
        <p:spPr/>
        <p:txBody>
          <a:bodyPr/>
          <a:lstStyle/>
          <a:p>
            <a:fld id="{FE4A6C06-748D-4BAB-9E66-3031D3D234FB}" type="slidenum">
              <a:rPr lang="en-US" smtClean="0"/>
              <a:t>22</a:t>
            </a:fld>
            <a:endParaRPr lang="en-US"/>
          </a:p>
        </p:txBody>
      </p:sp>
    </p:spTree>
    <p:extLst>
      <p:ext uri="{BB962C8B-B14F-4D97-AF65-F5344CB8AC3E}">
        <p14:creationId xmlns:p14="http://schemas.microsoft.com/office/powerpoint/2010/main" val="2184160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F392-FD8E-0B77-FA21-15D7488C1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980C3-C6FA-CE27-4067-81B3612988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4EAB2-6B33-897A-CEE2-1C7D269F7B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D3FA1D-36F1-20AE-459C-D941BD54ABEF}"/>
              </a:ext>
            </a:extLst>
          </p:cNvPr>
          <p:cNvSpPr>
            <a:spLocks noGrp="1"/>
          </p:cNvSpPr>
          <p:nvPr>
            <p:ph type="sldNum" sz="quarter" idx="5"/>
          </p:nvPr>
        </p:nvSpPr>
        <p:spPr/>
        <p:txBody>
          <a:bodyPr/>
          <a:lstStyle/>
          <a:p>
            <a:fld id="{FE4A6C06-748D-4BAB-9E66-3031D3D234FB}" type="slidenum">
              <a:rPr lang="en-US" smtClean="0"/>
              <a:t>23</a:t>
            </a:fld>
            <a:endParaRPr lang="en-US"/>
          </a:p>
        </p:txBody>
      </p:sp>
    </p:spTree>
    <p:extLst>
      <p:ext uri="{BB962C8B-B14F-4D97-AF65-F5344CB8AC3E}">
        <p14:creationId xmlns:p14="http://schemas.microsoft.com/office/powerpoint/2010/main" val="2045345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BA727-3089-5033-8093-620D0497B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56A61-3D37-0673-C5C1-7A80040A66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45243-5AC6-67CD-8BDD-DD951BE78C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2EF0EC-BBFE-968C-3DE3-6F1B22C84B25}"/>
              </a:ext>
            </a:extLst>
          </p:cNvPr>
          <p:cNvSpPr>
            <a:spLocks noGrp="1"/>
          </p:cNvSpPr>
          <p:nvPr>
            <p:ph type="sldNum" sz="quarter" idx="5"/>
          </p:nvPr>
        </p:nvSpPr>
        <p:spPr/>
        <p:txBody>
          <a:bodyPr/>
          <a:lstStyle/>
          <a:p>
            <a:fld id="{FE4A6C06-748D-4BAB-9E66-3031D3D234FB}" type="slidenum">
              <a:rPr lang="en-US" smtClean="0"/>
              <a:t>24</a:t>
            </a:fld>
            <a:endParaRPr lang="en-US"/>
          </a:p>
        </p:txBody>
      </p:sp>
    </p:spTree>
    <p:extLst>
      <p:ext uri="{BB962C8B-B14F-4D97-AF65-F5344CB8AC3E}">
        <p14:creationId xmlns:p14="http://schemas.microsoft.com/office/powerpoint/2010/main" val="2407929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F4AE-F676-D95D-FEBA-9946BE419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D8C25-6A0A-7484-995D-4E613D314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146F9-6FDF-B1B6-BB38-07A8D8E29F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F99AF0-156F-9EAC-701E-580845F5267A}"/>
              </a:ext>
            </a:extLst>
          </p:cNvPr>
          <p:cNvSpPr>
            <a:spLocks noGrp="1"/>
          </p:cNvSpPr>
          <p:nvPr>
            <p:ph type="sldNum" sz="quarter" idx="5"/>
          </p:nvPr>
        </p:nvSpPr>
        <p:spPr/>
        <p:txBody>
          <a:bodyPr/>
          <a:lstStyle/>
          <a:p>
            <a:fld id="{FE4A6C06-748D-4BAB-9E66-3031D3D234FB}" type="slidenum">
              <a:rPr lang="en-US" smtClean="0"/>
              <a:t>25</a:t>
            </a:fld>
            <a:endParaRPr lang="en-US"/>
          </a:p>
        </p:txBody>
      </p:sp>
    </p:spTree>
    <p:extLst>
      <p:ext uri="{BB962C8B-B14F-4D97-AF65-F5344CB8AC3E}">
        <p14:creationId xmlns:p14="http://schemas.microsoft.com/office/powerpoint/2010/main" val="429279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1A317-47AF-AD0C-C708-C03E850D0D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68CFE-F419-A6D7-A9BE-7C8D10E72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4B4AD-96B4-4D2A-1976-CA1B59BA44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A23194-91D8-371E-54FC-EFC1E4B265CD}"/>
              </a:ext>
            </a:extLst>
          </p:cNvPr>
          <p:cNvSpPr>
            <a:spLocks noGrp="1"/>
          </p:cNvSpPr>
          <p:nvPr>
            <p:ph type="sldNum" sz="quarter" idx="5"/>
          </p:nvPr>
        </p:nvSpPr>
        <p:spPr/>
        <p:txBody>
          <a:bodyPr/>
          <a:lstStyle/>
          <a:p>
            <a:fld id="{FE4A6C06-748D-4BAB-9E66-3031D3D234FB}" type="slidenum">
              <a:rPr lang="en-US" smtClean="0"/>
              <a:t>26</a:t>
            </a:fld>
            <a:endParaRPr lang="en-US"/>
          </a:p>
        </p:txBody>
      </p:sp>
    </p:spTree>
    <p:extLst>
      <p:ext uri="{BB962C8B-B14F-4D97-AF65-F5344CB8AC3E}">
        <p14:creationId xmlns:p14="http://schemas.microsoft.com/office/powerpoint/2010/main" val="1301476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7675B-2F93-D0CA-2B04-F5953EDAE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F8F05-4D47-1B42-226A-928A2FB26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D9124-B769-CDE3-58BC-2A088B374C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E7AB86-FC62-364B-C5FE-66D149FCC473}"/>
              </a:ext>
            </a:extLst>
          </p:cNvPr>
          <p:cNvSpPr>
            <a:spLocks noGrp="1"/>
          </p:cNvSpPr>
          <p:nvPr>
            <p:ph type="sldNum" sz="quarter" idx="5"/>
          </p:nvPr>
        </p:nvSpPr>
        <p:spPr/>
        <p:txBody>
          <a:bodyPr/>
          <a:lstStyle/>
          <a:p>
            <a:fld id="{FE4A6C06-748D-4BAB-9E66-3031D3D234FB}" type="slidenum">
              <a:rPr lang="en-US" smtClean="0"/>
              <a:t>27</a:t>
            </a:fld>
            <a:endParaRPr lang="en-US"/>
          </a:p>
        </p:txBody>
      </p:sp>
    </p:spTree>
    <p:extLst>
      <p:ext uri="{BB962C8B-B14F-4D97-AF65-F5344CB8AC3E}">
        <p14:creationId xmlns:p14="http://schemas.microsoft.com/office/powerpoint/2010/main" val="4242569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56019-79D1-750D-59C4-038B5D24E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AD399-4CC5-7F94-FB91-7A030DA7B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266098-BBC0-503A-14D5-E6C9BB90AF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9FBCB2-9413-DF82-8C04-ED5B8C957DE0}"/>
              </a:ext>
            </a:extLst>
          </p:cNvPr>
          <p:cNvSpPr>
            <a:spLocks noGrp="1"/>
          </p:cNvSpPr>
          <p:nvPr>
            <p:ph type="sldNum" sz="quarter" idx="5"/>
          </p:nvPr>
        </p:nvSpPr>
        <p:spPr/>
        <p:txBody>
          <a:bodyPr/>
          <a:lstStyle/>
          <a:p>
            <a:fld id="{FE4A6C06-748D-4BAB-9E66-3031D3D234FB}" type="slidenum">
              <a:rPr lang="en-US" smtClean="0"/>
              <a:t>28</a:t>
            </a:fld>
            <a:endParaRPr lang="en-US"/>
          </a:p>
        </p:txBody>
      </p:sp>
    </p:spTree>
    <p:extLst>
      <p:ext uri="{BB962C8B-B14F-4D97-AF65-F5344CB8AC3E}">
        <p14:creationId xmlns:p14="http://schemas.microsoft.com/office/powerpoint/2010/main" val="1684451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E353C-7C6D-CEFA-BA06-2FB321AF5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7D22A-A469-B649-8CDF-A49278295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B825C5-5CE3-7D47-0F66-9EB86B030B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618FAB-7DC1-2930-3E51-1725EC00EEC8}"/>
              </a:ext>
            </a:extLst>
          </p:cNvPr>
          <p:cNvSpPr>
            <a:spLocks noGrp="1"/>
          </p:cNvSpPr>
          <p:nvPr>
            <p:ph type="sldNum" sz="quarter" idx="5"/>
          </p:nvPr>
        </p:nvSpPr>
        <p:spPr/>
        <p:txBody>
          <a:bodyPr/>
          <a:lstStyle/>
          <a:p>
            <a:fld id="{FE4A6C06-748D-4BAB-9E66-3031D3D234FB}" type="slidenum">
              <a:rPr lang="en-US" smtClean="0"/>
              <a:t>29</a:t>
            </a:fld>
            <a:endParaRPr lang="en-US"/>
          </a:p>
        </p:txBody>
      </p:sp>
    </p:spTree>
    <p:extLst>
      <p:ext uri="{BB962C8B-B14F-4D97-AF65-F5344CB8AC3E}">
        <p14:creationId xmlns:p14="http://schemas.microsoft.com/office/powerpoint/2010/main" val="1991048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D026-832E-B43C-6F4D-FB502F7658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55B1F0-653C-309A-51AB-0A6F7F9A44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B49E20-F13B-BC19-BF0E-D1213247EA71}"/>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5" name="Footer Placeholder 4">
            <a:extLst>
              <a:ext uri="{FF2B5EF4-FFF2-40B4-BE49-F238E27FC236}">
                <a16:creationId xmlns:a16="http://schemas.microsoft.com/office/drawing/2014/main" id="{E24509C4-D5AF-FC46-D970-172DE8C1DB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A212D-E5BD-D0C5-85A5-D492AF20BDE5}"/>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799551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C2C6B-E115-AC8B-B76A-8961DE3A04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7F9252-F888-DB34-2D11-60530D865A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E3D8C6-F118-2780-6415-B4751B5DD229}"/>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5" name="Footer Placeholder 4">
            <a:extLst>
              <a:ext uri="{FF2B5EF4-FFF2-40B4-BE49-F238E27FC236}">
                <a16:creationId xmlns:a16="http://schemas.microsoft.com/office/drawing/2014/main" id="{547932D4-E01C-F14A-8498-DFEFFCA1E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F0422B-7338-7616-669D-7C41B67F416F}"/>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3917272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FEB62-9A49-2428-1859-440F2EC6E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9B39F5-EC67-2CDA-38A9-3647AE9274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AEDC54-D0F8-0A91-92C2-7E9A25A8FD33}"/>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5" name="Footer Placeholder 4">
            <a:extLst>
              <a:ext uri="{FF2B5EF4-FFF2-40B4-BE49-F238E27FC236}">
                <a16:creationId xmlns:a16="http://schemas.microsoft.com/office/drawing/2014/main" id="{07CA39F7-E9CF-2F48-4B56-E173FDD73B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A6C083-1ADE-F253-B05F-5A7E43297A10}"/>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1540348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64254-27FF-E33F-DB9E-BD0D9673F9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E03635-7F72-8C0B-986A-DFB9545449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1D6A2F-8596-3423-6574-99A6564675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89A1DE-BA35-FB77-D514-2E4A43F7C30F}"/>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6" name="Footer Placeholder 5">
            <a:extLst>
              <a:ext uri="{FF2B5EF4-FFF2-40B4-BE49-F238E27FC236}">
                <a16:creationId xmlns:a16="http://schemas.microsoft.com/office/drawing/2014/main" id="{35BB4E31-69F4-7F19-72C3-BD54F6DBC5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AD5014-9FEC-4EAD-18C7-EAC11F2F91CB}"/>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3508070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F7C7B-3839-AA43-45B4-F370D69F8F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70E517-A8ED-921A-D5AB-FC21FC1CD7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CEAEE-47A1-291C-842F-B2FA1663F1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373808-02A1-2F5B-15F5-0B402C257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F612CE-5AD1-2696-18D5-E66FFB881D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3377DE-C360-ADB7-AC5E-B7E6A52826DF}"/>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8" name="Footer Placeholder 7">
            <a:extLst>
              <a:ext uri="{FF2B5EF4-FFF2-40B4-BE49-F238E27FC236}">
                <a16:creationId xmlns:a16="http://schemas.microsoft.com/office/drawing/2014/main" id="{8AB6DE0E-B080-6ED7-88A9-D56FA357CF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7CF342-BB5C-2634-9DD5-648EA2916B7D}"/>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3642861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AF5D8-5702-3B26-D57E-9DA5EA1348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BE0969-037E-DECA-4D3A-0C7E1E485F08}"/>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4" name="Footer Placeholder 3">
            <a:extLst>
              <a:ext uri="{FF2B5EF4-FFF2-40B4-BE49-F238E27FC236}">
                <a16:creationId xmlns:a16="http://schemas.microsoft.com/office/drawing/2014/main" id="{CFC71776-350B-0A27-4E96-4362B99461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A323AE-D5ED-BB8A-BA4A-E2E249EEE3E2}"/>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592878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AD13D6-1669-B849-16B2-2B3560FB8F0B}"/>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3" name="Footer Placeholder 2">
            <a:extLst>
              <a:ext uri="{FF2B5EF4-FFF2-40B4-BE49-F238E27FC236}">
                <a16:creationId xmlns:a16="http://schemas.microsoft.com/office/drawing/2014/main" id="{15B635C4-0FAD-BEC1-747D-6A5077541A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8400C-8D89-D2E0-60B3-E303A26AB2D8}"/>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3385196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F316E-6DE5-B3A2-05AA-DA4DCB1AC4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38820C-5878-21F2-F84E-24B78C8C00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6FB618-121B-68AD-B2CD-DF1EAFA953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D7BB5-3243-42A3-F14B-F5F2954298F5}"/>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6" name="Footer Placeholder 5">
            <a:extLst>
              <a:ext uri="{FF2B5EF4-FFF2-40B4-BE49-F238E27FC236}">
                <a16:creationId xmlns:a16="http://schemas.microsoft.com/office/drawing/2014/main" id="{F87320C1-24D8-3F8D-D0A3-A7DCCD3F3A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C53A0-2C92-88D8-0521-89DAF2A551F8}"/>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1869762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D714-56F0-C068-AFDF-BA9222BD2A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D16333-618D-06EB-28B7-A8B7087F2E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94D997-DE15-40A3-945A-6C4A3F085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4B700-62F7-3189-0750-700507C6563E}"/>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6" name="Footer Placeholder 5">
            <a:extLst>
              <a:ext uri="{FF2B5EF4-FFF2-40B4-BE49-F238E27FC236}">
                <a16:creationId xmlns:a16="http://schemas.microsoft.com/office/drawing/2014/main" id="{8642C97C-B415-855C-1266-5933AC46E0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B44272-503B-2E08-E2FF-E3DFB6043F0A}"/>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4279845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08C88-06E3-5CB4-DBB4-A94EBE2E16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B04F20-336A-6932-6B60-647EFFAB09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BA5387-8EC9-63CC-E6D6-BB177E62C93B}"/>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5" name="Footer Placeholder 4">
            <a:extLst>
              <a:ext uri="{FF2B5EF4-FFF2-40B4-BE49-F238E27FC236}">
                <a16:creationId xmlns:a16="http://schemas.microsoft.com/office/drawing/2014/main" id="{15748622-67A8-1929-F7EC-446F516C9B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1AF11B-8A8B-82A9-04CF-B972DB756A6C}"/>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2125042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E30029-257A-B871-69AF-AEB2BFB9B9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C6D099-B086-726A-7914-89AF458BAD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4A6A3C-3E6E-81D3-320C-82B32355824B}"/>
              </a:ext>
            </a:extLst>
          </p:cNvPr>
          <p:cNvSpPr>
            <a:spLocks noGrp="1"/>
          </p:cNvSpPr>
          <p:nvPr>
            <p:ph type="dt" sz="half" idx="10"/>
          </p:nvPr>
        </p:nvSpPr>
        <p:spPr/>
        <p:txBody>
          <a:bodyPr/>
          <a:lstStyle/>
          <a:p>
            <a:fld id="{281223F0-EE35-4ADC-A5F2-4F2201435B2D}" type="datetimeFigureOut">
              <a:rPr lang="en-US" smtClean="0"/>
              <a:t>6/18/2026</a:t>
            </a:fld>
            <a:endParaRPr lang="en-US"/>
          </a:p>
        </p:txBody>
      </p:sp>
      <p:sp>
        <p:nvSpPr>
          <p:cNvPr id="5" name="Footer Placeholder 4">
            <a:extLst>
              <a:ext uri="{FF2B5EF4-FFF2-40B4-BE49-F238E27FC236}">
                <a16:creationId xmlns:a16="http://schemas.microsoft.com/office/drawing/2014/main" id="{99F75723-D7F6-8E9D-D93E-DC9D7331D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2DEB0-B026-B85D-16D0-70607A7BA458}"/>
              </a:ext>
            </a:extLst>
          </p:cNvPr>
          <p:cNvSpPr>
            <a:spLocks noGrp="1"/>
          </p:cNvSpPr>
          <p:nvPr>
            <p:ph type="sldNum" sz="quarter" idx="12"/>
          </p:nvPr>
        </p:nvSpPr>
        <p:spPr/>
        <p:txBody>
          <a:bodyPr/>
          <a:lstStyle/>
          <a:p>
            <a:fld id="{730028B3-6AC5-4951-A1C0-233E18FCA279}" type="slidenum">
              <a:rPr lang="en-US" smtClean="0"/>
              <a:t>‹#›</a:t>
            </a:fld>
            <a:endParaRPr lang="en-US"/>
          </a:p>
        </p:txBody>
      </p:sp>
    </p:spTree>
    <p:extLst>
      <p:ext uri="{BB962C8B-B14F-4D97-AF65-F5344CB8AC3E}">
        <p14:creationId xmlns:p14="http://schemas.microsoft.com/office/powerpoint/2010/main" val="255612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911F43-CFCC-629E-2FE5-114D70E335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D0A88D-68EC-B4E7-43CA-AA38B51489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BD3EBD-39F8-97E5-B34C-424F381D42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1223F0-EE35-4ADC-A5F2-4F2201435B2D}" type="datetimeFigureOut">
              <a:rPr lang="en-US" smtClean="0"/>
              <a:t>6/18/2026</a:t>
            </a:fld>
            <a:endParaRPr lang="en-US"/>
          </a:p>
        </p:txBody>
      </p:sp>
      <p:sp>
        <p:nvSpPr>
          <p:cNvPr id="5" name="Footer Placeholder 4">
            <a:extLst>
              <a:ext uri="{FF2B5EF4-FFF2-40B4-BE49-F238E27FC236}">
                <a16:creationId xmlns:a16="http://schemas.microsoft.com/office/drawing/2014/main" id="{9CCC9751-B0AA-3EF7-1DA2-246B8BDBF7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A7D180-0CC7-92FA-D09C-664FD152D2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0028B3-6AC5-4951-A1C0-233E18FCA279}" type="slidenum">
              <a:rPr lang="en-US" smtClean="0"/>
              <a:t>‹#›</a:t>
            </a:fld>
            <a:endParaRPr lang="en-US"/>
          </a:p>
        </p:txBody>
      </p:sp>
    </p:spTree>
    <p:extLst>
      <p:ext uri="{BB962C8B-B14F-4D97-AF65-F5344CB8AC3E}">
        <p14:creationId xmlns:p14="http://schemas.microsoft.com/office/powerpoint/2010/main" val="4249454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0E867B-329B-6615-37F0-C1FC169031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084" y="958645"/>
            <a:ext cx="10353367" cy="4940710"/>
          </a:xfrm>
          <a:prstGeom prst="rect">
            <a:avLst/>
          </a:prstGeom>
        </p:spPr>
      </p:pic>
      <p:sp>
        <p:nvSpPr>
          <p:cNvPr id="6" name="TextBox 5">
            <a:extLst>
              <a:ext uri="{FF2B5EF4-FFF2-40B4-BE49-F238E27FC236}">
                <a16:creationId xmlns:a16="http://schemas.microsoft.com/office/drawing/2014/main" id="{1B8F03F3-B984-6A7E-94AE-A9A51867E4BF}"/>
              </a:ext>
            </a:extLst>
          </p:cNvPr>
          <p:cNvSpPr txBox="1"/>
          <p:nvPr/>
        </p:nvSpPr>
        <p:spPr>
          <a:xfrm>
            <a:off x="2926189" y="353962"/>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7" name="TextBox 6">
            <a:extLst>
              <a:ext uri="{FF2B5EF4-FFF2-40B4-BE49-F238E27FC236}">
                <a16:creationId xmlns:a16="http://schemas.microsoft.com/office/drawing/2014/main" id="{A3A6562D-26ED-2F91-08E2-0C43DFF8B982}"/>
              </a:ext>
            </a:extLst>
          </p:cNvPr>
          <p:cNvSpPr txBox="1"/>
          <p:nvPr/>
        </p:nvSpPr>
        <p:spPr>
          <a:xfrm>
            <a:off x="509405" y="6134706"/>
            <a:ext cx="11321689" cy="338554"/>
          </a:xfrm>
          <a:prstGeom prst="rect">
            <a:avLst/>
          </a:prstGeom>
          <a:noFill/>
        </p:spPr>
        <p:txBody>
          <a:bodyPr wrap="none" rtlCol="0">
            <a:spAutoFit/>
          </a:bodyPr>
          <a:lstStyle/>
          <a:p>
            <a:r>
              <a:rPr lang="en-US" sz="1600" dirty="0">
                <a:latin typeface="Arial Black" panose="020B0A04020102020204" pitchFamily="34" charset="0"/>
              </a:rPr>
              <a:t>Dr Ashok Gopalakrishnan, Retired Scientist from NASA, Google Scholar, IBM WebSphere Champion </a:t>
            </a:r>
          </a:p>
        </p:txBody>
      </p:sp>
    </p:spTree>
    <p:extLst>
      <p:ext uri="{BB962C8B-B14F-4D97-AF65-F5344CB8AC3E}">
        <p14:creationId xmlns:p14="http://schemas.microsoft.com/office/powerpoint/2010/main" val="3812373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CB5F9-D762-1335-F7C7-0403CE90C5C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8853DC8-4D7A-22D2-B0EA-FF0CA4C97122}"/>
              </a:ext>
            </a:extLst>
          </p:cNvPr>
          <p:cNvSpPr txBox="1"/>
          <p:nvPr/>
        </p:nvSpPr>
        <p:spPr>
          <a:xfrm>
            <a:off x="2926189" y="353962"/>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00A84515-399F-0C6E-69DF-6A5A94C289C9}"/>
              </a:ext>
            </a:extLst>
          </p:cNvPr>
          <p:cNvSpPr txBox="1"/>
          <p:nvPr/>
        </p:nvSpPr>
        <p:spPr>
          <a:xfrm>
            <a:off x="1111045" y="1369336"/>
            <a:ext cx="9763433" cy="3693319"/>
          </a:xfrm>
          <a:prstGeom prst="rect">
            <a:avLst/>
          </a:prstGeom>
          <a:noFill/>
        </p:spPr>
        <p:txBody>
          <a:bodyPr wrap="square">
            <a:spAutoFit/>
          </a:bodyPr>
          <a:lstStyle/>
          <a:p>
            <a:pPr algn="ctr">
              <a:buNone/>
            </a:pPr>
            <a:r>
              <a:rPr lang="en-US" b="1" dirty="0">
                <a:solidFill>
                  <a:srgbClr val="0070C0"/>
                </a:solidFill>
                <a:latin typeface="Arial Black" panose="020B0A04020102020204" pitchFamily="34" charset="0"/>
              </a:rPr>
              <a:t>Why Statistics Matters in ML</a:t>
            </a:r>
          </a:p>
          <a:p>
            <a:pPr algn="just">
              <a:buNone/>
            </a:pPr>
            <a:endParaRPr lang="en-US" b="1" dirty="0">
              <a:latin typeface="Arial Black" panose="020B0A04020102020204" pitchFamily="34" charset="0"/>
            </a:endParaRPr>
          </a:p>
          <a:p>
            <a:pPr algn="just">
              <a:buNone/>
            </a:pPr>
            <a:r>
              <a:rPr lang="en-US" dirty="0">
                <a:solidFill>
                  <a:srgbClr val="FF0000"/>
                </a:solidFill>
                <a:effectLst/>
                <a:latin typeface="Arial Black" panose="020B0A04020102020204" pitchFamily="34" charset="0"/>
              </a:rPr>
              <a:t>Statistics is the </a:t>
            </a:r>
            <a:r>
              <a:rPr lang="en-US" i="1" dirty="0">
                <a:solidFill>
                  <a:srgbClr val="FF0000"/>
                </a:solidFill>
                <a:effectLst/>
                <a:latin typeface="Arial Black" panose="020B0A04020102020204" pitchFamily="34" charset="0"/>
              </a:rPr>
              <a:t>foundation</a:t>
            </a:r>
            <a:r>
              <a:rPr lang="en-US" dirty="0">
                <a:solidFill>
                  <a:srgbClr val="FF0000"/>
                </a:solidFill>
                <a:effectLst/>
                <a:latin typeface="Arial Black" panose="020B0A04020102020204" pitchFamily="34" charset="0"/>
              </a:rPr>
              <a:t> of machine learning — it helps us understand data patterns, variability, and relationships before we ever train a model.</a:t>
            </a:r>
          </a:p>
          <a:p>
            <a:pPr algn="just">
              <a:buNone/>
            </a:pPr>
            <a:endParaRPr lang="en-US" dirty="0">
              <a:solidFill>
                <a:srgbClr val="FF0000"/>
              </a:solidFill>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Descriptive Statistics:</a:t>
            </a:r>
            <a:r>
              <a:rPr lang="en-US" dirty="0">
                <a:effectLst/>
                <a:latin typeface="Arial Black" panose="020B0A04020102020204" pitchFamily="34" charset="0"/>
              </a:rPr>
              <a:t> Summarize data (mean, median, mode, variance).</a:t>
            </a:r>
          </a:p>
          <a:p>
            <a:pPr algn="just">
              <a:buFont typeface="Arial" panose="020B0604020202020204" pitchFamily="34" charset="0"/>
              <a:buChar char="•"/>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Inferential Statistics:</a:t>
            </a:r>
            <a:r>
              <a:rPr lang="en-US" dirty="0">
                <a:effectLst/>
                <a:latin typeface="Arial Black" panose="020B0A04020102020204" pitchFamily="34" charset="0"/>
              </a:rPr>
              <a:t> Draw conclusions from samples (hypothesis testing, confidence intervals).</a:t>
            </a:r>
          </a:p>
          <a:p>
            <a:pPr algn="just">
              <a:buFont typeface="Arial" panose="020B0604020202020204" pitchFamily="34" charset="0"/>
              <a:buChar char="•"/>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Probability:</a:t>
            </a:r>
            <a:r>
              <a:rPr lang="en-US" dirty="0">
                <a:effectLst/>
                <a:latin typeface="Arial Black" panose="020B0A04020102020204" pitchFamily="34" charset="0"/>
              </a:rPr>
              <a:t> Quantifies uncertainty — essential for predictive modeling.</a:t>
            </a:r>
          </a:p>
          <a:p>
            <a:pPr algn="just"/>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Correlation &amp; Regression:</a:t>
            </a:r>
            <a:r>
              <a:rPr lang="en-US" dirty="0">
                <a:effectLst/>
                <a:latin typeface="Arial Black" panose="020B0A04020102020204" pitchFamily="34" charset="0"/>
              </a:rPr>
              <a:t> Measure relationships and predict outcomes</a:t>
            </a:r>
            <a:r>
              <a:rPr lang="en-US" dirty="0">
                <a:effectLst/>
              </a:rPr>
              <a:t>.</a:t>
            </a:r>
            <a:endParaRPr lang="en-US" dirty="0"/>
          </a:p>
        </p:txBody>
      </p:sp>
    </p:spTree>
    <p:extLst>
      <p:ext uri="{BB962C8B-B14F-4D97-AF65-F5344CB8AC3E}">
        <p14:creationId xmlns:p14="http://schemas.microsoft.com/office/powerpoint/2010/main" val="3078910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8CE5E-2FD5-D3C3-C447-87E36A06818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E0400BF-B697-B1C0-6C14-BF8366FBCA35}"/>
              </a:ext>
            </a:extLst>
          </p:cNvPr>
          <p:cNvSpPr txBox="1"/>
          <p:nvPr/>
        </p:nvSpPr>
        <p:spPr>
          <a:xfrm>
            <a:off x="2926189" y="353962"/>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4" name="TextBox 3">
            <a:extLst>
              <a:ext uri="{FF2B5EF4-FFF2-40B4-BE49-F238E27FC236}">
                <a16:creationId xmlns:a16="http://schemas.microsoft.com/office/drawing/2014/main" id="{115F0B62-6840-B358-3AF3-939E7A376EDB}"/>
              </a:ext>
            </a:extLst>
          </p:cNvPr>
          <p:cNvSpPr txBox="1"/>
          <p:nvPr/>
        </p:nvSpPr>
        <p:spPr>
          <a:xfrm>
            <a:off x="1022555" y="1176656"/>
            <a:ext cx="9822426" cy="4676152"/>
          </a:xfrm>
          <a:prstGeom prst="rect">
            <a:avLst/>
          </a:prstGeom>
          <a:noFill/>
        </p:spPr>
        <p:txBody>
          <a:bodyPr wrap="square">
            <a:spAutoFit/>
          </a:bodyPr>
          <a:lstStyle/>
          <a:p>
            <a:pPr algn="just">
              <a:lnSpc>
                <a:spcPts val="1650"/>
              </a:lnSpc>
              <a:buNone/>
            </a:pPr>
            <a:r>
              <a:rPr lang="en-US" sz="1600" b="0" i="0" dirty="0">
                <a:solidFill>
                  <a:srgbClr val="000000"/>
                </a:solidFill>
                <a:effectLst/>
                <a:latin typeface="Arial Black" panose="020B0A04020102020204" pitchFamily="34" charset="0"/>
              </a:rPr>
              <a:t>Statistics forms the </a:t>
            </a:r>
            <a:r>
              <a:rPr lang="en-US" sz="1600" b="1" i="0" dirty="0">
                <a:solidFill>
                  <a:srgbClr val="000000"/>
                </a:solidFill>
                <a:effectLst/>
                <a:latin typeface="Arial Black" panose="020B0A04020102020204" pitchFamily="34" charset="0"/>
              </a:rPr>
              <a:t>mathematical backbone</a:t>
            </a:r>
            <a:r>
              <a:rPr lang="en-US" sz="1600" b="0" i="0" dirty="0">
                <a:solidFill>
                  <a:srgbClr val="000000"/>
                </a:solidFill>
                <a:effectLst/>
                <a:latin typeface="Arial Black" panose="020B0A04020102020204" pitchFamily="34" charset="0"/>
              </a:rPr>
              <a:t> of machine learning, enabling us to </a:t>
            </a:r>
            <a:r>
              <a:rPr lang="en-US" sz="1600" b="1" i="0" dirty="0">
                <a:solidFill>
                  <a:srgbClr val="000000"/>
                </a:solidFill>
                <a:effectLst/>
                <a:latin typeface="Arial Black" panose="020B0A04020102020204" pitchFamily="34" charset="0"/>
              </a:rPr>
              <a:t>understand data</a:t>
            </a:r>
            <a:r>
              <a:rPr lang="en-US" sz="1600" b="0" i="0" dirty="0">
                <a:solidFill>
                  <a:srgbClr val="000000"/>
                </a:solidFill>
                <a:effectLst/>
                <a:latin typeface="Arial Black" panose="020B0A04020102020204" pitchFamily="34" charset="0"/>
              </a:rPr>
              <a:t>, </a:t>
            </a:r>
            <a:r>
              <a:rPr lang="en-US" sz="1600" b="1" i="0" dirty="0">
                <a:solidFill>
                  <a:srgbClr val="000000"/>
                </a:solidFill>
                <a:effectLst/>
                <a:latin typeface="Arial Black" panose="020B0A04020102020204" pitchFamily="34" charset="0"/>
              </a:rPr>
              <a:t>quantify uncertainty</a:t>
            </a:r>
            <a:r>
              <a:rPr lang="en-US" sz="1600" b="0" i="0" dirty="0">
                <a:solidFill>
                  <a:srgbClr val="000000"/>
                </a:solidFill>
                <a:effectLst/>
                <a:latin typeface="Arial Black" panose="020B0A04020102020204" pitchFamily="34" charset="0"/>
              </a:rPr>
              <a:t>, and </a:t>
            </a:r>
            <a:r>
              <a:rPr lang="en-US" sz="1600" b="1" i="0" dirty="0">
                <a:solidFill>
                  <a:srgbClr val="000000"/>
                </a:solidFill>
                <a:effectLst/>
                <a:latin typeface="Arial Black" panose="020B0A04020102020204" pitchFamily="34" charset="0"/>
              </a:rPr>
              <a:t>evaluate models</a:t>
            </a:r>
            <a:r>
              <a:rPr lang="en-US" sz="1600" b="0" i="0" dirty="0">
                <a:solidFill>
                  <a:srgbClr val="000000"/>
                </a:solidFill>
                <a:effectLst/>
                <a:latin typeface="Arial Black" panose="020B0A04020102020204" pitchFamily="34" charset="0"/>
              </a:rPr>
              <a:t> effectively. Every ML workflow—from data preprocessing to prediction—relies on statistical principles.</a:t>
            </a:r>
          </a:p>
          <a:p>
            <a:pPr algn="just">
              <a:lnSpc>
                <a:spcPts val="1650"/>
              </a:lnSpc>
              <a:buNone/>
            </a:pPr>
            <a:endParaRPr lang="en-US" sz="1600" b="0" i="0" dirty="0">
              <a:solidFill>
                <a:srgbClr val="000000"/>
              </a:solidFill>
              <a:effectLst/>
              <a:latin typeface="Arial Black" panose="020B0A04020102020204" pitchFamily="34" charset="0"/>
            </a:endParaRPr>
          </a:p>
          <a:p>
            <a:pPr algn="just">
              <a:lnSpc>
                <a:spcPts val="1650"/>
              </a:lnSpc>
            </a:pPr>
            <a:r>
              <a:rPr lang="en-US" sz="1600" b="1" i="0" dirty="0">
                <a:solidFill>
                  <a:srgbClr val="FF0000"/>
                </a:solidFill>
                <a:effectLst/>
                <a:latin typeface="Arial Black" panose="020B0A04020102020204" pitchFamily="34" charset="0"/>
              </a:rPr>
              <a:t>Understanding Data:</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Before training models, </a:t>
            </a:r>
            <a:r>
              <a:rPr lang="en-US" sz="1600" b="1" i="0" dirty="0">
                <a:solidFill>
                  <a:srgbClr val="000000"/>
                </a:solidFill>
                <a:effectLst/>
                <a:latin typeface="Arial Black" panose="020B0A04020102020204" pitchFamily="34" charset="0"/>
              </a:rPr>
              <a:t>descriptive statistics</a:t>
            </a:r>
            <a:r>
              <a:rPr lang="en-US" sz="1600" b="0" i="0" dirty="0">
                <a:solidFill>
                  <a:srgbClr val="000000"/>
                </a:solidFill>
                <a:effectLst/>
                <a:latin typeface="Arial Black" panose="020B0A04020102020204" pitchFamily="34" charset="0"/>
              </a:rPr>
              <a:t> (mean, median, mode, variance, skewness, kurtosis) summarize data characteristics. This helps detect </a:t>
            </a:r>
            <a:r>
              <a:rPr lang="en-US" sz="1600" b="1" i="0" dirty="0">
                <a:solidFill>
                  <a:srgbClr val="000000"/>
                </a:solidFill>
                <a:effectLst/>
                <a:latin typeface="Arial Black" panose="020B0A04020102020204" pitchFamily="34" charset="0"/>
              </a:rPr>
              <a:t>outliers</a:t>
            </a:r>
            <a:r>
              <a:rPr lang="en-US" sz="1600" b="0" i="0" dirty="0">
                <a:solidFill>
                  <a:srgbClr val="000000"/>
                </a:solidFill>
                <a:effectLst/>
                <a:latin typeface="Arial Black" panose="020B0A04020102020204" pitchFamily="34" charset="0"/>
              </a:rPr>
              <a:t>, assess </a:t>
            </a:r>
            <a:r>
              <a:rPr lang="en-US" sz="1600" b="1" i="0" dirty="0">
                <a:solidFill>
                  <a:srgbClr val="000000"/>
                </a:solidFill>
                <a:effectLst/>
                <a:latin typeface="Arial Black" panose="020B0A04020102020204" pitchFamily="34" charset="0"/>
              </a:rPr>
              <a:t>distribution shapes</a:t>
            </a:r>
            <a:r>
              <a:rPr lang="en-US" sz="1600" b="0" i="0" dirty="0">
                <a:solidFill>
                  <a:srgbClr val="000000"/>
                </a:solidFill>
                <a:effectLst/>
                <a:latin typeface="Arial Black" panose="020B0A04020102020204" pitchFamily="34" charset="0"/>
              </a:rPr>
              <a:t>, and decide on preprocessing steps like normalization or transformation. For example, a highly skewed feature may require a log transform before regression. </a:t>
            </a:r>
            <a:r>
              <a:rPr lang="en-US" sz="1600" b="1" i="0" dirty="0">
                <a:solidFill>
                  <a:srgbClr val="000000"/>
                </a:solidFill>
                <a:effectLst/>
                <a:latin typeface="Arial Black" panose="020B0A04020102020204" pitchFamily="34" charset="0"/>
              </a:rPr>
              <a:t>Engineering</a:t>
            </a:r>
            <a:r>
              <a:rPr lang="en-US" sz="1600" b="0" i="0" dirty="0">
                <a:solidFill>
                  <a:srgbClr val="000000"/>
                </a:solidFill>
                <a:effectLst/>
                <a:latin typeface="Arial Black" panose="020B0A04020102020204" pitchFamily="34" charset="0"/>
              </a:rPr>
              <a:t> &amp; Statistical measures like </a:t>
            </a:r>
            <a:r>
              <a:rPr lang="en-US" sz="1600" b="1" i="0" dirty="0">
                <a:solidFill>
                  <a:srgbClr val="000000"/>
                </a:solidFill>
                <a:effectLst/>
                <a:latin typeface="Arial Black" panose="020B0A04020102020204" pitchFamily="34" charset="0"/>
              </a:rPr>
              <a:t>correlation</a:t>
            </a:r>
            <a:r>
              <a:rPr lang="en-US" sz="1600" b="0" i="0" dirty="0">
                <a:solidFill>
                  <a:srgbClr val="000000"/>
                </a:solidFill>
                <a:effectLst/>
                <a:latin typeface="Arial Black" panose="020B0A04020102020204" pitchFamily="34" charset="0"/>
              </a:rPr>
              <a:t> and </a:t>
            </a:r>
            <a:r>
              <a:rPr lang="en-US" sz="1600" b="1" i="0" dirty="0">
                <a:solidFill>
                  <a:srgbClr val="000000"/>
                </a:solidFill>
                <a:effectLst/>
                <a:latin typeface="Arial Black" panose="020B0A04020102020204" pitchFamily="34" charset="0"/>
              </a:rPr>
              <a:t>covariance</a:t>
            </a:r>
            <a:r>
              <a:rPr lang="en-US" sz="1600" b="0" i="0" dirty="0">
                <a:solidFill>
                  <a:srgbClr val="000000"/>
                </a:solidFill>
                <a:effectLst/>
                <a:latin typeface="Arial Black" panose="020B0A04020102020204" pitchFamily="34" charset="0"/>
              </a:rPr>
              <a:t> reveal relationships between variables, guiding feature selection. </a:t>
            </a:r>
          </a:p>
          <a:p>
            <a:pPr>
              <a:lnSpc>
                <a:spcPts val="1650"/>
              </a:lnSpc>
            </a:pPr>
            <a:endParaRPr lang="en-US" sz="1600" b="0" i="0" dirty="0">
              <a:solidFill>
                <a:srgbClr val="000000"/>
              </a:solidFill>
              <a:effectLst/>
              <a:latin typeface="Arial Black" panose="020B0A04020102020204" pitchFamily="34" charset="0"/>
            </a:endParaRPr>
          </a:p>
          <a:p>
            <a:pPr algn="just">
              <a:lnSpc>
                <a:spcPts val="1650"/>
              </a:lnSpc>
            </a:pPr>
            <a:r>
              <a:rPr lang="en-US" sz="1600" b="1" dirty="0">
                <a:solidFill>
                  <a:srgbClr val="FF0000"/>
                </a:solidFill>
                <a:latin typeface="Arial Black" panose="020B0A04020102020204" pitchFamily="34" charset="0"/>
              </a:rPr>
              <a:t>Probability &amp; Uncertainty:</a:t>
            </a:r>
            <a:r>
              <a:rPr lang="en-US" sz="1600" dirty="0">
                <a:solidFill>
                  <a:srgbClr val="FF0000"/>
                </a:solidFill>
                <a:latin typeface="Arial Black" panose="020B0A04020102020204" pitchFamily="34" charset="0"/>
              </a:rPr>
              <a:t> </a:t>
            </a:r>
            <a:r>
              <a:rPr lang="en-US" sz="1600" b="1" dirty="0">
                <a:latin typeface="Arial Black" panose="020B0A04020102020204" pitchFamily="34" charset="0"/>
              </a:rPr>
              <a:t>Probability theory</a:t>
            </a:r>
            <a:r>
              <a:rPr lang="en-US" sz="1600" dirty="0">
                <a:latin typeface="Arial Black" panose="020B0A04020102020204" pitchFamily="34" charset="0"/>
              </a:rPr>
              <a:t> underpins ML models by quantifying uncertainty. Conditional probabilities are central to algorithms like </a:t>
            </a:r>
            <a:r>
              <a:rPr lang="en-US" sz="1600" b="1" dirty="0">
                <a:latin typeface="Arial Black" panose="020B0A04020102020204" pitchFamily="34" charset="0"/>
              </a:rPr>
              <a:t>Naive Bayes</a:t>
            </a:r>
            <a:r>
              <a:rPr lang="en-US" sz="1600" dirty="0">
                <a:latin typeface="Arial Black" panose="020B0A04020102020204" pitchFamily="34" charset="0"/>
              </a:rPr>
              <a:t> and </a:t>
            </a:r>
            <a:r>
              <a:rPr lang="en-US" sz="1600" b="1" dirty="0">
                <a:latin typeface="Arial Black" panose="020B0A04020102020204" pitchFamily="34" charset="0"/>
              </a:rPr>
              <a:t>logistic regression</a:t>
            </a:r>
            <a:r>
              <a:rPr lang="en-US" sz="1600" dirty="0">
                <a:latin typeface="Arial Black" panose="020B0A04020102020204" pitchFamily="34" charset="0"/>
              </a:rPr>
              <a:t>, where outputs are interpreted as likelihoods. Understanding </a:t>
            </a:r>
            <a:r>
              <a:rPr lang="en-US" sz="1600" b="1" dirty="0">
                <a:latin typeface="Arial Black" panose="020B0A04020102020204" pitchFamily="34" charset="0"/>
              </a:rPr>
              <a:t>probability distributions</a:t>
            </a:r>
            <a:r>
              <a:rPr lang="en-US" sz="1600" dirty="0">
                <a:latin typeface="Arial Black" panose="020B0A04020102020204" pitchFamily="34" charset="0"/>
              </a:rPr>
              <a:t> (</a:t>
            </a:r>
            <a:r>
              <a:rPr lang="en-US" sz="1600" dirty="0">
                <a:solidFill>
                  <a:srgbClr val="FF0000"/>
                </a:solidFill>
                <a:latin typeface="Arial Black" panose="020B0A04020102020204" pitchFamily="34" charset="0"/>
              </a:rPr>
              <a:t>Bernoulli, Gaussian, Poisson</a:t>
            </a:r>
            <a:r>
              <a:rPr lang="en-US" sz="1600" dirty="0">
                <a:latin typeface="Arial Black" panose="020B0A04020102020204" pitchFamily="34" charset="0"/>
              </a:rPr>
              <a:t>) is crucial for model assumptions, loss functions, and generative modeling.</a:t>
            </a:r>
          </a:p>
          <a:p>
            <a:pPr algn="just">
              <a:lnSpc>
                <a:spcPts val="1650"/>
              </a:lnSpc>
            </a:pPr>
            <a:endParaRPr lang="en-US" sz="1600" b="0" i="0" dirty="0">
              <a:solidFill>
                <a:srgbClr val="000000"/>
              </a:solidFill>
              <a:effectLst/>
              <a:latin typeface="Arial Black" panose="020B0A04020102020204" pitchFamily="34" charset="0"/>
            </a:endParaRPr>
          </a:p>
          <a:p>
            <a:pPr algn="just">
              <a:lnSpc>
                <a:spcPts val="1650"/>
              </a:lnSpc>
            </a:pPr>
            <a:r>
              <a:rPr lang="en-US" sz="1600" b="1" dirty="0">
                <a:solidFill>
                  <a:srgbClr val="FF0000"/>
                </a:solidFill>
                <a:latin typeface="Arial Black" panose="020B0A04020102020204" pitchFamily="34" charset="0"/>
              </a:rPr>
              <a:t>Bayesian Methods:</a:t>
            </a:r>
            <a:r>
              <a:rPr lang="en-US" sz="1600" dirty="0">
                <a:solidFill>
                  <a:srgbClr val="FF0000"/>
                </a:solidFill>
                <a:latin typeface="Arial Black" panose="020B0A04020102020204" pitchFamily="34" charset="0"/>
              </a:rPr>
              <a:t> </a:t>
            </a:r>
            <a:r>
              <a:rPr lang="en-US" sz="1600" dirty="0">
                <a:latin typeface="Arial Black" panose="020B0A04020102020204" pitchFamily="34" charset="0"/>
              </a:rPr>
              <a:t>Bayesian statistics combine prior beliefs with observed data to update probabilities. This is widely used in </a:t>
            </a:r>
            <a:r>
              <a:rPr lang="en-US" sz="1600" b="1" dirty="0">
                <a:latin typeface="Arial Black" panose="020B0A04020102020204" pitchFamily="34" charset="0"/>
              </a:rPr>
              <a:t>Bayesian optimization</a:t>
            </a:r>
            <a:r>
              <a:rPr lang="en-US" sz="1600" dirty="0">
                <a:latin typeface="Arial Black" panose="020B0A04020102020204" pitchFamily="34" charset="0"/>
              </a:rPr>
              <a:t>, </a:t>
            </a:r>
            <a:r>
              <a:rPr lang="en-US" sz="1600" b="1" dirty="0">
                <a:latin typeface="Arial Black" panose="020B0A04020102020204" pitchFamily="34" charset="0"/>
              </a:rPr>
              <a:t>uncertainty quantification</a:t>
            </a:r>
            <a:r>
              <a:rPr lang="en-US" sz="1600" dirty="0">
                <a:latin typeface="Arial Black" panose="020B0A04020102020204" pitchFamily="34" charset="0"/>
              </a:rPr>
              <a:t>, and </a:t>
            </a:r>
            <a:r>
              <a:rPr lang="en-US" sz="1600" b="1" dirty="0">
                <a:latin typeface="Arial Black" panose="020B0A04020102020204" pitchFamily="34" charset="0"/>
              </a:rPr>
              <a:t>probabilistic programming</a:t>
            </a:r>
            <a:r>
              <a:rPr lang="en-US" dirty="0"/>
              <a:t>.</a:t>
            </a:r>
            <a:endParaRPr lang="en-US" sz="1600" b="0" i="0" dirty="0">
              <a:solidFill>
                <a:srgbClr val="000000"/>
              </a:solidFill>
              <a:effectLst/>
              <a:latin typeface="Arial Black" panose="020B0A04020102020204" pitchFamily="34" charset="0"/>
            </a:endParaRPr>
          </a:p>
        </p:txBody>
      </p:sp>
    </p:spTree>
    <p:extLst>
      <p:ext uri="{BB962C8B-B14F-4D97-AF65-F5344CB8AC3E}">
        <p14:creationId xmlns:p14="http://schemas.microsoft.com/office/powerpoint/2010/main" val="456732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CCE9C-1200-3BD9-400E-B913EE22811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FFAB237-B5C4-2C95-21DA-1AC5D314BB0A}"/>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EEFFE26F-000F-A454-ED63-35CFC4D25F62}"/>
              </a:ext>
            </a:extLst>
          </p:cNvPr>
          <p:cNvSpPr txBox="1"/>
          <p:nvPr/>
        </p:nvSpPr>
        <p:spPr>
          <a:xfrm>
            <a:off x="1160206" y="877182"/>
            <a:ext cx="10078064" cy="4801314"/>
          </a:xfrm>
          <a:prstGeom prst="rect">
            <a:avLst/>
          </a:prstGeom>
          <a:noFill/>
        </p:spPr>
        <p:txBody>
          <a:bodyPr wrap="square">
            <a:spAutoFit/>
          </a:bodyPr>
          <a:lstStyle/>
          <a:p>
            <a:pPr algn="l">
              <a:buNone/>
            </a:pPr>
            <a:r>
              <a:rPr lang="en-US" b="0" i="0" dirty="0">
                <a:solidFill>
                  <a:srgbClr val="1B6AC7"/>
                </a:solidFill>
                <a:effectLst/>
                <a:latin typeface="Consolas" panose="020B0609020204030204" pitchFamily="49" charset="0"/>
              </a:rPr>
              <a:t>import</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numpy</a:t>
            </a:r>
            <a:r>
              <a:rPr lang="en-US" b="0" i="0" dirty="0">
                <a:solidFill>
                  <a:srgbClr val="000000"/>
                </a:solidFill>
                <a:effectLst/>
                <a:latin typeface="Consolas" panose="020B0609020204030204" pitchFamily="49" charset="0"/>
              </a:rPr>
              <a:t> </a:t>
            </a:r>
            <a:r>
              <a:rPr lang="en-US" b="0" i="0" dirty="0">
                <a:solidFill>
                  <a:srgbClr val="1B6AC7"/>
                </a:solidFill>
                <a:effectLst/>
                <a:latin typeface="Consolas" panose="020B0609020204030204" pitchFamily="49" charset="0"/>
              </a:rPr>
              <a:t>as</a:t>
            </a:r>
            <a:r>
              <a:rPr lang="en-US" b="0" i="0" dirty="0">
                <a:solidFill>
                  <a:srgbClr val="000000"/>
                </a:solidFill>
                <a:effectLst/>
                <a:latin typeface="Consolas" panose="020B0609020204030204" pitchFamily="49" charset="0"/>
              </a:rPr>
              <a:t> np</a:t>
            </a:r>
          </a:p>
          <a:p>
            <a:pPr algn="l">
              <a:buNone/>
            </a:pPr>
            <a:r>
              <a:rPr lang="en-US" b="0" i="0" dirty="0">
                <a:solidFill>
                  <a:srgbClr val="1B6AC7"/>
                </a:solidFill>
                <a:effectLst/>
                <a:latin typeface="Consolas" panose="020B0609020204030204" pitchFamily="49" charset="0"/>
              </a:rPr>
              <a:t>from</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sklearn.linear_model</a:t>
            </a:r>
            <a:r>
              <a:rPr lang="en-US" b="0" i="0" dirty="0">
                <a:solidFill>
                  <a:srgbClr val="000000"/>
                </a:solidFill>
                <a:effectLst/>
                <a:latin typeface="Consolas" panose="020B0609020204030204" pitchFamily="49" charset="0"/>
              </a:rPr>
              <a:t> </a:t>
            </a:r>
            <a:r>
              <a:rPr lang="en-US" b="0" i="0" dirty="0">
                <a:solidFill>
                  <a:srgbClr val="1B6AC7"/>
                </a:solidFill>
                <a:effectLst/>
                <a:latin typeface="Consolas" panose="020B0609020204030204" pitchFamily="49" charset="0"/>
              </a:rPr>
              <a:t>import</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LogisticRegression</a:t>
            </a:r>
            <a:endParaRPr lang="en-US" b="0" i="0" dirty="0">
              <a:solidFill>
                <a:srgbClr val="000000"/>
              </a:solidFill>
              <a:effectLst/>
              <a:latin typeface="Consolas" panose="020B0609020204030204" pitchFamily="49" charset="0"/>
            </a:endParaRPr>
          </a:p>
          <a:p>
            <a:pPr algn="l">
              <a:buNone/>
            </a:pPr>
            <a:r>
              <a:rPr lang="en-US" b="0" i="0" dirty="0">
                <a:solidFill>
                  <a:srgbClr val="1B6AC7"/>
                </a:solidFill>
                <a:effectLst/>
                <a:latin typeface="Consolas" panose="020B0609020204030204" pitchFamily="49" charset="0"/>
              </a:rPr>
              <a:t>from</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sklearn.metrics</a:t>
            </a:r>
            <a:r>
              <a:rPr lang="en-US" b="0" i="0" dirty="0">
                <a:solidFill>
                  <a:srgbClr val="000000"/>
                </a:solidFill>
                <a:effectLst/>
                <a:latin typeface="Consolas" panose="020B0609020204030204" pitchFamily="49" charset="0"/>
              </a:rPr>
              <a:t> </a:t>
            </a:r>
            <a:r>
              <a:rPr lang="en-US" b="0" i="0" dirty="0">
                <a:solidFill>
                  <a:srgbClr val="1B6AC7"/>
                </a:solidFill>
                <a:effectLst/>
                <a:latin typeface="Consolas" panose="020B0609020204030204" pitchFamily="49" charset="0"/>
              </a:rPr>
              <a:t>import</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precision_score</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recall_score</a:t>
            </a:r>
            <a:endParaRPr lang="en-US" b="0" i="0" dirty="0">
              <a:solidFill>
                <a:srgbClr val="000000"/>
              </a:solidFill>
              <a:effectLst/>
              <a:latin typeface="Consolas" panose="020B0609020204030204" pitchFamily="49" charset="0"/>
            </a:endParaRPr>
          </a:p>
          <a:p>
            <a:pPr>
              <a:buNone/>
            </a:pPr>
            <a:br>
              <a:rPr lang="en-US" dirty="0"/>
            </a:br>
            <a:endParaRPr lang="en-US" dirty="0"/>
          </a:p>
          <a:p>
            <a:pPr algn="l">
              <a:buNone/>
            </a:pPr>
            <a:r>
              <a:rPr lang="en-US" b="0" i="0" dirty="0">
                <a:solidFill>
                  <a:srgbClr val="14692E"/>
                </a:solidFill>
                <a:effectLst/>
                <a:latin typeface="Consolas" panose="020B0609020204030204" pitchFamily="49" charset="0"/>
              </a:rPr>
              <a:t># Sample binary classification data</a:t>
            </a:r>
            <a:endParaRPr lang="en-US" b="0" i="0" dirty="0">
              <a:solidFill>
                <a:srgbClr val="000000"/>
              </a:solidFill>
              <a:effectLst/>
              <a:latin typeface="Consolas" panose="020B0609020204030204" pitchFamily="49" charset="0"/>
            </a:endParaRPr>
          </a:p>
          <a:p>
            <a:pPr algn="l">
              <a:buNone/>
            </a:pPr>
            <a:r>
              <a:rPr lang="en-US" b="0" i="0" dirty="0">
                <a:solidFill>
                  <a:srgbClr val="000000"/>
                </a:solidFill>
                <a:effectLst/>
                <a:latin typeface="Consolas" panose="020B0609020204030204" pitchFamily="49" charset="0"/>
              </a:rPr>
              <a:t>X = </a:t>
            </a:r>
            <a:r>
              <a:rPr lang="en-US" b="0" i="0" dirty="0" err="1">
                <a:solidFill>
                  <a:srgbClr val="000000"/>
                </a:solidFill>
                <a:effectLst/>
                <a:latin typeface="Consolas" panose="020B0609020204030204" pitchFamily="49" charset="0"/>
              </a:rPr>
              <a:t>np.array</a:t>
            </a:r>
            <a:r>
              <a:rPr lang="en-US" b="0" i="0" dirty="0">
                <a:solidFill>
                  <a:srgbClr val="000000"/>
                </a:solidFill>
                <a:effectLst/>
                <a:latin typeface="Consolas" panose="020B0609020204030204" pitchFamily="49" charset="0"/>
              </a:rPr>
              <a:t>([[25, 50000], [40, 60000], [35, 80000], [50, 20000]])</a:t>
            </a:r>
          </a:p>
          <a:p>
            <a:pPr algn="l">
              <a:buNone/>
            </a:pPr>
            <a:r>
              <a:rPr lang="en-US" b="0" i="0" dirty="0">
                <a:solidFill>
                  <a:srgbClr val="000000"/>
                </a:solidFill>
                <a:effectLst/>
                <a:latin typeface="Consolas" panose="020B0609020204030204" pitchFamily="49" charset="0"/>
              </a:rPr>
              <a:t>y = </a:t>
            </a:r>
            <a:r>
              <a:rPr lang="en-US" b="0" i="0" dirty="0" err="1">
                <a:solidFill>
                  <a:srgbClr val="000000"/>
                </a:solidFill>
                <a:effectLst/>
                <a:latin typeface="Consolas" panose="020B0609020204030204" pitchFamily="49" charset="0"/>
              </a:rPr>
              <a:t>np.array</a:t>
            </a:r>
            <a:r>
              <a:rPr lang="en-US" b="0" i="0" dirty="0">
                <a:solidFill>
                  <a:srgbClr val="000000"/>
                </a:solidFill>
                <a:effectLst/>
                <a:latin typeface="Consolas" panose="020B0609020204030204" pitchFamily="49" charset="0"/>
              </a:rPr>
              <a:t>([0, 0, 1, 1])</a:t>
            </a:r>
          </a:p>
          <a:p>
            <a:pPr>
              <a:buNone/>
            </a:pPr>
            <a:br>
              <a:rPr lang="en-US" dirty="0"/>
            </a:br>
            <a:endParaRPr lang="en-US" dirty="0"/>
          </a:p>
          <a:p>
            <a:pPr algn="l">
              <a:buNone/>
            </a:pPr>
            <a:r>
              <a:rPr lang="en-US" b="0" i="0" dirty="0">
                <a:solidFill>
                  <a:srgbClr val="000000"/>
                </a:solidFill>
                <a:effectLst/>
                <a:latin typeface="Consolas" panose="020B0609020204030204" pitchFamily="49" charset="0"/>
              </a:rPr>
              <a:t>model = </a:t>
            </a:r>
            <a:r>
              <a:rPr lang="en-US" b="0" i="0" dirty="0" err="1">
                <a:solidFill>
                  <a:srgbClr val="000000"/>
                </a:solidFill>
                <a:effectLst/>
                <a:latin typeface="Consolas" panose="020B0609020204030204" pitchFamily="49" charset="0"/>
              </a:rPr>
              <a:t>LogisticRegression</a:t>
            </a:r>
            <a:r>
              <a:rPr lang="en-US" b="0" i="0" dirty="0">
                <a:solidFill>
                  <a:srgbClr val="000000"/>
                </a:solidFill>
                <a:effectLst/>
                <a:latin typeface="Consolas" panose="020B0609020204030204" pitchFamily="49" charset="0"/>
              </a:rPr>
              <a:t>()</a:t>
            </a:r>
          </a:p>
          <a:p>
            <a:pPr algn="l">
              <a:buNone/>
            </a:pPr>
            <a:r>
              <a:rPr lang="en-US" b="0" i="0" dirty="0" err="1">
                <a:solidFill>
                  <a:srgbClr val="000000"/>
                </a:solidFill>
                <a:effectLst/>
                <a:latin typeface="Consolas" panose="020B0609020204030204" pitchFamily="49" charset="0"/>
              </a:rPr>
              <a:t>model.fit</a:t>
            </a:r>
            <a:r>
              <a:rPr lang="en-US" b="0" i="0" dirty="0">
                <a:solidFill>
                  <a:srgbClr val="000000"/>
                </a:solidFill>
                <a:effectLst/>
                <a:latin typeface="Consolas" panose="020B0609020204030204" pitchFamily="49" charset="0"/>
              </a:rPr>
              <a:t>(X, y)</a:t>
            </a:r>
          </a:p>
          <a:p>
            <a:pPr>
              <a:buNone/>
            </a:pPr>
            <a:br>
              <a:rPr lang="en-US" dirty="0"/>
            </a:br>
            <a:endParaRPr lang="en-US" dirty="0"/>
          </a:p>
          <a:p>
            <a:pPr algn="l">
              <a:buNone/>
            </a:pPr>
            <a:r>
              <a:rPr lang="en-US" b="0" i="0" dirty="0">
                <a:solidFill>
                  <a:srgbClr val="000000"/>
                </a:solidFill>
                <a:effectLst/>
                <a:latin typeface="Consolas" panose="020B0609020204030204" pitchFamily="49" charset="0"/>
              </a:rPr>
              <a:t>preds = </a:t>
            </a:r>
            <a:r>
              <a:rPr lang="en-US" b="0" i="0" dirty="0" err="1">
                <a:solidFill>
                  <a:srgbClr val="000000"/>
                </a:solidFill>
                <a:effectLst/>
                <a:latin typeface="Consolas" panose="020B0609020204030204" pitchFamily="49" charset="0"/>
              </a:rPr>
              <a:t>model.predict</a:t>
            </a:r>
            <a:r>
              <a:rPr lang="en-US" b="0" i="0" dirty="0">
                <a:solidFill>
                  <a:srgbClr val="000000"/>
                </a:solidFill>
                <a:effectLst/>
                <a:latin typeface="Consolas" panose="020B0609020204030204" pitchFamily="49" charset="0"/>
              </a:rPr>
              <a:t>(X)</a:t>
            </a:r>
          </a:p>
          <a:p>
            <a:pPr algn="l">
              <a:buNone/>
            </a:pPr>
            <a:r>
              <a:rPr lang="en-US" b="0" i="0" dirty="0">
                <a:solidFill>
                  <a:srgbClr val="1B6AC7"/>
                </a:solidFill>
                <a:effectLst/>
                <a:latin typeface="Consolas" panose="020B0609020204030204" pitchFamily="49" charset="0"/>
              </a:rPr>
              <a:t>print</a:t>
            </a:r>
            <a:r>
              <a:rPr lang="en-US" b="0" i="0" dirty="0">
                <a:solidFill>
                  <a:srgbClr val="000000"/>
                </a:solidFill>
                <a:effectLst/>
                <a:latin typeface="Consolas" panose="020B0609020204030204" pitchFamily="49" charset="0"/>
              </a:rPr>
              <a:t>(</a:t>
            </a:r>
            <a:r>
              <a:rPr lang="en-US" b="0" i="0" dirty="0">
                <a:solidFill>
                  <a:srgbClr val="7E0B0B"/>
                </a:solidFill>
                <a:effectLst/>
                <a:latin typeface="Consolas" panose="020B0609020204030204" pitchFamily="49" charset="0"/>
              </a:rPr>
              <a:t>"Precision:"</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precision_score</a:t>
            </a:r>
            <a:r>
              <a:rPr lang="en-US" b="0" i="0" dirty="0">
                <a:solidFill>
                  <a:srgbClr val="000000"/>
                </a:solidFill>
                <a:effectLst/>
                <a:latin typeface="Consolas" panose="020B0609020204030204" pitchFamily="49" charset="0"/>
              </a:rPr>
              <a:t>(y, preds))</a:t>
            </a:r>
          </a:p>
          <a:p>
            <a:pPr algn="l">
              <a:buNone/>
            </a:pPr>
            <a:r>
              <a:rPr lang="en-US" b="0" i="0" dirty="0">
                <a:solidFill>
                  <a:srgbClr val="1B6AC7"/>
                </a:solidFill>
                <a:effectLst/>
                <a:latin typeface="Consolas" panose="020B0609020204030204" pitchFamily="49" charset="0"/>
              </a:rPr>
              <a:t>print</a:t>
            </a:r>
            <a:r>
              <a:rPr lang="en-US" b="0" i="0" dirty="0">
                <a:solidFill>
                  <a:srgbClr val="000000"/>
                </a:solidFill>
                <a:effectLst/>
                <a:latin typeface="Consolas" panose="020B0609020204030204" pitchFamily="49" charset="0"/>
              </a:rPr>
              <a:t>(</a:t>
            </a:r>
            <a:r>
              <a:rPr lang="en-US" b="0" i="0" dirty="0">
                <a:solidFill>
                  <a:srgbClr val="7E0B0B"/>
                </a:solidFill>
                <a:effectLst/>
                <a:latin typeface="Consolas" panose="020B0609020204030204" pitchFamily="49" charset="0"/>
              </a:rPr>
              <a:t>"Recall:"</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recall_score</a:t>
            </a:r>
            <a:r>
              <a:rPr lang="en-US" b="0" i="0" dirty="0">
                <a:solidFill>
                  <a:srgbClr val="000000"/>
                </a:solidFill>
                <a:effectLst/>
                <a:latin typeface="Consolas" panose="020B0609020204030204" pitchFamily="49" charset="0"/>
              </a:rPr>
              <a:t>(y, preds))</a:t>
            </a:r>
          </a:p>
        </p:txBody>
      </p:sp>
      <p:sp>
        <p:nvSpPr>
          <p:cNvPr id="7" name="TextBox 6">
            <a:extLst>
              <a:ext uri="{FF2B5EF4-FFF2-40B4-BE49-F238E27FC236}">
                <a16:creationId xmlns:a16="http://schemas.microsoft.com/office/drawing/2014/main" id="{60385534-D751-40DA-6DE4-9C17A9E576AA}"/>
              </a:ext>
            </a:extLst>
          </p:cNvPr>
          <p:cNvSpPr txBox="1"/>
          <p:nvPr/>
        </p:nvSpPr>
        <p:spPr>
          <a:xfrm>
            <a:off x="1091380" y="5975694"/>
            <a:ext cx="11002296" cy="646331"/>
          </a:xfrm>
          <a:prstGeom prst="rect">
            <a:avLst/>
          </a:prstGeom>
          <a:noFill/>
        </p:spPr>
        <p:txBody>
          <a:bodyPr wrap="square">
            <a:spAutoFit/>
          </a:bodyPr>
          <a:lstStyle/>
          <a:p>
            <a:r>
              <a:rPr lang="en-US" b="0" i="0" dirty="0">
                <a:effectLst/>
                <a:latin typeface="Arial Black" panose="020B0A04020102020204" pitchFamily="34" charset="0"/>
              </a:rPr>
              <a:t>Here, </a:t>
            </a:r>
            <a:r>
              <a:rPr lang="en-US" b="1" i="0" dirty="0">
                <a:solidFill>
                  <a:srgbClr val="FF0000"/>
                </a:solidFill>
                <a:effectLst/>
                <a:latin typeface="Arial Black" panose="020B0A04020102020204" pitchFamily="34" charset="0"/>
              </a:rPr>
              <a:t>precision</a:t>
            </a:r>
            <a:r>
              <a:rPr lang="en-US" b="0" i="0" dirty="0">
                <a:effectLst/>
                <a:latin typeface="Arial Black" panose="020B0A04020102020204" pitchFamily="34" charset="0"/>
              </a:rPr>
              <a:t> and </a:t>
            </a:r>
            <a:r>
              <a:rPr lang="en-US" b="1" i="0" dirty="0">
                <a:solidFill>
                  <a:srgbClr val="FF0000"/>
                </a:solidFill>
                <a:effectLst/>
                <a:latin typeface="Arial Black" panose="020B0A04020102020204" pitchFamily="34" charset="0"/>
              </a:rPr>
              <a:t>recall</a:t>
            </a:r>
            <a:r>
              <a:rPr lang="en-US" b="0" i="0" dirty="0">
                <a:effectLst/>
                <a:latin typeface="Arial Black" panose="020B0A04020102020204" pitchFamily="34" charset="0"/>
              </a:rPr>
              <a:t> are statistical measures derived from the </a:t>
            </a:r>
            <a:r>
              <a:rPr lang="en-US" b="1" i="0" dirty="0">
                <a:effectLst/>
                <a:latin typeface="Arial Black" panose="020B0A04020102020204" pitchFamily="34" charset="0"/>
              </a:rPr>
              <a:t>Bernoulli distribution</a:t>
            </a:r>
            <a:r>
              <a:rPr lang="en-US" b="0" i="0" dirty="0">
                <a:effectLst/>
                <a:latin typeface="Arial Black" panose="020B0A04020102020204" pitchFamily="34" charset="0"/>
              </a:rPr>
              <a:t> assumption of binary outcomes.</a:t>
            </a:r>
            <a:endParaRPr lang="en-US" dirty="0">
              <a:latin typeface="Arial Black" panose="020B0A04020102020204" pitchFamily="34" charset="0"/>
            </a:endParaRPr>
          </a:p>
        </p:txBody>
      </p:sp>
    </p:spTree>
    <p:extLst>
      <p:ext uri="{BB962C8B-B14F-4D97-AF65-F5344CB8AC3E}">
        <p14:creationId xmlns:p14="http://schemas.microsoft.com/office/powerpoint/2010/main" val="2358782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8331-A72C-8BB8-4036-16EC1741756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8F8E8A-1741-26FC-066F-6212DAC3240F}"/>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4" name="TextBox 3">
            <a:extLst>
              <a:ext uri="{FF2B5EF4-FFF2-40B4-BE49-F238E27FC236}">
                <a16:creationId xmlns:a16="http://schemas.microsoft.com/office/drawing/2014/main" id="{24936D22-CF3D-33CE-44E8-D41920A61E66}"/>
              </a:ext>
            </a:extLst>
          </p:cNvPr>
          <p:cNvSpPr txBox="1"/>
          <p:nvPr/>
        </p:nvSpPr>
        <p:spPr>
          <a:xfrm>
            <a:off x="816077" y="1051656"/>
            <a:ext cx="10736826" cy="923330"/>
          </a:xfrm>
          <a:prstGeom prst="rect">
            <a:avLst/>
          </a:prstGeom>
          <a:noFill/>
        </p:spPr>
        <p:txBody>
          <a:bodyPr wrap="square">
            <a:spAutoFit/>
          </a:bodyPr>
          <a:lstStyle/>
          <a:p>
            <a:pPr algn="just"/>
            <a:r>
              <a:rPr lang="en-US" b="1" i="0" dirty="0">
                <a:effectLst/>
                <a:latin typeface="Arial Black" panose="020B0A04020102020204" pitchFamily="34" charset="0"/>
              </a:rPr>
              <a:t>In essence</a:t>
            </a:r>
            <a:r>
              <a:rPr lang="en-US" b="0" i="0" dirty="0">
                <a:effectLst/>
                <a:latin typeface="Arial Black" panose="020B0A04020102020204" pitchFamily="34" charset="0"/>
              </a:rPr>
              <a:t>, statistics in ML is not just about numbers—it’s about </a:t>
            </a:r>
            <a:r>
              <a:rPr lang="en-US" b="1" i="0" dirty="0">
                <a:effectLst/>
                <a:latin typeface="Arial Black" panose="020B0A04020102020204" pitchFamily="34" charset="0"/>
              </a:rPr>
              <a:t>making data-driven, reliable, and explainable decisions</a:t>
            </a:r>
            <a:r>
              <a:rPr lang="en-US" b="0" i="0" dirty="0">
                <a:effectLst/>
                <a:latin typeface="Arial Black" panose="020B0A04020102020204" pitchFamily="34" charset="0"/>
              </a:rPr>
              <a:t>. Without it, models risk being inaccurate, biased, or uninterpretable</a:t>
            </a:r>
            <a:r>
              <a:rPr lang="en-US" b="0" i="0" dirty="0">
                <a:effectLst/>
                <a:latin typeface="Roboto" panose="02000000000000000000" pitchFamily="2" charset="0"/>
              </a:rPr>
              <a:t>.</a:t>
            </a:r>
            <a:endParaRPr lang="en-US" dirty="0"/>
          </a:p>
        </p:txBody>
      </p:sp>
      <p:sp>
        <p:nvSpPr>
          <p:cNvPr id="11" name="TextBox 10">
            <a:extLst>
              <a:ext uri="{FF2B5EF4-FFF2-40B4-BE49-F238E27FC236}">
                <a16:creationId xmlns:a16="http://schemas.microsoft.com/office/drawing/2014/main" id="{836EDBF8-317A-E144-E1C3-350D7E5ED009}"/>
              </a:ext>
            </a:extLst>
          </p:cNvPr>
          <p:cNvSpPr txBox="1"/>
          <p:nvPr/>
        </p:nvSpPr>
        <p:spPr>
          <a:xfrm>
            <a:off x="3873909" y="2267447"/>
            <a:ext cx="5250426" cy="1287532"/>
          </a:xfrm>
          <a:prstGeom prst="rect">
            <a:avLst/>
          </a:prstGeom>
          <a:noFill/>
        </p:spPr>
        <p:txBody>
          <a:bodyPr wrap="square">
            <a:spAutoFit/>
          </a:bodyPr>
          <a:lstStyle/>
          <a:p>
            <a:pPr algn="l">
              <a:lnSpc>
                <a:spcPts val="2550"/>
              </a:lnSpc>
              <a:spcBef>
                <a:spcPts val="4800"/>
              </a:spcBef>
              <a:spcAft>
                <a:spcPts val="2400"/>
              </a:spcAft>
              <a:buNone/>
            </a:pPr>
            <a:r>
              <a:rPr lang="en-US" b="0" i="0" dirty="0">
                <a:solidFill>
                  <a:srgbClr val="FF0000"/>
                </a:solidFill>
                <a:effectLst/>
                <a:latin typeface="Arial Black" panose="020B0A04020102020204" pitchFamily="34" charset="0"/>
              </a:rPr>
              <a:t>Use of Statistics in Machine Learning</a:t>
            </a:r>
          </a:p>
          <a:p>
            <a:pPr>
              <a:buNone/>
            </a:pPr>
            <a:br>
              <a:rPr lang="en-US" dirty="0">
                <a:solidFill>
                  <a:srgbClr val="FF0000"/>
                </a:solidFill>
              </a:rPr>
            </a:br>
            <a:endParaRPr lang="en-US" dirty="0">
              <a:solidFill>
                <a:srgbClr val="FF0000"/>
              </a:solidFill>
            </a:endParaRPr>
          </a:p>
        </p:txBody>
      </p:sp>
      <p:pic>
        <p:nvPicPr>
          <p:cNvPr id="13" name="Picture 12">
            <a:extLst>
              <a:ext uri="{FF2B5EF4-FFF2-40B4-BE49-F238E27FC236}">
                <a16:creationId xmlns:a16="http://schemas.microsoft.com/office/drawing/2014/main" id="{D048B260-F49D-F7A4-71F9-CB53427320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8026" y="2911213"/>
            <a:ext cx="9458632" cy="1644735"/>
          </a:xfrm>
          <a:prstGeom prst="rect">
            <a:avLst/>
          </a:prstGeom>
        </p:spPr>
      </p:pic>
      <p:sp>
        <p:nvSpPr>
          <p:cNvPr id="15" name="TextBox 14">
            <a:extLst>
              <a:ext uri="{FF2B5EF4-FFF2-40B4-BE49-F238E27FC236}">
                <a16:creationId xmlns:a16="http://schemas.microsoft.com/office/drawing/2014/main" id="{AF79274D-52BB-8FAA-A5BF-2F7CB26AD6C9}"/>
              </a:ext>
            </a:extLst>
          </p:cNvPr>
          <p:cNvSpPr txBox="1"/>
          <p:nvPr/>
        </p:nvSpPr>
        <p:spPr>
          <a:xfrm>
            <a:off x="3873909" y="4811273"/>
            <a:ext cx="4837471" cy="1810752"/>
          </a:xfrm>
          <a:prstGeom prst="rect">
            <a:avLst/>
          </a:prstGeom>
          <a:noFill/>
        </p:spPr>
        <p:txBody>
          <a:bodyPr wrap="square">
            <a:spAutoFit/>
          </a:bodyPr>
          <a:lstStyle/>
          <a:p>
            <a:pPr marL="285750" indent="-285750" algn="l">
              <a:lnSpc>
                <a:spcPts val="1800"/>
              </a:lnSpc>
              <a:spcAft>
                <a:spcPts val="1050"/>
              </a:spcAft>
              <a:buFont typeface="Arial" panose="020B0604020202020204" pitchFamily="34" charset="0"/>
              <a:buChar char="•"/>
            </a:pPr>
            <a:r>
              <a:rPr lang="en-US" sz="1600" b="0" i="0" dirty="0">
                <a:effectLst/>
                <a:latin typeface="Arial Black" panose="020B0A04020102020204" pitchFamily="34" charset="0"/>
              </a:rPr>
              <a:t>Asking questions about the data</a:t>
            </a:r>
          </a:p>
          <a:p>
            <a:pPr marL="285750" indent="-285750" algn="l">
              <a:lnSpc>
                <a:spcPts val="1800"/>
              </a:lnSpc>
              <a:spcAft>
                <a:spcPts val="1050"/>
              </a:spcAft>
              <a:buFont typeface="Arial" panose="020B0604020202020204" pitchFamily="34" charset="0"/>
              <a:buChar char="•"/>
            </a:pPr>
            <a:r>
              <a:rPr lang="en-US" sz="1600" b="0" i="0" dirty="0">
                <a:effectLst/>
                <a:latin typeface="Arial Black" panose="020B0A04020102020204" pitchFamily="34" charset="0"/>
              </a:rPr>
              <a:t>Cleaning and preprocessing the data</a:t>
            </a:r>
          </a:p>
          <a:p>
            <a:pPr marL="285750" indent="-285750" algn="l">
              <a:lnSpc>
                <a:spcPts val="1800"/>
              </a:lnSpc>
              <a:spcAft>
                <a:spcPts val="1050"/>
              </a:spcAft>
              <a:buFont typeface="Arial" panose="020B0604020202020204" pitchFamily="34" charset="0"/>
              <a:buChar char="•"/>
            </a:pPr>
            <a:r>
              <a:rPr lang="en-US" sz="1600" b="0" i="0" dirty="0">
                <a:effectLst/>
                <a:latin typeface="Arial Black" panose="020B0A04020102020204" pitchFamily="34" charset="0"/>
              </a:rPr>
              <a:t>Selecting the right features</a:t>
            </a:r>
          </a:p>
          <a:p>
            <a:pPr marL="285750" indent="-285750" algn="l">
              <a:lnSpc>
                <a:spcPts val="1800"/>
              </a:lnSpc>
              <a:spcAft>
                <a:spcPts val="1050"/>
              </a:spcAft>
              <a:buFont typeface="Arial" panose="020B0604020202020204" pitchFamily="34" charset="0"/>
              <a:buChar char="•"/>
            </a:pPr>
            <a:r>
              <a:rPr lang="en-US" sz="1600" b="0" i="0" dirty="0">
                <a:effectLst/>
                <a:latin typeface="Arial Black" panose="020B0A04020102020204" pitchFamily="34" charset="0"/>
              </a:rPr>
              <a:t>Model evaluation</a:t>
            </a:r>
          </a:p>
          <a:p>
            <a:pPr marL="285750" indent="-285750" algn="l">
              <a:lnSpc>
                <a:spcPts val="1800"/>
              </a:lnSpc>
              <a:spcAft>
                <a:spcPts val="1050"/>
              </a:spcAft>
              <a:buFont typeface="Arial" panose="020B0604020202020204" pitchFamily="34" charset="0"/>
              <a:buChar char="•"/>
            </a:pPr>
            <a:r>
              <a:rPr lang="en-US" sz="1600" b="0" i="0" dirty="0">
                <a:effectLst/>
                <a:latin typeface="Arial Black" panose="020B0A04020102020204" pitchFamily="34" charset="0"/>
              </a:rPr>
              <a:t>Model prediction</a:t>
            </a:r>
          </a:p>
        </p:txBody>
      </p:sp>
    </p:spTree>
    <p:extLst>
      <p:ext uri="{BB962C8B-B14F-4D97-AF65-F5344CB8AC3E}">
        <p14:creationId xmlns:p14="http://schemas.microsoft.com/office/powerpoint/2010/main" val="358530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9C220-DCD0-7CF6-9886-DBB5F27E7FC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3FD109D-D0EB-6100-0CFE-E32133C1B021}"/>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4" name="TextBox 3">
            <a:extLst>
              <a:ext uri="{FF2B5EF4-FFF2-40B4-BE49-F238E27FC236}">
                <a16:creationId xmlns:a16="http://schemas.microsoft.com/office/drawing/2014/main" id="{CD506DEC-BD8D-DD1C-42C5-B833FC0932F8}"/>
              </a:ext>
            </a:extLst>
          </p:cNvPr>
          <p:cNvSpPr txBox="1"/>
          <p:nvPr/>
        </p:nvSpPr>
        <p:spPr>
          <a:xfrm>
            <a:off x="816077" y="1051656"/>
            <a:ext cx="10736826" cy="923330"/>
          </a:xfrm>
          <a:prstGeom prst="rect">
            <a:avLst/>
          </a:prstGeom>
          <a:noFill/>
        </p:spPr>
        <p:txBody>
          <a:bodyPr wrap="square">
            <a:spAutoFit/>
          </a:bodyPr>
          <a:lstStyle/>
          <a:p>
            <a:pPr algn="just"/>
            <a:r>
              <a:rPr lang="en-US" b="1" i="0" dirty="0">
                <a:effectLst/>
                <a:latin typeface="Arial Black" panose="020B0A04020102020204" pitchFamily="34" charset="0"/>
              </a:rPr>
              <a:t>In essence</a:t>
            </a:r>
            <a:r>
              <a:rPr lang="en-US" b="0" i="0" dirty="0">
                <a:effectLst/>
                <a:latin typeface="Arial Black" panose="020B0A04020102020204" pitchFamily="34" charset="0"/>
              </a:rPr>
              <a:t>, statistics in ML is not just about numbers—it’s about </a:t>
            </a:r>
            <a:r>
              <a:rPr lang="en-US" b="1" i="0" dirty="0">
                <a:effectLst/>
                <a:latin typeface="Arial Black" panose="020B0A04020102020204" pitchFamily="34" charset="0"/>
              </a:rPr>
              <a:t>making data-driven, reliable, and explainable decisions</a:t>
            </a:r>
            <a:r>
              <a:rPr lang="en-US" b="0" i="0" dirty="0">
                <a:effectLst/>
                <a:latin typeface="Arial Black" panose="020B0A04020102020204" pitchFamily="34" charset="0"/>
              </a:rPr>
              <a:t>. Without it, models risk being inaccurate, biased, or uninterpretable</a:t>
            </a:r>
            <a:r>
              <a:rPr lang="en-US" b="0" i="0" dirty="0">
                <a:effectLst/>
                <a:latin typeface="Roboto" panose="02000000000000000000" pitchFamily="2" charset="0"/>
              </a:rPr>
              <a:t>.</a:t>
            </a:r>
            <a:endParaRPr lang="en-US" dirty="0"/>
          </a:p>
        </p:txBody>
      </p:sp>
      <p:sp>
        <p:nvSpPr>
          <p:cNvPr id="11" name="TextBox 10">
            <a:extLst>
              <a:ext uri="{FF2B5EF4-FFF2-40B4-BE49-F238E27FC236}">
                <a16:creationId xmlns:a16="http://schemas.microsoft.com/office/drawing/2014/main" id="{AF1C4AF8-8693-E92A-4529-2798CD37B8B9}"/>
              </a:ext>
            </a:extLst>
          </p:cNvPr>
          <p:cNvSpPr txBox="1"/>
          <p:nvPr/>
        </p:nvSpPr>
        <p:spPr>
          <a:xfrm>
            <a:off x="3873909" y="2267447"/>
            <a:ext cx="5250426" cy="1287532"/>
          </a:xfrm>
          <a:prstGeom prst="rect">
            <a:avLst/>
          </a:prstGeom>
          <a:noFill/>
        </p:spPr>
        <p:txBody>
          <a:bodyPr wrap="square">
            <a:spAutoFit/>
          </a:bodyPr>
          <a:lstStyle/>
          <a:p>
            <a:pPr algn="l">
              <a:lnSpc>
                <a:spcPts val="2550"/>
              </a:lnSpc>
              <a:spcBef>
                <a:spcPts val="4800"/>
              </a:spcBef>
              <a:spcAft>
                <a:spcPts val="2400"/>
              </a:spcAft>
              <a:buNone/>
            </a:pPr>
            <a:r>
              <a:rPr lang="en-US" b="0" i="0" dirty="0">
                <a:solidFill>
                  <a:srgbClr val="FF0000"/>
                </a:solidFill>
                <a:effectLst/>
                <a:latin typeface="Arial Black" panose="020B0A04020102020204" pitchFamily="34" charset="0"/>
              </a:rPr>
              <a:t>Use of Statistics in Machine Learning</a:t>
            </a:r>
          </a:p>
          <a:p>
            <a:pPr>
              <a:buNone/>
            </a:pPr>
            <a:br>
              <a:rPr lang="en-US" dirty="0">
                <a:solidFill>
                  <a:srgbClr val="FF0000"/>
                </a:solidFill>
              </a:rPr>
            </a:br>
            <a:endParaRPr lang="en-US" dirty="0">
              <a:solidFill>
                <a:srgbClr val="FF0000"/>
              </a:solidFill>
            </a:endParaRPr>
          </a:p>
        </p:txBody>
      </p:sp>
      <p:sp>
        <p:nvSpPr>
          <p:cNvPr id="3" name="TextBox 2">
            <a:extLst>
              <a:ext uri="{FF2B5EF4-FFF2-40B4-BE49-F238E27FC236}">
                <a16:creationId xmlns:a16="http://schemas.microsoft.com/office/drawing/2014/main" id="{BFB76071-0FA7-B7BA-CB5F-308A145F3CA6}"/>
              </a:ext>
            </a:extLst>
          </p:cNvPr>
          <p:cNvSpPr txBox="1"/>
          <p:nvPr/>
        </p:nvSpPr>
        <p:spPr>
          <a:xfrm>
            <a:off x="816077" y="2697171"/>
            <a:ext cx="10559845" cy="3929474"/>
          </a:xfrm>
          <a:prstGeom prst="rect">
            <a:avLst/>
          </a:prstGeom>
          <a:noFill/>
        </p:spPr>
        <p:txBody>
          <a:bodyPr wrap="square">
            <a:spAutoFit/>
          </a:bodyPr>
          <a:lstStyle/>
          <a:p>
            <a:pPr algn="just">
              <a:lnSpc>
                <a:spcPts val="1950"/>
              </a:lnSpc>
              <a:spcBef>
                <a:spcPts val="2400"/>
              </a:spcBef>
              <a:spcAft>
                <a:spcPts val="1800"/>
              </a:spcAft>
              <a:buNone/>
            </a:pPr>
            <a:r>
              <a:rPr lang="en-US" sz="1600" b="0" i="0" dirty="0">
                <a:solidFill>
                  <a:srgbClr val="FF0000"/>
                </a:solidFill>
                <a:effectLst/>
                <a:latin typeface="Arial Black" panose="020B0A04020102020204" pitchFamily="34" charset="0"/>
              </a:rPr>
              <a:t>Population:</a:t>
            </a:r>
          </a:p>
          <a:p>
            <a:pPr algn="just">
              <a:lnSpc>
                <a:spcPts val="1950"/>
              </a:lnSpc>
              <a:spcAft>
                <a:spcPts val="1950"/>
              </a:spcAft>
              <a:buNone/>
            </a:pPr>
            <a:r>
              <a:rPr lang="en-US" sz="1600" b="0" i="0" dirty="0">
                <a:effectLst/>
                <a:latin typeface="Arial Black" panose="020B0A04020102020204" pitchFamily="34" charset="0"/>
              </a:rPr>
              <a:t>In statistics, the population comprises all observations (data points) about the subject under study.</a:t>
            </a:r>
          </a:p>
          <a:p>
            <a:pPr algn="just">
              <a:lnSpc>
                <a:spcPts val="1950"/>
              </a:lnSpc>
              <a:spcAft>
                <a:spcPts val="1950"/>
              </a:spcAft>
              <a:buNone/>
            </a:pPr>
            <a:r>
              <a:rPr lang="en-US" sz="1600" b="0" i="0" dirty="0">
                <a:effectLst/>
                <a:latin typeface="Arial Black" panose="020B0A04020102020204" pitchFamily="34" charset="0"/>
              </a:rPr>
              <a:t>An example of a population is studying the voters in an election. In the 2019 Lok Sabha elections, nearly 900 million voters were eligible to vote in 543 constituencies.</a:t>
            </a:r>
          </a:p>
          <a:p>
            <a:pPr algn="just">
              <a:lnSpc>
                <a:spcPts val="1950"/>
              </a:lnSpc>
              <a:spcBef>
                <a:spcPts val="2400"/>
              </a:spcBef>
              <a:spcAft>
                <a:spcPts val="1800"/>
              </a:spcAft>
              <a:buNone/>
            </a:pPr>
            <a:r>
              <a:rPr lang="en-US" sz="1600" b="0" i="0" dirty="0">
                <a:solidFill>
                  <a:srgbClr val="FF0000"/>
                </a:solidFill>
                <a:effectLst/>
                <a:latin typeface="Arial Black" panose="020B0A04020102020204" pitchFamily="34" charset="0"/>
              </a:rPr>
              <a:t>Sample:</a:t>
            </a:r>
          </a:p>
          <a:p>
            <a:pPr algn="just">
              <a:lnSpc>
                <a:spcPts val="1950"/>
              </a:lnSpc>
              <a:spcAft>
                <a:spcPts val="1950"/>
              </a:spcAft>
              <a:buNone/>
            </a:pPr>
            <a:r>
              <a:rPr lang="en-US" sz="1600" b="0" i="0" dirty="0">
                <a:effectLst/>
                <a:latin typeface="Arial Black" panose="020B0A04020102020204" pitchFamily="34" charset="0"/>
              </a:rPr>
              <a:t>In statistics, a sample is a subset of the population. It is a small portion of the total observed population.</a:t>
            </a:r>
          </a:p>
          <a:p>
            <a:pPr algn="just">
              <a:lnSpc>
                <a:spcPts val="1950"/>
              </a:lnSpc>
              <a:spcAft>
                <a:spcPts val="1950"/>
              </a:spcAft>
              <a:buNone/>
            </a:pPr>
            <a:r>
              <a:rPr lang="en-US" sz="1600" b="0" i="0" dirty="0">
                <a:effectLst/>
                <a:latin typeface="Arial Black" panose="020B0A04020102020204" pitchFamily="34" charset="0"/>
              </a:rPr>
              <a:t>An example of a sample is analyzing the first-time voters for an opinion poll.</a:t>
            </a:r>
          </a:p>
        </p:txBody>
      </p:sp>
    </p:spTree>
    <p:extLst>
      <p:ext uri="{BB962C8B-B14F-4D97-AF65-F5344CB8AC3E}">
        <p14:creationId xmlns:p14="http://schemas.microsoft.com/office/powerpoint/2010/main" val="217895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0B5D9-0681-3F39-8543-2ED559959A5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405AB75-C140-7818-D901-360FE40B2A3C}"/>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4" name="TextBox 3">
            <a:extLst>
              <a:ext uri="{FF2B5EF4-FFF2-40B4-BE49-F238E27FC236}">
                <a16:creationId xmlns:a16="http://schemas.microsoft.com/office/drawing/2014/main" id="{29ECB639-4AF9-A14F-6595-07F24B55A2BD}"/>
              </a:ext>
            </a:extLst>
          </p:cNvPr>
          <p:cNvSpPr txBox="1"/>
          <p:nvPr/>
        </p:nvSpPr>
        <p:spPr>
          <a:xfrm>
            <a:off x="816077" y="1051656"/>
            <a:ext cx="10736826" cy="923330"/>
          </a:xfrm>
          <a:prstGeom prst="rect">
            <a:avLst/>
          </a:prstGeom>
          <a:noFill/>
        </p:spPr>
        <p:txBody>
          <a:bodyPr wrap="square">
            <a:spAutoFit/>
          </a:bodyPr>
          <a:lstStyle/>
          <a:p>
            <a:pPr algn="just"/>
            <a:r>
              <a:rPr lang="en-US" b="1" i="0" dirty="0">
                <a:effectLst/>
                <a:latin typeface="Arial Black" panose="020B0A04020102020204" pitchFamily="34" charset="0"/>
              </a:rPr>
              <a:t>In essence</a:t>
            </a:r>
            <a:r>
              <a:rPr lang="en-US" b="0" i="0" dirty="0">
                <a:effectLst/>
                <a:latin typeface="Arial Black" panose="020B0A04020102020204" pitchFamily="34" charset="0"/>
              </a:rPr>
              <a:t>, statistics in ML is not just about numbers—it’s about </a:t>
            </a:r>
            <a:r>
              <a:rPr lang="en-US" b="1" i="0" dirty="0">
                <a:effectLst/>
                <a:latin typeface="Arial Black" panose="020B0A04020102020204" pitchFamily="34" charset="0"/>
              </a:rPr>
              <a:t>making data-driven, reliable, and explainable decisions</a:t>
            </a:r>
            <a:r>
              <a:rPr lang="en-US" b="0" i="0" dirty="0">
                <a:effectLst/>
                <a:latin typeface="Arial Black" panose="020B0A04020102020204" pitchFamily="34" charset="0"/>
              </a:rPr>
              <a:t>. Without it, models risk being inaccurate, biased, or uninterpretable</a:t>
            </a:r>
            <a:r>
              <a:rPr lang="en-US" b="0" i="0" dirty="0">
                <a:effectLst/>
                <a:latin typeface="Roboto" panose="02000000000000000000" pitchFamily="2" charset="0"/>
              </a:rPr>
              <a:t>.</a:t>
            </a:r>
            <a:endParaRPr lang="en-US" dirty="0"/>
          </a:p>
        </p:txBody>
      </p:sp>
      <p:sp>
        <p:nvSpPr>
          <p:cNvPr id="5" name="TextBox 4">
            <a:extLst>
              <a:ext uri="{FF2B5EF4-FFF2-40B4-BE49-F238E27FC236}">
                <a16:creationId xmlns:a16="http://schemas.microsoft.com/office/drawing/2014/main" id="{83A69160-FC86-C1EE-D70D-5C508341E31F}"/>
              </a:ext>
            </a:extLst>
          </p:cNvPr>
          <p:cNvSpPr txBox="1"/>
          <p:nvPr/>
        </p:nvSpPr>
        <p:spPr>
          <a:xfrm>
            <a:off x="1111045" y="2438437"/>
            <a:ext cx="10559846" cy="1159292"/>
          </a:xfrm>
          <a:prstGeom prst="rect">
            <a:avLst/>
          </a:prstGeom>
          <a:noFill/>
        </p:spPr>
        <p:txBody>
          <a:bodyPr wrap="square">
            <a:spAutoFit/>
          </a:bodyPr>
          <a:lstStyle/>
          <a:p>
            <a:pPr algn="just">
              <a:lnSpc>
                <a:spcPts val="1950"/>
              </a:lnSpc>
              <a:spcAft>
                <a:spcPts val="1950"/>
              </a:spcAft>
              <a:buNone/>
            </a:pPr>
            <a:r>
              <a:rPr lang="en-US" sz="1600" b="0" i="0" dirty="0">
                <a:effectLst/>
                <a:latin typeface="Arial Black" panose="020B0A04020102020204" pitchFamily="34" charset="0"/>
              </a:rPr>
              <a:t>Consider the data frame below that has the names of seven employees and their salaries</a:t>
            </a:r>
            <a:r>
              <a:rPr lang="en-US" b="0" i="0" dirty="0">
                <a:solidFill>
                  <a:srgbClr val="51565E"/>
                </a:solidFill>
                <a:effectLst/>
                <a:latin typeface="Roboto" panose="02000000000000000000" pitchFamily="2" charset="0"/>
              </a:rPr>
              <a:t>.</a:t>
            </a:r>
          </a:p>
          <a:p>
            <a:pPr>
              <a:buNone/>
            </a:pPr>
            <a:br>
              <a:rPr lang="en-US" dirty="0"/>
            </a:br>
            <a:endParaRPr lang="en-US" dirty="0"/>
          </a:p>
        </p:txBody>
      </p:sp>
      <p:pic>
        <p:nvPicPr>
          <p:cNvPr id="8" name="Picture 7">
            <a:extLst>
              <a:ext uri="{FF2B5EF4-FFF2-40B4-BE49-F238E27FC236}">
                <a16:creationId xmlns:a16="http://schemas.microsoft.com/office/drawing/2014/main" id="{6079A5E8-97D1-2D56-7832-69379988EE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6930" y="3358186"/>
            <a:ext cx="4109883" cy="2546481"/>
          </a:xfrm>
          <a:prstGeom prst="rect">
            <a:avLst/>
          </a:prstGeom>
        </p:spPr>
      </p:pic>
    </p:spTree>
    <p:extLst>
      <p:ext uri="{BB962C8B-B14F-4D97-AF65-F5344CB8AC3E}">
        <p14:creationId xmlns:p14="http://schemas.microsoft.com/office/powerpoint/2010/main" val="2883369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4048-4885-B9AF-07CC-DA1AC894E35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B87F208-59A1-9EE3-B8FB-2F60D52FCFFF}"/>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9" name="TextBox 8">
            <a:extLst>
              <a:ext uri="{FF2B5EF4-FFF2-40B4-BE49-F238E27FC236}">
                <a16:creationId xmlns:a16="http://schemas.microsoft.com/office/drawing/2014/main" id="{E2A1D60A-875E-A0C2-30B5-9F4729B5C7FC}"/>
              </a:ext>
            </a:extLst>
          </p:cNvPr>
          <p:cNvSpPr txBox="1"/>
          <p:nvPr/>
        </p:nvSpPr>
        <p:spPr>
          <a:xfrm>
            <a:off x="609600" y="903383"/>
            <a:ext cx="10609007" cy="3826881"/>
          </a:xfrm>
          <a:prstGeom prst="rect">
            <a:avLst/>
          </a:prstGeom>
          <a:noFill/>
        </p:spPr>
        <p:txBody>
          <a:bodyPr wrap="square">
            <a:spAutoFit/>
          </a:bodyPr>
          <a:lstStyle/>
          <a:p>
            <a:pPr algn="just">
              <a:lnSpc>
                <a:spcPts val="2550"/>
              </a:lnSpc>
              <a:spcBef>
                <a:spcPts val="4800"/>
              </a:spcBef>
              <a:spcAft>
                <a:spcPts val="2400"/>
              </a:spcAft>
              <a:buNone/>
            </a:pPr>
            <a:r>
              <a:rPr lang="en-US" sz="1600" b="0" i="0" dirty="0">
                <a:solidFill>
                  <a:srgbClr val="FF0000"/>
                </a:solidFill>
                <a:effectLst/>
                <a:latin typeface="Arial Black" panose="020B0A04020102020204" pitchFamily="34" charset="0"/>
              </a:rPr>
              <a:t>Measures of Central Tendency</a:t>
            </a:r>
          </a:p>
          <a:p>
            <a:pPr algn="just">
              <a:lnSpc>
                <a:spcPts val="1950"/>
              </a:lnSpc>
              <a:spcAft>
                <a:spcPts val="1950"/>
              </a:spcAft>
              <a:buNone/>
            </a:pPr>
            <a:r>
              <a:rPr lang="en-US" sz="1600" b="0" i="0" dirty="0">
                <a:solidFill>
                  <a:srgbClr val="51565E"/>
                </a:solidFill>
                <a:effectLst/>
                <a:latin typeface="Arial Black" panose="020B0A04020102020204" pitchFamily="34" charset="0"/>
              </a:rPr>
              <a:t>Measures of central tendency are the measures that are used to describe the distribution of data using a single value. Mean, Median and Mode are the three measures of central tendency.</a:t>
            </a:r>
          </a:p>
          <a:p>
            <a:pPr algn="just">
              <a:lnSpc>
                <a:spcPts val="1950"/>
              </a:lnSpc>
              <a:spcBef>
                <a:spcPts val="2400"/>
              </a:spcBef>
              <a:spcAft>
                <a:spcPts val="1800"/>
              </a:spcAft>
              <a:buNone/>
            </a:pPr>
            <a:r>
              <a:rPr lang="en-US" sz="1600" b="0" i="0" dirty="0">
                <a:solidFill>
                  <a:srgbClr val="FF0000"/>
                </a:solidFill>
                <a:effectLst/>
                <a:latin typeface="Arial Black" panose="020B0A04020102020204" pitchFamily="34" charset="0"/>
              </a:rPr>
              <a:t>Mean:</a:t>
            </a:r>
          </a:p>
          <a:p>
            <a:pPr algn="just">
              <a:lnSpc>
                <a:spcPts val="1950"/>
              </a:lnSpc>
              <a:spcAft>
                <a:spcPts val="1950"/>
              </a:spcAft>
              <a:buNone/>
            </a:pPr>
            <a:r>
              <a:rPr lang="en-US" sz="1600" b="0" i="0" dirty="0">
                <a:solidFill>
                  <a:srgbClr val="51565E"/>
                </a:solidFill>
                <a:effectLst/>
                <a:latin typeface="Arial Black" panose="020B0A04020102020204" pitchFamily="34" charset="0"/>
              </a:rPr>
              <a:t>The arithmetic mean is the average of all the data points.</a:t>
            </a:r>
          </a:p>
          <a:p>
            <a:pPr algn="just">
              <a:lnSpc>
                <a:spcPts val="1950"/>
              </a:lnSpc>
              <a:spcAft>
                <a:spcPts val="1950"/>
              </a:spcAft>
              <a:buNone/>
            </a:pPr>
            <a:r>
              <a:rPr lang="en-US" sz="1600" b="0" i="0" dirty="0">
                <a:solidFill>
                  <a:srgbClr val="51565E"/>
                </a:solidFill>
                <a:effectLst/>
                <a:latin typeface="Arial Black" panose="020B0A04020102020204" pitchFamily="34" charset="0"/>
              </a:rPr>
              <a:t>If there are n number of observations and xi is the </a:t>
            </a:r>
            <a:r>
              <a:rPr lang="en-US" sz="1600" b="0" i="0" dirty="0" err="1">
                <a:solidFill>
                  <a:srgbClr val="51565E"/>
                </a:solidFill>
                <a:effectLst/>
                <a:latin typeface="Arial Black" panose="020B0A04020102020204" pitchFamily="34" charset="0"/>
              </a:rPr>
              <a:t>ith</a:t>
            </a:r>
            <a:r>
              <a:rPr lang="en-US" sz="1600" b="0" i="0" dirty="0">
                <a:solidFill>
                  <a:srgbClr val="51565E"/>
                </a:solidFill>
                <a:effectLst/>
                <a:latin typeface="Arial Black" panose="020B0A04020102020204" pitchFamily="34" charset="0"/>
              </a:rPr>
              <a:t> observation, then mean is</a:t>
            </a:r>
          </a:p>
          <a:p>
            <a:pPr algn="just">
              <a:lnSpc>
                <a:spcPts val="1950"/>
              </a:lnSpc>
              <a:spcAft>
                <a:spcPts val="1950"/>
              </a:spcAft>
              <a:buNone/>
            </a:pPr>
            <a:endParaRPr lang="en-US" sz="1600" b="0" i="0" dirty="0">
              <a:solidFill>
                <a:srgbClr val="51565E"/>
              </a:solidFill>
              <a:effectLst/>
              <a:latin typeface="Arial Black" panose="020B0A04020102020204" pitchFamily="34" charset="0"/>
            </a:endParaRPr>
          </a:p>
        </p:txBody>
      </p:sp>
      <p:pic>
        <p:nvPicPr>
          <p:cNvPr id="10" name="Picture 9" descr="Mean">
            <a:extLst>
              <a:ext uri="{FF2B5EF4-FFF2-40B4-BE49-F238E27FC236}">
                <a16:creationId xmlns:a16="http://schemas.microsoft.com/office/drawing/2014/main" id="{CE458D1F-93DE-E53F-EF15-4E72ED1B2305}"/>
              </a:ext>
            </a:extLst>
          </p:cNvPr>
          <p:cNvPicPr>
            <a:picLocks noChangeAspect="1"/>
          </p:cNvPicPr>
          <p:nvPr/>
        </p:nvPicPr>
        <p:blipFill>
          <a:blip r:embed="rId2"/>
          <a:stretch>
            <a:fillRect/>
          </a:stretch>
        </p:blipFill>
        <p:spPr>
          <a:xfrm>
            <a:off x="5174290" y="4432887"/>
            <a:ext cx="1479626" cy="1079555"/>
          </a:xfrm>
          <a:prstGeom prst="rect">
            <a:avLst/>
          </a:prstGeom>
        </p:spPr>
      </p:pic>
    </p:spTree>
    <p:extLst>
      <p:ext uri="{BB962C8B-B14F-4D97-AF65-F5344CB8AC3E}">
        <p14:creationId xmlns:p14="http://schemas.microsoft.com/office/powerpoint/2010/main" val="1347343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485F9-7B7F-6766-897E-7878996E1F5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FC08BB3-BBDE-1743-E623-C575216811BC}"/>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A92CF0B4-9D44-0AC5-B939-5372849B51F7}"/>
              </a:ext>
            </a:extLst>
          </p:cNvPr>
          <p:cNvSpPr txBox="1"/>
          <p:nvPr/>
        </p:nvSpPr>
        <p:spPr>
          <a:xfrm>
            <a:off x="914400" y="1071389"/>
            <a:ext cx="10618838" cy="3134384"/>
          </a:xfrm>
          <a:prstGeom prst="rect">
            <a:avLst/>
          </a:prstGeom>
          <a:noFill/>
        </p:spPr>
        <p:txBody>
          <a:bodyPr wrap="square">
            <a:spAutoFit/>
          </a:bodyPr>
          <a:lstStyle/>
          <a:p>
            <a:pPr algn="l">
              <a:lnSpc>
                <a:spcPts val="1950"/>
              </a:lnSpc>
              <a:spcBef>
                <a:spcPts val="2400"/>
              </a:spcBef>
              <a:spcAft>
                <a:spcPts val="1800"/>
              </a:spcAft>
              <a:buNone/>
            </a:pPr>
            <a:r>
              <a:rPr lang="en-US" sz="1600" b="0" i="0" dirty="0">
                <a:solidFill>
                  <a:srgbClr val="FF0000"/>
                </a:solidFill>
                <a:effectLst/>
                <a:latin typeface="Arial Black" panose="020B0A04020102020204" pitchFamily="34" charset="0"/>
              </a:rPr>
              <a:t>Median:</a:t>
            </a:r>
          </a:p>
          <a:p>
            <a:pPr algn="l">
              <a:lnSpc>
                <a:spcPts val="1950"/>
              </a:lnSpc>
              <a:spcAft>
                <a:spcPts val="1950"/>
              </a:spcAft>
              <a:buNone/>
            </a:pPr>
            <a:r>
              <a:rPr lang="en-US" sz="1600" b="0" i="0" dirty="0">
                <a:solidFill>
                  <a:srgbClr val="51565E"/>
                </a:solidFill>
                <a:effectLst/>
                <a:latin typeface="Arial Black" panose="020B0A04020102020204" pitchFamily="34" charset="0"/>
              </a:rPr>
              <a:t>Median is the middle value that divides the data into two equal parts once it sorts the data in ascending order.</a:t>
            </a:r>
          </a:p>
          <a:p>
            <a:pPr algn="l">
              <a:lnSpc>
                <a:spcPts val="1950"/>
              </a:lnSpc>
              <a:spcAft>
                <a:spcPts val="1950"/>
              </a:spcAft>
              <a:buNone/>
            </a:pPr>
            <a:r>
              <a:rPr lang="en-US" sz="1600" b="0" i="0" dirty="0">
                <a:solidFill>
                  <a:srgbClr val="51565E"/>
                </a:solidFill>
                <a:effectLst/>
                <a:latin typeface="Arial Black" panose="020B0A04020102020204" pitchFamily="34" charset="0"/>
              </a:rPr>
              <a:t>If the total number of data points (n) is odd, the median is the value at position (n+1)/2.</a:t>
            </a:r>
          </a:p>
          <a:p>
            <a:pPr algn="l">
              <a:lnSpc>
                <a:spcPts val="1950"/>
              </a:lnSpc>
              <a:spcAft>
                <a:spcPts val="1950"/>
              </a:spcAft>
              <a:buNone/>
            </a:pPr>
            <a:r>
              <a:rPr lang="en-US" sz="1600" b="0" i="0" dirty="0">
                <a:solidFill>
                  <a:srgbClr val="51565E"/>
                </a:solidFill>
                <a:effectLst/>
                <a:latin typeface="Arial Black" panose="020B0A04020102020204" pitchFamily="34" charset="0"/>
              </a:rPr>
              <a:t>When the total number of observations (n) is even, the median is the average value of observations at n/2 and (n+2)/2 positions.</a:t>
            </a:r>
          </a:p>
          <a:p>
            <a:pPr algn="l">
              <a:lnSpc>
                <a:spcPts val="1950"/>
              </a:lnSpc>
              <a:spcAft>
                <a:spcPts val="1950"/>
              </a:spcAft>
              <a:buNone/>
            </a:pPr>
            <a:r>
              <a:rPr lang="en-US" sz="1600" b="0" i="0" dirty="0">
                <a:solidFill>
                  <a:srgbClr val="51565E"/>
                </a:solidFill>
                <a:effectLst/>
                <a:latin typeface="Arial Black" panose="020B0A04020102020204" pitchFamily="34" charset="0"/>
              </a:rPr>
              <a:t>The median() function in Python can help you find the median value of a column. From the above data frame, you can find the median salary as:</a:t>
            </a:r>
          </a:p>
        </p:txBody>
      </p:sp>
      <p:pic>
        <p:nvPicPr>
          <p:cNvPr id="12" name="Picture 11" descr="MedianSalary">
            <a:extLst>
              <a:ext uri="{FF2B5EF4-FFF2-40B4-BE49-F238E27FC236}">
                <a16:creationId xmlns:a16="http://schemas.microsoft.com/office/drawing/2014/main" id="{180A85D2-2A9E-F05A-7401-522B6A1E0AD6}"/>
              </a:ext>
            </a:extLst>
          </p:cNvPr>
          <p:cNvPicPr>
            <a:picLocks noChangeAspect="1"/>
          </p:cNvPicPr>
          <p:nvPr/>
        </p:nvPicPr>
        <p:blipFill>
          <a:blip r:embed="rId2"/>
          <a:stretch>
            <a:fillRect/>
          </a:stretch>
        </p:blipFill>
        <p:spPr>
          <a:xfrm>
            <a:off x="717755" y="4622537"/>
            <a:ext cx="10609007" cy="520727"/>
          </a:xfrm>
          <a:prstGeom prst="rect">
            <a:avLst/>
          </a:prstGeom>
        </p:spPr>
      </p:pic>
    </p:spTree>
    <p:extLst>
      <p:ext uri="{BB962C8B-B14F-4D97-AF65-F5344CB8AC3E}">
        <p14:creationId xmlns:p14="http://schemas.microsoft.com/office/powerpoint/2010/main" val="3534061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CCDA3-BEF1-9D8A-5A33-E136857533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F342385-41B7-8720-207C-D84ACCDB764E}"/>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4" name="TextBox 3">
            <a:extLst>
              <a:ext uri="{FF2B5EF4-FFF2-40B4-BE49-F238E27FC236}">
                <a16:creationId xmlns:a16="http://schemas.microsoft.com/office/drawing/2014/main" id="{8FCD2B96-B95E-4A47-567A-A9481CBA98A9}"/>
              </a:ext>
            </a:extLst>
          </p:cNvPr>
          <p:cNvSpPr txBox="1"/>
          <p:nvPr/>
        </p:nvSpPr>
        <p:spPr>
          <a:xfrm>
            <a:off x="914400" y="1022650"/>
            <a:ext cx="9989574" cy="3144451"/>
          </a:xfrm>
          <a:prstGeom prst="rect">
            <a:avLst/>
          </a:prstGeom>
          <a:noFill/>
        </p:spPr>
        <p:txBody>
          <a:bodyPr wrap="square">
            <a:spAutoFit/>
          </a:bodyPr>
          <a:lstStyle/>
          <a:p>
            <a:pPr algn="l">
              <a:lnSpc>
                <a:spcPts val="1950"/>
              </a:lnSpc>
              <a:spcBef>
                <a:spcPts val="2400"/>
              </a:spcBef>
              <a:spcAft>
                <a:spcPts val="1800"/>
              </a:spcAft>
              <a:buNone/>
            </a:pPr>
            <a:r>
              <a:rPr lang="en-US" b="0" i="0" dirty="0">
                <a:solidFill>
                  <a:srgbClr val="FF0000"/>
                </a:solidFill>
                <a:effectLst/>
                <a:latin typeface="Arial Black" panose="020B0A04020102020204" pitchFamily="34" charset="0"/>
              </a:rPr>
              <a:t>Mode:</a:t>
            </a:r>
          </a:p>
          <a:p>
            <a:pPr algn="l">
              <a:lnSpc>
                <a:spcPts val="1950"/>
              </a:lnSpc>
              <a:spcAft>
                <a:spcPts val="1950"/>
              </a:spcAft>
              <a:buNone/>
            </a:pPr>
            <a:r>
              <a:rPr lang="en-US" b="0" i="0" dirty="0">
                <a:effectLst/>
                <a:latin typeface="Arial Black" panose="020B0A04020102020204" pitchFamily="34" charset="0"/>
              </a:rPr>
              <a:t>The mode is the observation (value) that occurs most frequently in the data set. There can be over one mode in a dataset.</a:t>
            </a:r>
          </a:p>
          <a:p>
            <a:pPr algn="l">
              <a:lnSpc>
                <a:spcPts val="1950"/>
              </a:lnSpc>
              <a:spcAft>
                <a:spcPts val="1950"/>
              </a:spcAft>
              <a:buNone/>
            </a:pPr>
            <a:r>
              <a:rPr lang="en-US" b="0" i="0" dirty="0">
                <a:effectLst/>
                <a:latin typeface="Arial Black" panose="020B0A04020102020204" pitchFamily="34" charset="0"/>
              </a:rPr>
              <a:t>Given below are the heights of students (in cm) in a class:</a:t>
            </a:r>
          </a:p>
          <a:p>
            <a:pPr algn="l">
              <a:lnSpc>
                <a:spcPts val="1950"/>
              </a:lnSpc>
              <a:spcAft>
                <a:spcPts val="1950"/>
              </a:spcAft>
              <a:buNone/>
            </a:pPr>
            <a:r>
              <a:rPr lang="en-US" b="0" i="0" dirty="0">
                <a:effectLst/>
                <a:latin typeface="Arial Black" panose="020B0A04020102020204" pitchFamily="34" charset="0"/>
              </a:rPr>
              <a:t>155, 157, 160, 159, 162, 160, 161, 165, 160, 158</a:t>
            </a:r>
          </a:p>
          <a:p>
            <a:pPr algn="l">
              <a:lnSpc>
                <a:spcPts val="1950"/>
              </a:lnSpc>
              <a:spcAft>
                <a:spcPts val="1950"/>
              </a:spcAft>
              <a:buNone/>
            </a:pPr>
            <a:r>
              <a:rPr lang="en-US" b="0" i="0" dirty="0">
                <a:effectLst/>
                <a:latin typeface="Arial Black" panose="020B0A04020102020204" pitchFamily="34" charset="0"/>
              </a:rPr>
              <a:t>Mode = 160 cm.</a:t>
            </a:r>
          </a:p>
          <a:p>
            <a:pPr algn="l">
              <a:lnSpc>
                <a:spcPts val="1950"/>
              </a:lnSpc>
              <a:spcAft>
                <a:spcPts val="1950"/>
              </a:spcAft>
              <a:buNone/>
            </a:pPr>
            <a:r>
              <a:rPr lang="en-US" b="0" i="0" dirty="0">
                <a:effectLst/>
                <a:latin typeface="Arial Black" panose="020B0A04020102020204" pitchFamily="34" charset="0"/>
              </a:rPr>
              <a:t>The mode salary from the data frame can be calculated as:</a:t>
            </a:r>
          </a:p>
        </p:txBody>
      </p:sp>
      <p:pic>
        <p:nvPicPr>
          <p:cNvPr id="7" name="Picture 6">
            <a:extLst>
              <a:ext uri="{FF2B5EF4-FFF2-40B4-BE49-F238E27FC236}">
                <a16:creationId xmlns:a16="http://schemas.microsoft.com/office/drawing/2014/main" id="{345697F4-4D1C-4309-76DA-DCC4A9661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052" y="4430556"/>
            <a:ext cx="7765692" cy="641383"/>
          </a:xfrm>
          <a:prstGeom prst="rect">
            <a:avLst/>
          </a:prstGeom>
        </p:spPr>
      </p:pic>
      <p:sp>
        <p:nvSpPr>
          <p:cNvPr id="9" name="TextBox 8">
            <a:extLst>
              <a:ext uri="{FF2B5EF4-FFF2-40B4-BE49-F238E27FC236}">
                <a16:creationId xmlns:a16="http://schemas.microsoft.com/office/drawing/2014/main" id="{AC7FA3FA-CDFE-7D0C-E550-3C8228ADD18F}"/>
              </a:ext>
            </a:extLst>
          </p:cNvPr>
          <p:cNvSpPr txBox="1"/>
          <p:nvPr/>
        </p:nvSpPr>
        <p:spPr>
          <a:xfrm>
            <a:off x="1052052" y="5447522"/>
            <a:ext cx="9989574" cy="646331"/>
          </a:xfrm>
          <a:prstGeom prst="rect">
            <a:avLst/>
          </a:prstGeom>
          <a:noFill/>
        </p:spPr>
        <p:txBody>
          <a:bodyPr wrap="square">
            <a:spAutoFit/>
          </a:bodyPr>
          <a:lstStyle/>
          <a:p>
            <a:pPr algn="ctr"/>
            <a:r>
              <a:rPr lang="en-US" b="0" i="0" dirty="0">
                <a:effectLst/>
                <a:latin typeface="Arial Black" panose="020B0A04020102020204" pitchFamily="34" charset="0"/>
              </a:rPr>
              <a:t>Statistics is a core component of machine learning. It helps you draw meaningful conclusions by analyzing raw data</a:t>
            </a:r>
            <a:endParaRPr lang="en-US" dirty="0">
              <a:latin typeface="Arial Black" panose="020B0A04020102020204" pitchFamily="34" charset="0"/>
            </a:endParaRPr>
          </a:p>
        </p:txBody>
      </p:sp>
    </p:spTree>
    <p:extLst>
      <p:ext uri="{BB962C8B-B14F-4D97-AF65-F5344CB8AC3E}">
        <p14:creationId xmlns:p14="http://schemas.microsoft.com/office/powerpoint/2010/main" val="3145473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668A6-B804-8A6F-19CD-24BF0916528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D853376-06F8-3E97-0CC1-D6EA9B75B2A9}"/>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6D0C0528-B486-A1EF-C88D-E16E9E553B53}"/>
              </a:ext>
            </a:extLst>
          </p:cNvPr>
          <p:cNvSpPr txBox="1"/>
          <p:nvPr/>
        </p:nvSpPr>
        <p:spPr>
          <a:xfrm>
            <a:off x="3205316" y="877218"/>
            <a:ext cx="6223819" cy="400110"/>
          </a:xfrm>
          <a:prstGeom prst="rect">
            <a:avLst/>
          </a:prstGeom>
          <a:noFill/>
        </p:spPr>
        <p:txBody>
          <a:bodyPr wrap="square">
            <a:spAutoFit/>
          </a:bodyPr>
          <a:lstStyle/>
          <a:p>
            <a:r>
              <a:rPr lang="en-US" sz="2000" dirty="0">
                <a:solidFill>
                  <a:srgbClr val="0070C0"/>
                </a:solidFill>
                <a:latin typeface="Arial Black" panose="020B0A04020102020204" pitchFamily="34" charset="0"/>
              </a:rPr>
              <a:t>Applying Statistics to the Titanic Project</a:t>
            </a:r>
          </a:p>
        </p:txBody>
      </p:sp>
      <p:sp>
        <p:nvSpPr>
          <p:cNvPr id="8" name="TextBox 7">
            <a:extLst>
              <a:ext uri="{FF2B5EF4-FFF2-40B4-BE49-F238E27FC236}">
                <a16:creationId xmlns:a16="http://schemas.microsoft.com/office/drawing/2014/main" id="{1DD24B4E-9EB4-5019-F0D5-D66BB19EE7AB}"/>
              </a:ext>
            </a:extLst>
          </p:cNvPr>
          <p:cNvSpPr txBox="1"/>
          <p:nvPr/>
        </p:nvSpPr>
        <p:spPr>
          <a:xfrm>
            <a:off x="948812" y="1432428"/>
            <a:ext cx="10294374" cy="1996572"/>
          </a:xfrm>
          <a:prstGeom prst="rect">
            <a:avLst/>
          </a:prstGeom>
          <a:noFill/>
        </p:spPr>
        <p:txBody>
          <a:bodyPr wrap="square">
            <a:spAutoFit/>
          </a:bodyPr>
          <a:lstStyle/>
          <a:p>
            <a:pPr marL="285750" indent="-285750" algn="just">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The sinking of the Titanic in 1912 was a tragic disaster that led to the loss of many lives.</a:t>
            </a:r>
          </a:p>
          <a:p>
            <a:pPr marL="285750" indent="-285750" algn="just">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The Titanic dataset provides information about the passengers onboard.</a:t>
            </a:r>
          </a:p>
          <a:p>
            <a:pPr marL="285750" indent="-285750" algn="just">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Our analysis aims to explore the factors influencing passenger survival.</a:t>
            </a:r>
          </a:p>
          <a:p>
            <a:pPr marL="285750" indent="-285750" algn="just">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By examining the data, we can gain insights into the demographics and circumstances that played a role in determining survival.</a:t>
            </a:r>
          </a:p>
        </p:txBody>
      </p:sp>
      <p:sp>
        <p:nvSpPr>
          <p:cNvPr id="10" name="TextBox 9">
            <a:extLst>
              <a:ext uri="{FF2B5EF4-FFF2-40B4-BE49-F238E27FC236}">
                <a16:creationId xmlns:a16="http://schemas.microsoft.com/office/drawing/2014/main" id="{F4DB9057-618E-24E0-36DD-8383EAA809A2}"/>
              </a:ext>
            </a:extLst>
          </p:cNvPr>
          <p:cNvSpPr txBox="1"/>
          <p:nvPr/>
        </p:nvSpPr>
        <p:spPr>
          <a:xfrm>
            <a:off x="948812" y="3762401"/>
            <a:ext cx="10210801" cy="2562240"/>
          </a:xfrm>
          <a:prstGeom prst="rect">
            <a:avLst/>
          </a:prstGeom>
          <a:noFill/>
        </p:spPr>
        <p:txBody>
          <a:bodyPr wrap="square">
            <a:spAutoFit/>
          </a:bodyPr>
          <a:lstStyle/>
          <a:p>
            <a:pPr algn="ctr">
              <a:buNone/>
            </a:pPr>
            <a:r>
              <a:rPr lang="en-US" sz="2000" b="0" i="0" dirty="0">
                <a:solidFill>
                  <a:srgbClr val="FF0000"/>
                </a:solidFill>
                <a:effectLst/>
                <a:latin typeface="Arial Black" panose="020B0A04020102020204" pitchFamily="34" charset="0"/>
              </a:rPr>
              <a:t>Our investigation aims to answer the following questions:</a:t>
            </a:r>
          </a:p>
          <a:p>
            <a:pPr algn="ctr">
              <a:buNone/>
            </a:pPr>
            <a:endParaRPr lang="en-US" b="0" i="0" dirty="0">
              <a:solidFill>
                <a:srgbClr val="FF0000"/>
              </a:solidFill>
              <a:effectLst/>
              <a:latin typeface="Arial Black" panose="020B0A04020102020204" pitchFamily="34" charset="0"/>
            </a:endParaRPr>
          </a:p>
          <a:p>
            <a:pPr marL="342900" indent="-342900" algn="l">
              <a:lnSpc>
                <a:spcPts val="2142"/>
              </a:lnSpc>
              <a:buFont typeface="+mj-lt"/>
              <a:buAutoNum type="arabicPeriod"/>
            </a:pPr>
            <a:r>
              <a:rPr lang="en-US" b="0" i="1" dirty="0">
                <a:solidFill>
                  <a:srgbClr val="002060"/>
                </a:solidFill>
                <a:effectLst/>
                <a:latin typeface="Arial Black" panose="020B0A04020102020204" pitchFamily="34" charset="0"/>
              </a:rPr>
              <a:t>What were the key factors that influenced passenger survival on the Titanic?</a:t>
            </a:r>
          </a:p>
          <a:p>
            <a:pPr marL="342900" indent="-342900" algn="l">
              <a:lnSpc>
                <a:spcPts val="2142"/>
              </a:lnSpc>
              <a:buFont typeface="+mj-lt"/>
              <a:buAutoNum type="arabicPeriod"/>
            </a:pPr>
            <a:r>
              <a:rPr lang="en-US" b="0" i="1" dirty="0">
                <a:solidFill>
                  <a:srgbClr val="002060"/>
                </a:solidFill>
                <a:effectLst/>
                <a:latin typeface="Arial Black" panose="020B0A04020102020204" pitchFamily="34" charset="0"/>
              </a:rPr>
              <a:t>How did variables such as age, gender, ticket class, and family size affect the chances of survival?</a:t>
            </a:r>
          </a:p>
          <a:p>
            <a:pPr marL="342900" indent="-342900" algn="l">
              <a:lnSpc>
                <a:spcPts val="2142"/>
              </a:lnSpc>
              <a:buFont typeface="+mj-lt"/>
              <a:buAutoNum type="arabicPeriod"/>
            </a:pPr>
            <a:r>
              <a:rPr lang="en-US" b="0" i="1" dirty="0">
                <a:solidFill>
                  <a:srgbClr val="002060"/>
                </a:solidFill>
                <a:effectLst/>
                <a:latin typeface="Arial Black" panose="020B0A04020102020204" pitchFamily="34" charset="0"/>
              </a:rPr>
              <a:t>Can we identify significant predictors of survival based on the available data?</a:t>
            </a:r>
          </a:p>
          <a:p>
            <a:pPr marL="342900" indent="-342900" algn="l">
              <a:lnSpc>
                <a:spcPts val="2142"/>
              </a:lnSpc>
              <a:buFont typeface="+mj-lt"/>
              <a:buAutoNum type="arabicPeriod"/>
            </a:pPr>
            <a:r>
              <a:rPr lang="en-US" b="0" i="1" dirty="0">
                <a:solidFill>
                  <a:srgbClr val="002060"/>
                </a:solidFill>
                <a:effectLst/>
                <a:latin typeface="Arial Black" panose="020B0A04020102020204" pitchFamily="34" charset="0"/>
              </a:rPr>
              <a:t>Are the differences in survival rates of different demographics really statistically significant to be able to make conclusions from it?</a:t>
            </a:r>
          </a:p>
        </p:txBody>
      </p:sp>
    </p:spTree>
    <p:extLst>
      <p:ext uri="{BB962C8B-B14F-4D97-AF65-F5344CB8AC3E}">
        <p14:creationId xmlns:p14="http://schemas.microsoft.com/office/powerpoint/2010/main" val="1749788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046EB-E970-A8FD-6D90-4BE0A1A471D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411C89C-B817-E090-6F60-4D835EC7AE44}"/>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graphicFrame>
        <p:nvGraphicFramePr>
          <p:cNvPr id="2" name="Table 1">
            <a:extLst>
              <a:ext uri="{FF2B5EF4-FFF2-40B4-BE49-F238E27FC236}">
                <a16:creationId xmlns:a16="http://schemas.microsoft.com/office/drawing/2014/main" id="{E640C245-8D73-0994-7B96-378BD3819EB5}"/>
              </a:ext>
            </a:extLst>
          </p:cNvPr>
          <p:cNvGraphicFramePr>
            <a:graphicFrameLocks noGrp="1"/>
          </p:cNvGraphicFramePr>
          <p:nvPr>
            <p:extLst>
              <p:ext uri="{D42A27DB-BD31-4B8C-83A1-F6EECF244321}">
                <p14:modId xmlns:p14="http://schemas.microsoft.com/office/powerpoint/2010/main" val="3698394558"/>
              </p:ext>
            </p:extLst>
          </p:nvPr>
        </p:nvGraphicFramePr>
        <p:xfrm>
          <a:off x="907026" y="1645920"/>
          <a:ext cx="10515600" cy="3566160"/>
        </p:xfrm>
        <a:graphic>
          <a:graphicData uri="http://schemas.openxmlformats.org/drawingml/2006/table">
            <a:tbl>
              <a:tblPr/>
              <a:tblGrid>
                <a:gridCol w="3505200">
                  <a:extLst>
                    <a:ext uri="{9D8B030D-6E8A-4147-A177-3AD203B41FA5}">
                      <a16:colId xmlns:a16="http://schemas.microsoft.com/office/drawing/2014/main" val="2324814482"/>
                    </a:ext>
                  </a:extLst>
                </a:gridCol>
                <a:gridCol w="3505200">
                  <a:extLst>
                    <a:ext uri="{9D8B030D-6E8A-4147-A177-3AD203B41FA5}">
                      <a16:colId xmlns:a16="http://schemas.microsoft.com/office/drawing/2014/main" val="3733538990"/>
                    </a:ext>
                  </a:extLst>
                </a:gridCol>
                <a:gridCol w="3505200">
                  <a:extLst>
                    <a:ext uri="{9D8B030D-6E8A-4147-A177-3AD203B41FA5}">
                      <a16:colId xmlns:a16="http://schemas.microsoft.com/office/drawing/2014/main" val="1243445526"/>
                    </a:ext>
                  </a:extLst>
                </a:gridCol>
              </a:tblGrid>
              <a:tr h="0">
                <a:tc>
                  <a:txBody>
                    <a:bodyPr/>
                    <a:lstStyle/>
                    <a:p>
                      <a:pPr>
                        <a:buNone/>
                      </a:pPr>
                      <a:r>
                        <a:rPr lang="en-US" dirty="0">
                          <a:solidFill>
                            <a:srgbClr val="FF0000"/>
                          </a:solidFill>
                          <a:latin typeface="Arial Black" panose="020B0A04020102020204" pitchFamily="34" charset="0"/>
                        </a:rPr>
                        <a:t>Concept</a:t>
                      </a:r>
                    </a:p>
                  </a:txBody>
                  <a:tcPr anchor="ctr">
                    <a:lnL>
                      <a:noFill/>
                    </a:lnL>
                    <a:lnR>
                      <a:noFill/>
                    </a:lnR>
                    <a:lnT>
                      <a:noFill/>
                    </a:lnT>
                    <a:lnB>
                      <a:noFill/>
                    </a:lnB>
                    <a:noFill/>
                  </a:tcPr>
                </a:tc>
                <a:tc>
                  <a:txBody>
                    <a:bodyPr/>
                    <a:lstStyle/>
                    <a:p>
                      <a:pPr>
                        <a:buNone/>
                      </a:pPr>
                      <a:r>
                        <a:rPr lang="en-US">
                          <a:solidFill>
                            <a:srgbClr val="FF0000"/>
                          </a:solidFill>
                          <a:latin typeface="Arial Black" panose="020B0A04020102020204" pitchFamily="34" charset="0"/>
                        </a:rPr>
                        <a:t>Example</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Purpose</a:t>
                      </a:r>
                    </a:p>
                  </a:txBody>
                  <a:tcPr anchor="ctr">
                    <a:lnL>
                      <a:noFill/>
                    </a:lnL>
                    <a:lnR>
                      <a:noFill/>
                    </a:lnR>
                    <a:lnT>
                      <a:noFill/>
                    </a:lnT>
                    <a:lnB>
                      <a:noFill/>
                    </a:lnB>
                    <a:noFill/>
                  </a:tcPr>
                </a:tc>
                <a:extLst>
                  <a:ext uri="{0D108BD9-81ED-4DB2-BD59-A6C34878D82A}">
                    <a16:rowId xmlns:a16="http://schemas.microsoft.com/office/drawing/2014/main" val="3463457488"/>
                  </a:ext>
                </a:extLst>
              </a:tr>
              <a:tr h="0">
                <a:tc>
                  <a:txBody>
                    <a:bodyPr/>
                    <a:lstStyle/>
                    <a:p>
                      <a:pPr>
                        <a:buNone/>
                      </a:pPr>
                      <a:r>
                        <a:rPr lang="en-US" b="1" dirty="0">
                          <a:latin typeface="Arial Black" panose="020B0A04020102020204" pitchFamily="34" charset="0"/>
                        </a:rPr>
                        <a:t>Descriptive Stats</a:t>
                      </a:r>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Average age, fare, survival rate</a:t>
                      </a:r>
                    </a:p>
                  </a:txBody>
                  <a:tcPr anchor="ctr">
                    <a:lnL>
                      <a:noFill/>
                    </a:lnL>
                    <a:lnR>
                      <a:noFill/>
                    </a:lnR>
                    <a:lnT>
                      <a:noFill/>
                    </a:lnT>
                    <a:lnB>
                      <a:noFill/>
                    </a:lnB>
                    <a:noFill/>
                  </a:tcPr>
                </a:tc>
                <a:tc>
                  <a:txBody>
                    <a:bodyPr/>
                    <a:lstStyle/>
                    <a:p>
                      <a:pPr>
                        <a:buNone/>
                      </a:pPr>
                      <a:r>
                        <a:rPr lang="en-US">
                          <a:latin typeface="Arial Black" panose="020B0A04020102020204" pitchFamily="34" charset="0"/>
                        </a:rPr>
                        <a:t>Understand passenger demographics</a:t>
                      </a:r>
                    </a:p>
                  </a:txBody>
                  <a:tcPr anchor="ctr">
                    <a:lnL>
                      <a:noFill/>
                    </a:lnL>
                    <a:lnR>
                      <a:noFill/>
                    </a:lnR>
                    <a:lnT>
                      <a:noFill/>
                    </a:lnT>
                    <a:lnB>
                      <a:noFill/>
                    </a:lnB>
                    <a:noFill/>
                  </a:tcPr>
                </a:tc>
                <a:extLst>
                  <a:ext uri="{0D108BD9-81ED-4DB2-BD59-A6C34878D82A}">
                    <a16:rowId xmlns:a16="http://schemas.microsoft.com/office/drawing/2014/main" val="1810622154"/>
                  </a:ext>
                </a:extLst>
              </a:tr>
              <a:tr h="0">
                <a:tc>
                  <a:txBody>
                    <a:bodyPr/>
                    <a:lstStyle/>
                    <a:p>
                      <a:pPr>
                        <a:buNone/>
                      </a:pPr>
                      <a:r>
                        <a:rPr lang="en-US" b="1">
                          <a:latin typeface="Arial Black" panose="020B0A04020102020204" pitchFamily="34" charset="0"/>
                        </a:rPr>
                        <a:t>Probability</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Chance of survival given gender/class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Build intuition for model features</a:t>
                      </a:r>
                    </a:p>
                  </a:txBody>
                  <a:tcPr anchor="ctr">
                    <a:lnL>
                      <a:noFill/>
                    </a:lnL>
                    <a:lnR>
                      <a:noFill/>
                    </a:lnR>
                    <a:lnT>
                      <a:noFill/>
                    </a:lnT>
                    <a:lnB>
                      <a:noFill/>
                    </a:lnB>
                    <a:noFill/>
                  </a:tcPr>
                </a:tc>
                <a:extLst>
                  <a:ext uri="{0D108BD9-81ED-4DB2-BD59-A6C34878D82A}">
                    <a16:rowId xmlns:a16="http://schemas.microsoft.com/office/drawing/2014/main" val="913842578"/>
                  </a:ext>
                </a:extLst>
              </a:tr>
              <a:tr h="0">
                <a:tc>
                  <a:txBody>
                    <a:bodyPr/>
                    <a:lstStyle/>
                    <a:p>
                      <a:pPr>
                        <a:buNone/>
                      </a:pPr>
                      <a:r>
                        <a:rPr lang="en-US" b="1">
                          <a:latin typeface="Arial Black" panose="020B0A04020102020204" pitchFamily="34" charset="0"/>
                        </a:rPr>
                        <a:t>Correlation</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Sex vs. Survived, Fare vs. Pclass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Identify influential variables</a:t>
                      </a:r>
                    </a:p>
                  </a:txBody>
                  <a:tcPr anchor="ctr">
                    <a:lnL>
                      <a:noFill/>
                    </a:lnL>
                    <a:lnR>
                      <a:noFill/>
                    </a:lnR>
                    <a:lnT>
                      <a:noFill/>
                    </a:lnT>
                    <a:lnB>
                      <a:noFill/>
                    </a:lnB>
                    <a:noFill/>
                  </a:tcPr>
                </a:tc>
                <a:extLst>
                  <a:ext uri="{0D108BD9-81ED-4DB2-BD59-A6C34878D82A}">
                    <a16:rowId xmlns:a16="http://schemas.microsoft.com/office/drawing/2014/main" val="637555974"/>
                  </a:ext>
                </a:extLst>
              </a:tr>
              <a:tr h="0">
                <a:tc>
                  <a:txBody>
                    <a:bodyPr/>
                    <a:lstStyle/>
                    <a:p>
                      <a:pPr>
                        <a:buNone/>
                      </a:pPr>
                      <a:r>
                        <a:rPr lang="en-US" b="1">
                          <a:latin typeface="Arial Black" panose="020B0A04020102020204" pitchFamily="34" charset="0"/>
                        </a:rPr>
                        <a:t>Hypothesis Testing</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Did women have higher survival rates?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Validate assumptions statistically</a:t>
                      </a:r>
                    </a:p>
                  </a:txBody>
                  <a:tcPr anchor="ctr">
                    <a:lnL>
                      <a:noFill/>
                    </a:lnL>
                    <a:lnR>
                      <a:noFill/>
                    </a:lnR>
                    <a:lnT>
                      <a:noFill/>
                    </a:lnT>
                    <a:lnB>
                      <a:noFill/>
                    </a:lnB>
                    <a:noFill/>
                  </a:tcPr>
                </a:tc>
                <a:extLst>
                  <a:ext uri="{0D108BD9-81ED-4DB2-BD59-A6C34878D82A}">
                    <a16:rowId xmlns:a16="http://schemas.microsoft.com/office/drawing/2014/main" val="2588053174"/>
                  </a:ext>
                </a:extLst>
              </a:tr>
              <a:tr h="0">
                <a:tc>
                  <a:txBody>
                    <a:bodyPr/>
                    <a:lstStyle/>
                    <a:p>
                      <a:pPr>
                        <a:buNone/>
                      </a:pPr>
                      <a:r>
                        <a:rPr lang="en-US" b="1">
                          <a:latin typeface="Arial Black" panose="020B0A04020102020204" pitchFamily="34" charset="0"/>
                        </a:rPr>
                        <a:t>Regression</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Predict survival probability</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Foundation for logistic regression model</a:t>
                      </a:r>
                    </a:p>
                  </a:txBody>
                  <a:tcPr anchor="ctr">
                    <a:lnL>
                      <a:noFill/>
                    </a:lnL>
                    <a:lnR>
                      <a:noFill/>
                    </a:lnR>
                    <a:lnT>
                      <a:noFill/>
                    </a:lnT>
                    <a:lnB>
                      <a:noFill/>
                    </a:lnB>
                    <a:noFill/>
                  </a:tcPr>
                </a:tc>
                <a:extLst>
                  <a:ext uri="{0D108BD9-81ED-4DB2-BD59-A6C34878D82A}">
                    <a16:rowId xmlns:a16="http://schemas.microsoft.com/office/drawing/2014/main" val="3505133080"/>
                  </a:ext>
                </a:extLst>
              </a:tr>
            </a:tbl>
          </a:graphicData>
        </a:graphic>
      </p:graphicFrame>
      <p:sp>
        <p:nvSpPr>
          <p:cNvPr id="4" name="TextBox 3">
            <a:extLst>
              <a:ext uri="{FF2B5EF4-FFF2-40B4-BE49-F238E27FC236}">
                <a16:creationId xmlns:a16="http://schemas.microsoft.com/office/drawing/2014/main" id="{D775A9C8-64E2-5EE6-7AEE-9B1F814168B5}"/>
              </a:ext>
            </a:extLst>
          </p:cNvPr>
          <p:cNvSpPr txBox="1"/>
          <p:nvPr/>
        </p:nvSpPr>
        <p:spPr>
          <a:xfrm>
            <a:off x="4109883" y="1002502"/>
            <a:ext cx="3495572" cy="400110"/>
          </a:xfrm>
          <a:prstGeom prst="rect">
            <a:avLst/>
          </a:prstGeom>
          <a:noFill/>
        </p:spPr>
        <p:txBody>
          <a:bodyPr wrap="none" rtlCol="0">
            <a:spAutoFit/>
          </a:bodyPr>
          <a:lstStyle/>
          <a:p>
            <a:r>
              <a:rPr lang="en-US" sz="2000" dirty="0">
                <a:solidFill>
                  <a:srgbClr val="0070C0"/>
                </a:solidFill>
                <a:latin typeface="Arial Black" panose="020B0A04020102020204" pitchFamily="34" charset="0"/>
              </a:rPr>
              <a:t>THE TITANIC PROBLEM</a:t>
            </a:r>
          </a:p>
        </p:txBody>
      </p:sp>
    </p:spTree>
    <p:extLst>
      <p:ext uri="{BB962C8B-B14F-4D97-AF65-F5344CB8AC3E}">
        <p14:creationId xmlns:p14="http://schemas.microsoft.com/office/powerpoint/2010/main" val="429921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915DA-E096-E37D-7E1F-30210340945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3DDE1CE-0D38-328A-5E60-3460009FF876}"/>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5" name="TextBox 4">
            <a:extLst>
              <a:ext uri="{FF2B5EF4-FFF2-40B4-BE49-F238E27FC236}">
                <a16:creationId xmlns:a16="http://schemas.microsoft.com/office/drawing/2014/main" id="{483A099D-B2EA-D9F9-5C21-24E5FF53E288}"/>
              </a:ext>
            </a:extLst>
          </p:cNvPr>
          <p:cNvSpPr txBox="1"/>
          <p:nvPr/>
        </p:nvSpPr>
        <p:spPr>
          <a:xfrm>
            <a:off x="157317" y="1765438"/>
            <a:ext cx="3844412" cy="3970318"/>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How Statistics Strengthens ML Understanding</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Builds </a:t>
            </a:r>
            <a:r>
              <a:rPr lang="en-US" b="1" dirty="0">
                <a:effectLst/>
                <a:latin typeface="Arial Black" panose="020B0A04020102020204" pitchFamily="34" charset="0"/>
              </a:rPr>
              <a:t>data intuition</a:t>
            </a:r>
            <a:r>
              <a:rPr lang="en-US" dirty="0">
                <a:effectLst/>
                <a:latin typeface="Arial Black" panose="020B0A04020102020204" pitchFamily="34" charset="0"/>
              </a:rPr>
              <a:t> before modeling.</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Helps in </a:t>
            </a:r>
            <a:r>
              <a:rPr lang="en-US" b="1" dirty="0">
                <a:effectLst/>
                <a:latin typeface="Arial Black" panose="020B0A04020102020204" pitchFamily="34" charset="0"/>
              </a:rPr>
              <a:t>feature selection</a:t>
            </a:r>
            <a:r>
              <a:rPr lang="en-US" dirty="0">
                <a:effectLst/>
                <a:latin typeface="Arial Black" panose="020B0A04020102020204" pitchFamily="34" charset="0"/>
              </a:rPr>
              <a:t> and </a:t>
            </a:r>
            <a:r>
              <a:rPr lang="en-US" b="1" dirty="0">
                <a:effectLst/>
                <a:latin typeface="Arial Black" panose="020B0A04020102020204" pitchFamily="34" charset="0"/>
              </a:rPr>
              <a:t>data preprocessing</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Improves </a:t>
            </a:r>
            <a:r>
              <a:rPr lang="en-US" b="1" dirty="0">
                <a:effectLst/>
                <a:latin typeface="Arial Black" panose="020B0A04020102020204" pitchFamily="34" charset="0"/>
              </a:rPr>
              <a:t>model interpretability</a:t>
            </a:r>
            <a:r>
              <a:rPr lang="en-US" dirty="0">
                <a:effectLst/>
                <a:latin typeface="Arial Black" panose="020B0A04020102020204" pitchFamily="34" charset="0"/>
              </a:rPr>
              <a:t> — understanding why predictions occur.</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Encourages </a:t>
            </a:r>
            <a:r>
              <a:rPr lang="en-US" b="1" dirty="0">
                <a:effectLst/>
                <a:latin typeface="Arial Black" panose="020B0A04020102020204" pitchFamily="34" charset="0"/>
              </a:rPr>
              <a:t>critical thinking</a:t>
            </a:r>
            <a:r>
              <a:rPr lang="en-US" dirty="0">
                <a:effectLst/>
                <a:latin typeface="Arial Black" panose="020B0A04020102020204" pitchFamily="34" charset="0"/>
              </a:rPr>
              <a:t> about bias, variance, and uncertainty.</a:t>
            </a:r>
            <a:endParaRPr lang="en-US" dirty="0">
              <a:latin typeface="Arial Black" panose="020B0A04020102020204" pitchFamily="34" charset="0"/>
            </a:endParaRPr>
          </a:p>
        </p:txBody>
      </p:sp>
      <p:pic>
        <p:nvPicPr>
          <p:cNvPr id="8" name="Picture 7">
            <a:extLst>
              <a:ext uri="{FF2B5EF4-FFF2-40B4-BE49-F238E27FC236}">
                <a16:creationId xmlns:a16="http://schemas.microsoft.com/office/drawing/2014/main" id="{4A2E47CC-CE50-102C-D67E-629D57D767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7872" y="1223297"/>
            <a:ext cx="7581900" cy="5054600"/>
          </a:xfrm>
          <a:prstGeom prst="rect">
            <a:avLst/>
          </a:prstGeom>
        </p:spPr>
      </p:pic>
    </p:spTree>
    <p:extLst>
      <p:ext uri="{BB962C8B-B14F-4D97-AF65-F5344CB8AC3E}">
        <p14:creationId xmlns:p14="http://schemas.microsoft.com/office/powerpoint/2010/main" val="2274655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B32A5-5AC7-22E2-04F8-51971D2379D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1A11B85-067C-C8CA-3DE8-1171378667F1}"/>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31DF7A44-6A01-0839-2480-314F7C9DEF0B}"/>
              </a:ext>
            </a:extLst>
          </p:cNvPr>
          <p:cNvSpPr txBox="1"/>
          <p:nvPr/>
        </p:nvSpPr>
        <p:spPr>
          <a:xfrm>
            <a:off x="816077" y="1013173"/>
            <a:ext cx="11051458" cy="584775"/>
          </a:xfrm>
          <a:prstGeom prst="rect">
            <a:avLst/>
          </a:prstGeom>
          <a:noFill/>
        </p:spPr>
        <p:txBody>
          <a:bodyPr wrap="square">
            <a:spAutoFit/>
          </a:bodyPr>
          <a:lstStyle/>
          <a:p>
            <a:r>
              <a:rPr lang="en-US" sz="1600" dirty="0">
                <a:latin typeface="Arial Black" panose="020B0A04020102020204" pitchFamily="34" charset="0"/>
              </a:rPr>
              <a:t>This slide will visually summarize the five pillars of statistical reasoning that power ML models, using Titanic examples for context.</a:t>
            </a:r>
          </a:p>
        </p:txBody>
      </p:sp>
      <p:graphicFrame>
        <p:nvGraphicFramePr>
          <p:cNvPr id="4" name="Table 3">
            <a:extLst>
              <a:ext uri="{FF2B5EF4-FFF2-40B4-BE49-F238E27FC236}">
                <a16:creationId xmlns:a16="http://schemas.microsoft.com/office/drawing/2014/main" id="{899D933D-4BE6-72DD-9D90-A154D791063E}"/>
              </a:ext>
            </a:extLst>
          </p:cNvPr>
          <p:cNvGraphicFramePr>
            <a:graphicFrameLocks noGrp="1"/>
          </p:cNvGraphicFramePr>
          <p:nvPr>
            <p:extLst>
              <p:ext uri="{D42A27DB-BD31-4B8C-83A1-F6EECF244321}">
                <p14:modId xmlns:p14="http://schemas.microsoft.com/office/powerpoint/2010/main" val="4040242894"/>
              </p:ext>
            </p:extLst>
          </p:nvPr>
        </p:nvGraphicFramePr>
        <p:xfrm>
          <a:off x="1462630" y="1808834"/>
          <a:ext cx="9266740" cy="4872600"/>
        </p:xfrm>
        <a:graphic>
          <a:graphicData uri="http://schemas.openxmlformats.org/drawingml/2006/table">
            <a:tbl>
              <a:tblPr/>
              <a:tblGrid>
                <a:gridCol w="2316685">
                  <a:extLst>
                    <a:ext uri="{9D8B030D-6E8A-4147-A177-3AD203B41FA5}">
                      <a16:colId xmlns:a16="http://schemas.microsoft.com/office/drawing/2014/main" val="4052185589"/>
                    </a:ext>
                  </a:extLst>
                </a:gridCol>
                <a:gridCol w="2316685">
                  <a:extLst>
                    <a:ext uri="{9D8B030D-6E8A-4147-A177-3AD203B41FA5}">
                      <a16:colId xmlns:a16="http://schemas.microsoft.com/office/drawing/2014/main" val="4119607629"/>
                    </a:ext>
                  </a:extLst>
                </a:gridCol>
                <a:gridCol w="2316685">
                  <a:extLst>
                    <a:ext uri="{9D8B030D-6E8A-4147-A177-3AD203B41FA5}">
                      <a16:colId xmlns:a16="http://schemas.microsoft.com/office/drawing/2014/main" val="3663654612"/>
                    </a:ext>
                  </a:extLst>
                </a:gridCol>
                <a:gridCol w="2316685">
                  <a:extLst>
                    <a:ext uri="{9D8B030D-6E8A-4147-A177-3AD203B41FA5}">
                      <a16:colId xmlns:a16="http://schemas.microsoft.com/office/drawing/2014/main" val="99203712"/>
                    </a:ext>
                  </a:extLst>
                </a:gridCol>
              </a:tblGrid>
              <a:tr h="322321">
                <a:tc>
                  <a:txBody>
                    <a:bodyPr/>
                    <a:lstStyle/>
                    <a:p>
                      <a:pPr>
                        <a:buNone/>
                      </a:pPr>
                      <a:r>
                        <a:rPr lang="en-US" sz="1600" dirty="0">
                          <a:solidFill>
                            <a:srgbClr val="FF0000"/>
                          </a:solidFill>
                          <a:latin typeface="Arial Black" panose="020B0A04020102020204" pitchFamily="34" charset="0"/>
                        </a:rPr>
                        <a:t>Concept</a:t>
                      </a:r>
                    </a:p>
                  </a:txBody>
                  <a:tcPr marL="80580" marR="80580" marT="40290" marB="40290" anchor="ctr">
                    <a:lnL>
                      <a:noFill/>
                    </a:lnL>
                    <a:lnR>
                      <a:noFill/>
                    </a:lnR>
                    <a:lnT>
                      <a:noFill/>
                    </a:lnT>
                    <a:lnB>
                      <a:noFill/>
                    </a:lnB>
                    <a:noFill/>
                  </a:tcPr>
                </a:tc>
                <a:tc>
                  <a:txBody>
                    <a:bodyPr/>
                    <a:lstStyle/>
                    <a:p>
                      <a:pPr>
                        <a:buNone/>
                      </a:pPr>
                      <a:r>
                        <a:rPr lang="en-US" sz="1600">
                          <a:solidFill>
                            <a:srgbClr val="FF0000"/>
                          </a:solidFill>
                          <a:latin typeface="Arial Black" panose="020B0A04020102020204" pitchFamily="34" charset="0"/>
                        </a:rPr>
                        <a:t>Definition</a:t>
                      </a:r>
                    </a:p>
                  </a:txBody>
                  <a:tcPr marL="80580" marR="80580" marT="40290" marB="40290" anchor="ctr">
                    <a:lnL>
                      <a:noFill/>
                    </a:lnL>
                    <a:lnR>
                      <a:noFill/>
                    </a:lnR>
                    <a:lnT>
                      <a:noFill/>
                    </a:lnT>
                    <a:lnB>
                      <a:noFill/>
                    </a:lnB>
                    <a:noFill/>
                  </a:tcPr>
                </a:tc>
                <a:tc>
                  <a:txBody>
                    <a:bodyPr/>
                    <a:lstStyle/>
                    <a:p>
                      <a:pPr>
                        <a:buNone/>
                      </a:pPr>
                      <a:r>
                        <a:rPr lang="en-US" sz="1600">
                          <a:solidFill>
                            <a:srgbClr val="FF0000"/>
                          </a:solidFill>
                          <a:latin typeface="Arial Black" panose="020B0A04020102020204" pitchFamily="34" charset="0"/>
                        </a:rPr>
                        <a:t>Titanic Example</a:t>
                      </a:r>
                    </a:p>
                  </a:txBody>
                  <a:tcPr marL="80580" marR="80580" marT="40290" marB="40290" anchor="ctr">
                    <a:lnL>
                      <a:noFill/>
                    </a:lnL>
                    <a:lnR>
                      <a:noFill/>
                    </a:lnR>
                    <a:lnT>
                      <a:noFill/>
                    </a:lnT>
                    <a:lnB>
                      <a:noFill/>
                    </a:lnB>
                    <a:noFill/>
                  </a:tcPr>
                </a:tc>
                <a:tc>
                  <a:txBody>
                    <a:bodyPr/>
                    <a:lstStyle/>
                    <a:p>
                      <a:pPr>
                        <a:buNone/>
                      </a:pPr>
                      <a:r>
                        <a:rPr lang="en-US" sz="1600" dirty="0">
                          <a:solidFill>
                            <a:srgbClr val="FF0000"/>
                          </a:solidFill>
                          <a:latin typeface="Arial Black" panose="020B0A04020102020204" pitchFamily="34" charset="0"/>
                        </a:rPr>
                        <a:t>Visual</a:t>
                      </a:r>
                    </a:p>
                  </a:txBody>
                  <a:tcPr marL="80580" marR="80580" marT="40290" marB="40290" anchor="ctr">
                    <a:lnL>
                      <a:noFill/>
                    </a:lnL>
                    <a:lnR>
                      <a:noFill/>
                    </a:lnR>
                    <a:lnT>
                      <a:noFill/>
                    </a:lnT>
                    <a:lnB>
                      <a:noFill/>
                    </a:lnB>
                    <a:noFill/>
                  </a:tcPr>
                </a:tc>
                <a:extLst>
                  <a:ext uri="{0D108BD9-81ED-4DB2-BD59-A6C34878D82A}">
                    <a16:rowId xmlns:a16="http://schemas.microsoft.com/office/drawing/2014/main" val="1157894383"/>
                  </a:ext>
                </a:extLst>
              </a:tr>
              <a:tr h="1047544">
                <a:tc>
                  <a:txBody>
                    <a:bodyPr/>
                    <a:lstStyle/>
                    <a:p>
                      <a:pPr>
                        <a:buNone/>
                      </a:pPr>
                      <a:r>
                        <a:rPr lang="en-US" sz="1600" b="1" dirty="0">
                          <a:latin typeface="Arial Black" panose="020B0A04020102020204" pitchFamily="34" charset="0"/>
                        </a:rPr>
                        <a:t>Mean &amp; Median</a:t>
                      </a:r>
                      <a:endParaRPr lang="en-US" sz="1600" dirty="0">
                        <a:latin typeface="Arial Black" panose="020B0A04020102020204" pitchFamily="34" charset="0"/>
                      </a:endParaRPr>
                    </a:p>
                  </a:txBody>
                  <a:tcPr marL="80580" marR="80580" marT="40290" marB="40290" anchor="ctr">
                    <a:lnL>
                      <a:noFill/>
                    </a:lnL>
                    <a:lnR>
                      <a:noFill/>
                    </a:lnR>
                    <a:lnT>
                      <a:noFill/>
                    </a:lnT>
                    <a:lnB>
                      <a:noFill/>
                    </a:lnB>
                    <a:noFill/>
                  </a:tcPr>
                </a:tc>
                <a:tc>
                  <a:txBody>
                    <a:bodyPr/>
                    <a:lstStyle/>
                    <a:p>
                      <a:pPr>
                        <a:buNone/>
                      </a:pPr>
                      <a:r>
                        <a:rPr lang="en-US" sz="1600" dirty="0">
                          <a:latin typeface="Arial Black" panose="020B0A04020102020204" pitchFamily="34" charset="0"/>
                        </a:rPr>
                        <a:t>Central tendency measures showing average and middle values.</a:t>
                      </a:r>
                    </a:p>
                  </a:txBody>
                  <a:tcPr marL="80580" marR="80580" marT="40290" marB="40290" anchor="ctr">
                    <a:lnL>
                      <a:noFill/>
                    </a:lnL>
                    <a:lnR>
                      <a:noFill/>
                    </a:lnR>
                    <a:lnT>
                      <a:noFill/>
                    </a:lnT>
                    <a:lnB>
                      <a:noFill/>
                    </a:lnB>
                    <a:noFill/>
                  </a:tcPr>
                </a:tc>
                <a:tc>
                  <a:txBody>
                    <a:bodyPr/>
                    <a:lstStyle/>
                    <a:p>
                      <a:pPr>
                        <a:buNone/>
                      </a:pPr>
                      <a:r>
                        <a:rPr lang="en-US" sz="1600" dirty="0">
                          <a:latin typeface="Arial Black" panose="020B0A04020102020204" pitchFamily="34" charset="0"/>
                        </a:rPr>
                        <a:t>Mean age ≈ 29.7 years; median fare ≈ 14.45 ₹</a:t>
                      </a:r>
                    </a:p>
                  </a:txBody>
                  <a:tcPr marL="80580" marR="80580" marT="40290" marB="40290" anchor="ctr">
                    <a:lnL>
                      <a:noFill/>
                    </a:lnL>
                    <a:lnR>
                      <a:noFill/>
                    </a:lnR>
                    <a:lnT>
                      <a:noFill/>
                    </a:lnT>
                    <a:lnB>
                      <a:noFill/>
                    </a:lnB>
                    <a:noFill/>
                  </a:tcPr>
                </a:tc>
                <a:tc>
                  <a:txBody>
                    <a:bodyPr/>
                    <a:lstStyle/>
                    <a:p>
                      <a:pPr>
                        <a:buNone/>
                      </a:pPr>
                      <a:r>
                        <a:rPr lang="en-US" sz="1600">
                          <a:latin typeface="Arial Black" panose="020B0A04020102020204" pitchFamily="34" charset="0"/>
                        </a:rPr>
                        <a:t>Bar chart of age distribution</a:t>
                      </a:r>
                    </a:p>
                  </a:txBody>
                  <a:tcPr marL="80580" marR="80580" marT="40290" marB="40290" anchor="ctr">
                    <a:lnL>
                      <a:noFill/>
                    </a:lnL>
                    <a:lnR>
                      <a:noFill/>
                    </a:lnR>
                    <a:lnT>
                      <a:noFill/>
                    </a:lnT>
                    <a:lnB>
                      <a:noFill/>
                    </a:lnB>
                    <a:noFill/>
                  </a:tcPr>
                </a:tc>
                <a:extLst>
                  <a:ext uri="{0D108BD9-81ED-4DB2-BD59-A6C34878D82A}">
                    <a16:rowId xmlns:a16="http://schemas.microsoft.com/office/drawing/2014/main" val="1207231439"/>
                  </a:ext>
                </a:extLst>
              </a:tr>
              <a:tr h="805803">
                <a:tc>
                  <a:txBody>
                    <a:bodyPr/>
                    <a:lstStyle/>
                    <a:p>
                      <a:pPr>
                        <a:buNone/>
                      </a:pPr>
                      <a:r>
                        <a:rPr lang="en-US" sz="1600" b="1">
                          <a:latin typeface="Arial Black" panose="020B0A04020102020204" pitchFamily="34" charset="0"/>
                        </a:rPr>
                        <a:t>Variance &amp; Standard Deviation</a:t>
                      </a:r>
                      <a:endParaRPr lang="en-US" sz="1600">
                        <a:latin typeface="Arial Black" panose="020B0A04020102020204" pitchFamily="34" charset="0"/>
                      </a:endParaRPr>
                    </a:p>
                  </a:txBody>
                  <a:tcPr marL="80580" marR="80580" marT="40290" marB="40290" anchor="ctr">
                    <a:lnL>
                      <a:noFill/>
                    </a:lnL>
                    <a:lnR>
                      <a:noFill/>
                    </a:lnR>
                    <a:lnT>
                      <a:noFill/>
                    </a:lnT>
                    <a:lnB>
                      <a:noFill/>
                    </a:lnB>
                    <a:noFill/>
                  </a:tcPr>
                </a:tc>
                <a:tc>
                  <a:txBody>
                    <a:bodyPr/>
                    <a:lstStyle/>
                    <a:p>
                      <a:pPr>
                        <a:buNone/>
                      </a:pPr>
                      <a:r>
                        <a:rPr lang="en-US" sz="1600">
                          <a:latin typeface="Arial Black" panose="020B0A04020102020204" pitchFamily="34" charset="0"/>
                        </a:rPr>
                        <a:t>Measure data spread and variability.</a:t>
                      </a:r>
                    </a:p>
                  </a:txBody>
                  <a:tcPr marL="80580" marR="80580" marT="40290" marB="40290" anchor="ctr">
                    <a:lnL>
                      <a:noFill/>
                    </a:lnL>
                    <a:lnR>
                      <a:noFill/>
                    </a:lnR>
                    <a:lnT>
                      <a:noFill/>
                    </a:lnT>
                    <a:lnB>
                      <a:noFill/>
                    </a:lnB>
                    <a:noFill/>
                  </a:tcPr>
                </a:tc>
                <a:tc>
                  <a:txBody>
                    <a:bodyPr/>
                    <a:lstStyle/>
                    <a:p>
                      <a:pPr>
                        <a:buNone/>
                      </a:pPr>
                      <a:r>
                        <a:rPr lang="en-US" sz="1600" dirty="0">
                          <a:latin typeface="Arial Black" panose="020B0A04020102020204" pitchFamily="34" charset="0"/>
                        </a:rPr>
                        <a:t>Fare variance shows economic diversity among passengers.</a:t>
                      </a:r>
                    </a:p>
                  </a:txBody>
                  <a:tcPr marL="80580" marR="80580" marT="40290" marB="40290" anchor="ctr">
                    <a:lnL>
                      <a:noFill/>
                    </a:lnL>
                    <a:lnR>
                      <a:noFill/>
                    </a:lnR>
                    <a:lnT>
                      <a:noFill/>
                    </a:lnT>
                    <a:lnB>
                      <a:noFill/>
                    </a:lnB>
                    <a:noFill/>
                  </a:tcPr>
                </a:tc>
                <a:tc>
                  <a:txBody>
                    <a:bodyPr/>
                    <a:lstStyle/>
                    <a:p>
                      <a:pPr>
                        <a:buNone/>
                      </a:pPr>
                      <a:r>
                        <a:rPr lang="en-US" sz="1600" dirty="0">
                          <a:latin typeface="Arial Black" panose="020B0A04020102020204" pitchFamily="34" charset="0"/>
                        </a:rPr>
                        <a:t>Boxplot of fare by class</a:t>
                      </a:r>
                    </a:p>
                  </a:txBody>
                  <a:tcPr marL="80580" marR="80580" marT="40290" marB="40290" anchor="ctr">
                    <a:lnL>
                      <a:noFill/>
                    </a:lnL>
                    <a:lnR>
                      <a:noFill/>
                    </a:lnR>
                    <a:lnT>
                      <a:noFill/>
                    </a:lnT>
                    <a:lnB>
                      <a:noFill/>
                    </a:lnB>
                    <a:noFill/>
                  </a:tcPr>
                </a:tc>
                <a:extLst>
                  <a:ext uri="{0D108BD9-81ED-4DB2-BD59-A6C34878D82A}">
                    <a16:rowId xmlns:a16="http://schemas.microsoft.com/office/drawing/2014/main" val="4242312858"/>
                  </a:ext>
                </a:extLst>
              </a:tr>
              <a:tr h="805803">
                <a:tc>
                  <a:txBody>
                    <a:bodyPr/>
                    <a:lstStyle/>
                    <a:p>
                      <a:pPr>
                        <a:buNone/>
                      </a:pPr>
                      <a:r>
                        <a:rPr lang="en-US" sz="1600" b="1">
                          <a:latin typeface="Arial Black" panose="020B0A04020102020204" pitchFamily="34" charset="0"/>
                        </a:rPr>
                        <a:t>Correlation</a:t>
                      </a:r>
                      <a:endParaRPr lang="en-US" sz="1600">
                        <a:latin typeface="Arial Black" panose="020B0A04020102020204" pitchFamily="34" charset="0"/>
                      </a:endParaRPr>
                    </a:p>
                  </a:txBody>
                  <a:tcPr marL="80580" marR="80580" marT="40290" marB="40290" anchor="ctr">
                    <a:lnL>
                      <a:noFill/>
                    </a:lnL>
                    <a:lnR>
                      <a:noFill/>
                    </a:lnR>
                    <a:lnT>
                      <a:noFill/>
                    </a:lnT>
                    <a:lnB>
                      <a:noFill/>
                    </a:lnB>
                    <a:noFill/>
                  </a:tcPr>
                </a:tc>
                <a:tc>
                  <a:txBody>
                    <a:bodyPr/>
                    <a:lstStyle/>
                    <a:p>
                      <a:pPr>
                        <a:buNone/>
                      </a:pPr>
                      <a:r>
                        <a:rPr lang="en-US" sz="1600">
                          <a:latin typeface="Arial Black" panose="020B0A04020102020204" pitchFamily="34" charset="0"/>
                        </a:rPr>
                        <a:t>Quantifies relationships between variables.</a:t>
                      </a:r>
                    </a:p>
                  </a:txBody>
                  <a:tcPr marL="80580" marR="80580" marT="40290" marB="40290" anchor="ctr">
                    <a:lnL>
                      <a:noFill/>
                    </a:lnL>
                    <a:lnR>
                      <a:noFill/>
                    </a:lnR>
                    <a:lnT>
                      <a:noFill/>
                    </a:lnT>
                    <a:lnB>
                      <a:noFill/>
                    </a:lnB>
                    <a:noFill/>
                  </a:tcPr>
                </a:tc>
                <a:tc>
                  <a:txBody>
                    <a:bodyPr/>
                    <a:lstStyle/>
                    <a:p>
                      <a:pPr>
                        <a:buNone/>
                      </a:pPr>
                      <a:r>
                        <a:rPr lang="en-US" sz="1600">
                          <a:latin typeface="Arial Black" panose="020B0A04020102020204" pitchFamily="34" charset="0"/>
                        </a:rPr>
                        <a:t>Strong correlation between Sex and Survived.</a:t>
                      </a:r>
                    </a:p>
                  </a:txBody>
                  <a:tcPr marL="80580" marR="80580" marT="40290" marB="40290" anchor="ctr">
                    <a:lnL>
                      <a:noFill/>
                    </a:lnL>
                    <a:lnR>
                      <a:noFill/>
                    </a:lnR>
                    <a:lnT>
                      <a:noFill/>
                    </a:lnT>
                    <a:lnB>
                      <a:noFill/>
                    </a:lnB>
                    <a:noFill/>
                  </a:tcPr>
                </a:tc>
                <a:tc>
                  <a:txBody>
                    <a:bodyPr/>
                    <a:lstStyle/>
                    <a:p>
                      <a:pPr>
                        <a:buNone/>
                      </a:pPr>
                      <a:r>
                        <a:rPr lang="en-US" sz="1600" dirty="0">
                          <a:latin typeface="Arial Black" panose="020B0A04020102020204" pitchFamily="34" charset="0"/>
                        </a:rPr>
                        <a:t>Heatmap of feature correlations</a:t>
                      </a:r>
                    </a:p>
                  </a:txBody>
                  <a:tcPr marL="80580" marR="80580" marT="40290" marB="40290" anchor="ctr">
                    <a:lnL>
                      <a:noFill/>
                    </a:lnL>
                    <a:lnR>
                      <a:noFill/>
                    </a:lnR>
                    <a:lnT>
                      <a:noFill/>
                    </a:lnT>
                    <a:lnB>
                      <a:noFill/>
                    </a:lnB>
                    <a:noFill/>
                  </a:tcPr>
                </a:tc>
                <a:extLst>
                  <a:ext uri="{0D108BD9-81ED-4DB2-BD59-A6C34878D82A}">
                    <a16:rowId xmlns:a16="http://schemas.microsoft.com/office/drawing/2014/main" val="928335175"/>
                  </a:ext>
                </a:extLst>
              </a:tr>
              <a:tr h="564062">
                <a:tc>
                  <a:txBody>
                    <a:bodyPr/>
                    <a:lstStyle/>
                    <a:p>
                      <a:pPr>
                        <a:buNone/>
                      </a:pPr>
                      <a:r>
                        <a:rPr lang="en-US" sz="1600" b="1">
                          <a:latin typeface="Arial Black" panose="020B0A04020102020204" pitchFamily="34" charset="0"/>
                        </a:rPr>
                        <a:t>p‑Value &amp; Hypothesis Testing</a:t>
                      </a:r>
                      <a:endParaRPr lang="en-US" sz="1600">
                        <a:latin typeface="Arial Black" panose="020B0A04020102020204" pitchFamily="34" charset="0"/>
                      </a:endParaRPr>
                    </a:p>
                  </a:txBody>
                  <a:tcPr marL="80580" marR="80580" marT="40290" marB="40290" anchor="ctr">
                    <a:lnL>
                      <a:noFill/>
                    </a:lnL>
                    <a:lnR>
                      <a:noFill/>
                    </a:lnR>
                    <a:lnT>
                      <a:noFill/>
                    </a:lnT>
                    <a:lnB>
                      <a:noFill/>
                    </a:lnB>
                    <a:noFill/>
                  </a:tcPr>
                </a:tc>
                <a:tc>
                  <a:txBody>
                    <a:bodyPr/>
                    <a:lstStyle/>
                    <a:p>
                      <a:pPr>
                        <a:buNone/>
                      </a:pPr>
                      <a:r>
                        <a:rPr lang="en-US" sz="1600">
                          <a:latin typeface="Arial Black" panose="020B0A04020102020204" pitchFamily="34" charset="0"/>
                        </a:rPr>
                        <a:t>Tests significance of observed differences.</a:t>
                      </a:r>
                    </a:p>
                  </a:txBody>
                  <a:tcPr marL="80580" marR="80580" marT="40290" marB="40290" anchor="ctr">
                    <a:lnL>
                      <a:noFill/>
                    </a:lnL>
                    <a:lnR>
                      <a:noFill/>
                    </a:lnR>
                    <a:lnT>
                      <a:noFill/>
                    </a:lnT>
                    <a:lnB>
                      <a:noFill/>
                    </a:lnB>
                    <a:noFill/>
                  </a:tcPr>
                </a:tc>
                <a:tc>
                  <a:txBody>
                    <a:bodyPr/>
                    <a:lstStyle/>
                    <a:p>
                      <a:pPr>
                        <a:buNone/>
                      </a:pPr>
                      <a:r>
                        <a:rPr lang="en-US" sz="1600">
                          <a:latin typeface="Arial Black" panose="020B0A04020102020204" pitchFamily="34" charset="0"/>
                        </a:rPr>
                        <a:t>p &lt; 0.01 → women had higher survival rates.</a:t>
                      </a:r>
                    </a:p>
                  </a:txBody>
                  <a:tcPr marL="80580" marR="80580" marT="40290" marB="40290" anchor="ctr">
                    <a:lnL>
                      <a:noFill/>
                    </a:lnL>
                    <a:lnR>
                      <a:noFill/>
                    </a:lnR>
                    <a:lnT>
                      <a:noFill/>
                    </a:lnT>
                    <a:lnB>
                      <a:noFill/>
                    </a:lnB>
                    <a:noFill/>
                  </a:tcPr>
                </a:tc>
                <a:tc>
                  <a:txBody>
                    <a:bodyPr/>
                    <a:lstStyle/>
                    <a:p>
                      <a:pPr>
                        <a:buNone/>
                      </a:pPr>
                      <a:r>
                        <a:rPr lang="en-US" sz="1600" dirty="0">
                          <a:latin typeface="Arial Black" panose="020B0A04020102020204" pitchFamily="34" charset="0"/>
                        </a:rPr>
                        <a:t>Pie chart of survival by gender</a:t>
                      </a:r>
                    </a:p>
                  </a:txBody>
                  <a:tcPr marL="80580" marR="80580" marT="40290" marB="40290" anchor="ctr">
                    <a:lnL>
                      <a:noFill/>
                    </a:lnL>
                    <a:lnR>
                      <a:noFill/>
                    </a:lnR>
                    <a:lnT>
                      <a:noFill/>
                    </a:lnT>
                    <a:lnB>
                      <a:noFill/>
                    </a:lnB>
                    <a:noFill/>
                  </a:tcPr>
                </a:tc>
                <a:extLst>
                  <a:ext uri="{0D108BD9-81ED-4DB2-BD59-A6C34878D82A}">
                    <a16:rowId xmlns:a16="http://schemas.microsoft.com/office/drawing/2014/main" val="4081667262"/>
                  </a:ext>
                </a:extLst>
              </a:tr>
              <a:tr h="805803">
                <a:tc>
                  <a:txBody>
                    <a:bodyPr/>
                    <a:lstStyle/>
                    <a:p>
                      <a:pPr>
                        <a:buNone/>
                      </a:pPr>
                      <a:r>
                        <a:rPr lang="en-US" sz="1600" b="1">
                          <a:latin typeface="Arial Black" panose="020B0A04020102020204" pitchFamily="34" charset="0"/>
                        </a:rPr>
                        <a:t>Regression</a:t>
                      </a:r>
                      <a:endParaRPr lang="en-US" sz="1600">
                        <a:latin typeface="Arial Black" panose="020B0A04020102020204" pitchFamily="34" charset="0"/>
                      </a:endParaRPr>
                    </a:p>
                  </a:txBody>
                  <a:tcPr marL="80580" marR="80580" marT="40290" marB="40290" anchor="ctr">
                    <a:lnL>
                      <a:noFill/>
                    </a:lnL>
                    <a:lnR>
                      <a:noFill/>
                    </a:lnR>
                    <a:lnT>
                      <a:noFill/>
                    </a:lnT>
                    <a:lnB>
                      <a:noFill/>
                    </a:lnB>
                    <a:noFill/>
                  </a:tcPr>
                </a:tc>
                <a:tc>
                  <a:txBody>
                    <a:bodyPr/>
                    <a:lstStyle/>
                    <a:p>
                      <a:pPr>
                        <a:buNone/>
                      </a:pPr>
                      <a:r>
                        <a:rPr lang="en-US" sz="1600">
                          <a:latin typeface="Arial Black" panose="020B0A04020102020204" pitchFamily="34" charset="0"/>
                        </a:rPr>
                        <a:t>Models relationships and predicts outcomes.</a:t>
                      </a:r>
                    </a:p>
                  </a:txBody>
                  <a:tcPr marL="80580" marR="80580" marT="40290" marB="40290" anchor="ctr">
                    <a:lnL>
                      <a:noFill/>
                    </a:lnL>
                    <a:lnR>
                      <a:noFill/>
                    </a:lnR>
                    <a:lnT>
                      <a:noFill/>
                    </a:lnT>
                    <a:lnB>
                      <a:noFill/>
                    </a:lnB>
                    <a:noFill/>
                  </a:tcPr>
                </a:tc>
                <a:tc>
                  <a:txBody>
                    <a:bodyPr/>
                    <a:lstStyle/>
                    <a:p>
                      <a:pPr>
                        <a:buNone/>
                      </a:pPr>
                      <a:r>
                        <a:rPr lang="en-US" sz="1600">
                          <a:latin typeface="Arial Black" panose="020B0A04020102020204" pitchFamily="34" charset="0"/>
                        </a:rPr>
                        <a:t>Logistic regression predicts survival probability.</a:t>
                      </a:r>
                    </a:p>
                  </a:txBody>
                  <a:tcPr marL="80580" marR="80580" marT="40290" marB="40290" anchor="ctr">
                    <a:lnL>
                      <a:noFill/>
                    </a:lnL>
                    <a:lnR>
                      <a:noFill/>
                    </a:lnR>
                    <a:lnT>
                      <a:noFill/>
                    </a:lnT>
                    <a:lnB>
                      <a:noFill/>
                    </a:lnB>
                    <a:noFill/>
                  </a:tcPr>
                </a:tc>
                <a:tc>
                  <a:txBody>
                    <a:bodyPr/>
                    <a:lstStyle/>
                    <a:p>
                      <a:pPr>
                        <a:buNone/>
                      </a:pPr>
                      <a:r>
                        <a:rPr lang="en-US" sz="1600" dirty="0">
                          <a:latin typeface="Arial Black" panose="020B0A04020102020204" pitchFamily="34" charset="0"/>
                        </a:rPr>
                        <a:t>Scatter plot of Fare vs. Age colored by survival</a:t>
                      </a:r>
                    </a:p>
                  </a:txBody>
                  <a:tcPr marL="80580" marR="80580" marT="40290" marB="40290" anchor="ctr">
                    <a:lnL>
                      <a:noFill/>
                    </a:lnL>
                    <a:lnR>
                      <a:noFill/>
                    </a:lnR>
                    <a:lnT>
                      <a:noFill/>
                    </a:lnT>
                    <a:lnB>
                      <a:noFill/>
                    </a:lnB>
                    <a:noFill/>
                  </a:tcPr>
                </a:tc>
                <a:extLst>
                  <a:ext uri="{0D108BD9-81ED-4DB2-BD59-A6C34878D82A}">
                    <a16:rowId xmlns:a16="http://schemas.microsoft.com/office/drawing/2014/main" val="3803386220"/>
                  </a:ext>
                </a:extLst>
              </a:tr>
            </a:tbl>
          </a:graphicData>
        </a:graphic>
      </p:graphicFrame>
    </p:spTree>
    <p:extLst>
      <p:ext uri="{BB962C8B-B14F-4D97-AF65-F5344CB8AC3E}">
        <p14:creationId xmlns:p14="http://schemas.microsoft.com/office/powerpoint/2010/main" val="1110020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CC41C-9713-5DEB-CFCA-EAEB028E749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C1DE901-4B5A-95DE-10A2-0AE903D1946B}"/>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5" name="TextBox 4">
            <a:extLst>
              <a:ext uri="{FF2B5EF4-FFF2-40B4-BE49-F238E27FC236}">
                <a16:creationId xmlns:a16="http://schemas.microsoft.com/office/drawing/2014/main" id="{367C18C8-F427-950D-BA74-00A3CEE2E951}"/>
              </a:ext>
            </a:extLst>
          </p:cNvPr>
          <p:cNvSpPr txBox="1"/>
          <p:nvPr/>
        </p:nvSpPr>
        <p:spPr>
          <a:xfrm>
            <a:off x="914400" y="1036735"/>
            <a:ext cx="10215716" cy="1569660"/>
          </a:xfrm>
          <a:prstGeom prst="rect">
            <a:avLst/>
          </a:prstGeom>
          <a:noFill/>
        </p:spPr>
        <p:txBody>
          <a:bodyPr wrap="square">
            <a:spAutoFit/>
          </a:bodyPr>
          <a:lstStyle/>
          <a:p>
            <a:pPr>
              <a:buNone/>
            </a:pPr>
            <a:r>
              <a:rPr lang="en-US" sz="1600" b="1" dirty="0">
                <a:solidFill>
                  <a:srgbClr val="FF0000"/>
                </a:solidFill>
                <a:effectLst/>
                <a:latin typeface="Arial Black" panose="020B0A04020102020204" pitchFamily="34" charset="0"/>
              </a:rPr>
              <a:t>Mean &amp; Median:</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Central tendency — e.g., Titanic mean age ≈ 29.7, median fare ≈ 14.45.</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Variance &amp; Std. Deviation:</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Spread of data — fare variability across classes.</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Correlation:</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Relationships — strong link between Sex and Survived.</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p‑Value &amp; Hypothesis Test:</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Significance — p &lt; 0.01 confirms women survived more often.</a:t>
            </a: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Regression:</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Predictive modeling — logistic regression estimates survival probability (e.g., 0.82).</a:t>
            </a:r>
            <a:endParaRPr lang="en-US" sz="1600" dirty="0">
              <a:latin typeface="Arial Black" panose="020B0A04020102020204" pitchFamily="34" charset="0"/>
            </a:endParaRPr>
          </a:p>
        </p:txBody>
      </p:sp>
      <p:sp>
        <p:nvSpPr>
          <p:cNvPr id="8" name="TextBox 7">
            <a:extLst>
              <a:ext uri="{FF2B5EF4-FFF2-40B4-BE49-F238E27FC236}">
                <a16:creationId xmlns:a16="http://schemas.microsoft.com/office/drawing/2014/main" id="{FB2D46B0-C6A6-1613-2454-EEDA844D653A}"/>
              </a:ext>
            </a:extLst>
          </p:cNvPr>
          <p:cNvSpPr txBox="1"/>
          <p:nvPr/>
        </p:nvSpPr>
        <p:spPr>
          <a:xfrm>
            <a:off x="914400" y="2801628"/>
            <a:ext cx="10215716" cy="1569660"/>
          </a:xfrm>
          <a:prstGeom prst="rect">
            <a:avLst/>
          </a:prstGeom>
          <a:noFill/>
        </p:spPr>
        <p:txBody>
          <a:bodyPr wrap="square">
            <a:spAutoFit/>
          </a:bodyPr>
          <a:lstStyle/>
          <a:p>
            <a:pPr algn="just"/>
            <a:r>
              <a:rPr lang="en-US" sz="1600" b="0" i="0" dirty="0">
                <a:solidFill>
                  <a:srgbClr val="000000"/>
                </a:solidFill>
                <a:effectLst/>
                <a:latin typeface="Arial Black" panose="020B0A04020102020204" pitchFamily="34" charset="0"/>
              </a:rPr>
              <a:t>To address these questions, please use statistical analysis to explore the relationships between various variables and the survival outcome. Specifically, you will examine the impact of demographic factors, socio-economic status, and other relevant variables on the likelihood of surviving the Titanic disaster. By applying statistical techniques, you aim to uncover patterns and insights that can enhance our understanding of passenger survival and provide valuable information for future similar scenarios.</a:t>
            </a:r>
            <a:endParaRPr lang="en-US" sz="1600" dirty="0">
              <a:latin typeface="Arial Black" panose="020B0A04020102020204" pitchFamily="34" charset="0"/>
            </a:endParaRPr>
          </a:p>
        </p:txBody>
      </p:sp>
    </p:spTree>
    <p:extLst>
      <p:ext uri="{BB962C8B-B14F-4D97-AF65-F5344CB8AC3E}">
        <p14:creationId xmlns:p14="http://schemas.microsoft.com/office/powerpoint/2010/main" val="148456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321F4-4BED-08A8-F3BE-C96890DE904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F8DED8A-D5F9-3C4E-B11D-B9C3CE1B9E93}"/>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1B85C3C5-F8E1-95B6-2BB4-0B3EA64B26A8}"/>
              </a:ext>
            </a:extLst>
          </p:cNvPr>
          <p:cNvSpPr txBox="1"/>
          <p:nvPr/>
        </p:nvSpPr>
        <p:spPr>
          <a:xfrm>
            <a:off x="993057" y="935364"/>
            <a:ext cx="10205884" cy="400110"/>
          </a:xfrm>
          <a:prstGeom prst="rect">
            <a:avLst/>
          </a:prstGeom>
          <a:noFill/>
        </p:spPr>
        <p:txBody>
          <a:bodyPr wrap="square">
            <a:spAutoFit/>
          </a:bodyPr>
          <a:lstStyle/>
          <a:p>
            <a:r>
              <a:rPr lang="en-US" sz="2000" dirty="0">
                <a:latin typeface="Arial Black" panose="020B0A04020102020204" pitchFamily="34" charset="0"/>
              </a:rPr>
              <a:t>Hands‑On Exercise Sheet: “Exploring Statistics in the Titanic Dataset”</a:t>
            </a:r>
          </a:p>
        </p:txBody>
      </p:sp>
      <p:sp>
        <p:nvSpPr>
          <p:cNvPr id="7" name="TextBox 6">
            <a:extLst>
              <a:ext uri="{FF2B5EF4-FFF2-40B4-BE49-F238E27FC236}">
                <a16:creationId xmlns:a16="http://schemas.microsoft.com/office/drawing/2014/main" id="{4AFF9911-8D76-2AE8-1C00-4A4F4D635EC6}"/>
              </a:ext>
            </a:extLst>
          </p:cNvPr>
          <p:cNvSpPr txBox="1"/>
          <p:nvPr/>
        </p:nvSpPr>
        <p:spPr>
          <a:xfrm>
            <a:off x="658760" y="1511643"/>
            <a:ext cx="10874478" cy="1200329"/>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Objective</a:t>
            </a:r>
          </a:p>
          <a:p>
            <a:pPr>
              <a:buNone/>
            </a:pPr>
            <a:endParaRPr lang="en-US" b="1" dirty="0">
              <a:latin typeface="Arial Black" panose="020B0A04020102020204" pitchFamily="34" charset="0"/>
            </a:endParaRPr>
          </a:p>
          <a:p>
            <a:pPr>
              <a:buNone/>
            </a:pPr>
            <a:r>
              <a:rPr lang="en-US" dirty="0">
                <a:effectLst/>
                <a:latin typeface="Arial Black" panose="020B0A04020102020204" pitchFamily="34" charset="0"/>
              </a:rPr>
              <a:t>Apply key statistical concepts — mean, variance, correlation, hypothesis testing, and regression — to understand survival patterns in the Titanic dataset.</a:t>
            </a:r>
            <a:endParaRPr lang="en-US" dirty="0">
              <a:latin typeface="Arial Black" panose="020B0A04020102020204" pitchFamily="34" charset="0"/>
            </a:endParaRPr>
          </a:p>
        </p:txBody>
      </p:sp>
      <p:sp>
        <p:nvSpPr>
          <p:cNvPr id="10" name="TextBox 9">
            <a:extLst>
              <a:ext uri="{FF2B5EF4-FFF2-40B4-BE49-F238E27FC236}">
                <a16:creationId xmlns:a16="http://schemas.microsoft.com/office/drawing/2014/main" id="{E02AEBFE-8AF7-E1AB-B954-8E4B7675432C}"/>
              </a:ext>
            </a:extLst>
          </p:cNvPr>
          <p:cNvSpPr txBox="1"/>
          <p:nvPr/>
        </p:nvSpPr>
        <p:spPr>
          <a:xfrm>
            <a:off x="565353" y="2711972"/>
            <a:ext cx="11061292" cy="3970318"/>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Part 1: Descriptive Statistics</a:t>
            </a:r>
          </a:p>
          <a:p>
            <a:pPr>
              <a:buNone/>
            </a:pPr>
            <a:endParaRPr lang="en-US" b="1" dirty="0">
              <a:solidFill>
                <a:srgbClr val="FF0000"/>
              </a:solidFill>
            </a:endParaRPr>
          </a:p>
          <a:p>
            <a:r>
              <a:rPr lang="en-US" dirty="0">
                <a:effectLst/>
              </a:rPr>
              <a:t>Load the dataset (</a:t>
            </a:r>
            <a:r>
              <a:rPr lang="en-US" dirty="0">
                <a:effectLst/>
                <a:latin typeface="Courier New" panose="02070309020205020404" pitchFamily="49" charset="0"/>
              </a:rPr>
              <a:t>titanic.csv</a:t>
            </a:r>
            <a:r>
              <a:rPr lang="en-US" dirty="0">
                <a:effectLst/>
              </a:rPr>
              <a:t>).</a:t>
            </a:r>
            <a:endParaRPr lang="en-US" dirty="0"/>
          </a:p>
          <a:p>
            <a:r>
              <a:rPr lang="en-US" dirty="0">
                <a:effectLst/>
              </a:rPr>
              <a:t>Compute:</a:t>
            </a:r>
            <a:endParaRPr lang="en-US" dirty="0"/>
          </a:p>
          <a:p>
            <a:pPr marL="742950" lvl="1" indent="-285750">
              <a:buFont typeface="+mj-lt"/>
              <a:buAutoNum type="arabicPeriod"/>
            </a:pPr>
            <a:r>
              <a:rPr lang="en-US" dirty="0">
                <a:effectLst/>
              </a:rPr>
              <a:t>Mean and median of </a:t>
            </a:r>
            <a:r>
              <a:rPr lang="en-US" dirty="0">
                <a:effectLst/>
                <a:latin typeface="Courier New" panose="02070309020205020404" pitchFamily="49" charset="0"/>
              </a:rPr>
              <a:t>Age</a:t>
            </a:r>
            <a:r>
              <a:rPr lang="en-US" dirty="0">
                <a:effectLst/>
              </a:rPr>
              <a:t> and </a:t>
            </a:r>
            <a:r>
              <a:rPr lang="en-US" dirty="0">
                <a:effectLst/>
                <a:latin typeface="Courier New" panose="02070309020205020404" pitchFamily="49" charset="0"/>
              </a:rPr>
              <a:t>Fare</a:t>
            </a:r>
            <a:r>
              <a:rPr lang="en-US" dirty="0">
                <a:effectLst/>
              </a:rPr>
              <a:t>.</a:t>
            </a:r>
            <a:endParaRPr lang="en-US" dirty="0"/>
          </a:p>
          <a:p>
            <a:pPr marL="742950" lvl="1" indent="-285750">
              <a:buFont typeface="+mj-lt"/>
              <a:buAutoNum type="arabicPeriod"/>
            </a:pPr>
            <a:r>
              <a:rPr lang="en-US" dirty="0">
                <a:effectLst/>
              </a:rPr>
              <a:t>Survival rate (</a:t>
            </a:r>
            <a:r>
              <a:rPr lang="en-US" dirty="0">
                <a:effectLst/>
                <a:latin typeface="Courier New" panose="02070309020205020404" pitchFamily="49" charset="0"/>
              </a:rPr>
              <a:t>Survived</a:t>
            </a:r>
            <a:r>
              <a:rPr lang="en-US" dirty="0">
                <a:effectLst/>
              </a:rPr>
              <a:t> column).</a:t>
            </a:r>
            <a:endParaRPr lang="en-US" dirty="0"/>
          </a:p>
          <a:p>
            <a:r>
              <a:rPr lang="en-US" dirty="0">
                <a:effectLst/>
              </a:rPr>
              <a:t>Plot a histogram of passenger ages.</a:t>
            </a:r>
            <a:endParaRPr lang="en-US" dirty="0"/>
          </a:p>
          <a:p>
            <a:r>
              <a:rPr lang="en-US" dirty="0"/>
              <a:t>python</a:t>
            </a:r>
          </a:p>
          <a:p>
            <a:r>
              <a:rPr lang="en-US" dirty="0">
                <a:effectLst/>
                <a:latin typeface="Courier New" panose="02070309020205020404" pitchFamily="49" charset="0"/>
              </a:rPr>
              <a:t>import pandas as pd, </a:t>
            </a:r>
            <a:r>
              <a:rPr lang="en-US" dirty="0" err="1">
                <a:effectLst/>
                <a:latin typeface="Courier New" panose="02070309020205020404" pitchFamily="49" charset="0"/>
              </a:rPr>
              <a:t>matplotlib.pyplot</a:t>
            </a:r>
            <a:r>
              <a:rPr lang="en-US" dirty="0">
                <a:effectLst/>
                <a:latin typeface="Courier New" panose="02070309020205020404" pitchFamily="49" charset="0"/>
              </a:rPr>
              <a:t> as </a:t>
            </a:r>
            <a:r>
              <a:rPr lang="en-US" dirty="0" err="1">
                <a:effectLst/>
                <a:latin typeface="Courier New" panose="02070309020205020404" pitchFamily="49" charset="0"/>
              </a:rPr>
              <a:t>plt</a:t>
            </a:r>
            <a:endParaRPr lang="en-US" dirty="0">
              <a:effectLst/>
              <a:latin typeface="Courier New" panose="02070309020205020404" pitchFamily="49" charset="0"/>
            </a:endParaRPr>
          </a:p>
          <a:p>
            <a:r>
              <a:rPr lang="en-US" dirty="0" err="1">
                <a:effectLst/>
                <a:latin typeface="Courier New" panose="02070309020205020404" pitchFamily="49" charset="0"/>
              </a:rPr>
              <a:t>df</a:t>
            </a:r>
            <a:r>
              <a:rPr lang="en-US" dirty="0">
                <a:effectLst/>
                <a:latin typeface="Courier New" panose="02070309020205020404" pitchFamily="49" charset="0"/>
              </a:rPr>
              <a:t> = </a:t>
            </a:r>
            <a:r>
              <a:rPr lang="en-US" dirty="0" err="1">
                <a:effectLst/>
                <a:latin typeface="Courier New" panose="02070309020205020404" pitchFamily="49" charset="0"/>
              </a:rPr>
              <a:t>pd.read_csv</a:t>
            </a:r>
            <a:r>
              <a:rPr lang="en-US" dirty="0">
                <a:effectLst/>
                <a:latin typeface="Courier New" panose="02070309020205020404" pitchFamily="49" charset="0"/>
              </a:rPr>
              <a:t>('titanic.csv')</a:t>
            </a:r>
          </a:p>
          <a:p>
            <a:r>
              <a:rPr lang="en-US" dirty="0">
                <a:effectLst/>
                <a:latin typeface="Courier New" panose="02070309020205020404" pitchFamily="49" charset="0"/>
              </a:rPr>
              <a:t>print(</a:t>
            </a:r>
            <a:r>
              <a:rPr lang="en-US" dirty="0" err="1">
                <a:effectLst/>
                <a:latin typeface="Courier New" panose="02070309020205020404" pitchFamily="49" charset="0"/>
              </a:rPr>
              <a:t>df</a:t>
            </a:r>
            <a:r>
              <a:rPr lang="en-US" dirty="0">
                <a:effectLst/>
                <a:latin typeface="Courier New" panose="02070309020205020404" pitchFamily="49" charset="0"/>
              </a:rPr>
              <a:t>['Age'].mean(), </a:t>
            </a:r>
            <a:r>
              <a:rPr lang="en-US" dirty="0" err="1">
                <a:effectLst/>
                <a:latin typeface="Courier New" panose="02070309020205020404" pitchFamily="49" charset="0"/>
              </a:rPr>
              <a:t>df</a:t>
            </a:r>
            <a:r>
              <a:rPr lang="en-US" dirty="0">
                <a:effectLst/>
                <a:latin typeface="Courier New" panose="02070309020205020404" pitchFamily="49" charset="0"/>
              </a:rPr>
              <a:t>['Age'].median())</a:t>
            </a:r>
          </a:p>
          <a:p>
            <a:r>
              <a:rPr lang="en-US" dirty="0" err="1">
                <a:effectLst/>
                <a:latin typeface="Courier New" panose="02070309020205020404" pitchFamily="49" charset="0"/>
              </a:rPr>
              <a:t>plt.hist</a:t>
            </a:r>
            <a:r>
              <a:rPr lang="en-US" dirty="0">
                <a:effectLst/>
                <a:latin typeface="Courier New" panose="02070309020205020404" pitchFamily="49" charset="0"/>
              </a:rPr>
              <a:t>(</a:t>
            </a:r>
            <a:r>
              <a:rPr lang="en-US" dirty="0" err="1">
                <a:effectLst/>
                <a:latin typeface="Courier New" panose="02070309020205020404" pitchFamily="49" charset="0"/>
              </a:rPr>
              <a:t>df</a:t>
            </a:r>
            <a:r>
              <a:rPr lang="en-US" dirty="0">
                <a:effectLst/>
                <a:latin typeface="Courier New" panose="02070309020205020404" pitchFamily="49" charset="0"/>
              </a:rPr>
              <a:t>['Age'], bins=20, color='</a:t>
            </a:r>
            <a:r>
              <a:rPr lang="en-US" dirty="0" err="1">
                <a:effectLst/>
                <a:latin typeface="Courier New" panose="02070309020205020404" pitchFamily="49" charset="0"/>
              </a:rPr>
              <a:t>skyblue</a:t>
            </a:r>
            <a:r>
              <a:rPr lang="en-US" dirty="0">
                <a:effectLst/>
                <a:latin typeface="Courier New" panose="02070309020205020404" pitchFamily="49" charset="0"/>
              </a:rPr>
              <a:t>')</a:t>
            </a:r>
          </a:p>
          <a:p>
            <a:r>
              <a:rPr lang="en-US" dirty="0" err="1">
                <a:effectLst/>
                <a:latin typeface="Courier New" panose="02070309020205020404" pitchFamily="49" charset="0"/>
              </a:rPr>
              <a:t>plt.title</a:t>
            </a:r>
            <a:r>
              <a:rPr lang="en-US" dirty="0">
                <a:effectLst/>
                <a:latin typeface="Courier New" panose="02070309020205020404" pitchFamily="49" charset="0"/>
              </a:rPr>
              <a:t>('Age Distribution of Passengers')</a:t>
            </a:r>
          </a:p>
          <a:p>
            <a:r>
              <a:rPr lang="en-US" dirty="0" err="1">
                <a:effectLst/>
                <a:latin typeface="Courier New" panose="02070309020205020404" pitchFamily="49" charset="0"/>
              </a:rPr>
              <a:t>plt.show</a:t>
            </a:r>
            <a:r>
              <a:rPr lang="en-US" dirty="0">
                <a:effectLst/>
                <a:latin typeface="Courier New" panose="02070309020205020404" pitchFamily="49" charset="0"/>
              </a:rPr>
              <a:t>()</a:t>
            </a:r>
          </a:p>
        </p:txBody>
      </p:sp>
    </p:spTree>
    <p:extLst>
      <p:ext uri="{BB962C8B-B14F-4D97-AF65-F5344CB8AC3E}">
        <p14:creationId xmlns:p14="http://schemas.microsoft.com/office/powerpoint/2010/main" val="2661616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C0B4A-5965-0C8A-606B-A0D7D9C6BFB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B2A6C80-9CA1-B1C9-1A00-2543F5CF33B1}"/>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70E2B0B9-B543-24DB-CDEF-F05E4A259F00}"/>
              </a:ext>
            </a:extLst>
          </p:cNvPr>
          <p:cNvSpPr txBox="1"/>
          <p:nvPr/>
        </p:nvSpPr>
        <p:spPr>
          <a:xfrm>
            <a:off x="993057" y="935364"/>
            <a:ext cx="10205884" cy="400110"/>
          </a:xfrm>
          <a:prstGeom prst="rect">
            <a:avLst/>
          </a:prstGeom>
          <a:noFill/>
        </p:spPr>
        <p:txBody>
          <a:bodyPr wrap="square">
            <a:spAutoFit/>
          </a:bodyPr>
          <a:lstStyle/>
          <a:p>
            <a:r>
              <a:rPr lang="en-US" sz="2000" dirty="0">
                <a:latin typeface="Arial Black" panose="020B0A04020102020204" pitchFamily="34" charset="0"/>
              </a:rPr>
              <a:t>Hands‑On Exercise Sheet: “Exploring Statistics in the Titanic Dataset”</a:t>
            </a:r>
          </a:p>
        </p:txBody>
      </p:sp>
      <p:sp>
        <p:nvSpPr>
          <p:cNvPr id="4" name="TextBox 3">
            <a:extLst>
              <a:ext uri="{FF2B5EF4-FFF2-40B4-BE49-F238E27FC236}">
                <a16:creationId xmlns:a16="http://schemas.microsoft.com/office/drawing/2014/main" id="{BCCB2BD4-2853-47A6-95BF-DE9D8BC9A85D}"/>
              </a:ext>
            </a:extLst>
          </p:cNvPr>
          <p:cNvSpPr txBox="1"/>
          <p:nvPr/>
        </p:nvSpPr>
        <p:spPr>
          <a:xfrm>
            <a:off x="471947" y="1675319"/>
            <a:ext cx="11248103" cy="5078313"/>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Part 2: Variance &amp; Correlation</a:t>
            </a:r>
          </a:p>
          <a:p>
            <a:pPr algn="ctr">
              <a:buNone/>
            </a:pPr>
            <a:endParaRPr lang="en-US" b="1" dirty="0">
              <a:solidFill>
                <a:srgbClr val="FF0000"/>
              </a:solidFill>
              <a:latin typeface="Arial Black" panose="020B0A04020102020204" pitchFamily="34" charset="0"/>
            </a:endParaRPr>
          </a:p>
          <a:p>
            <a:r>
              <a:rPr lang="en-US" dirty="0">
                <a:effectLst/>
              </a:rPr>
              <a:t>Calculate variance and standard deviation of </a:t>
            </a:r>
            <a:r>
              <a:rPr lang="en-US" dirty="0">
                <a:effectLst/>
                <a:latin typeface="Courier New" panose="02070309020205020404" pitchFamily="49" charset="0"/>
              </a:rPr>
              <a:t>Fare</a:t>
            </a:r>
            <a:r>
              <a:rPr lang="en-US" dirty="0">
                <a:effectLst/>
              </a:rPr>
              <a:t>.</a:t>
            </a:r>
            <a:endParaRPr lang="en-US" dirty="0"/>
          </a:p>
          <a:p>
            <a:r>
              <a:rPr lang="en-US" dirty="0">
                <a:effectLst/>
              </a:rPr>
              <a:t>Create a correlation heatmap for selected features (</a:t>
            </a:r>
            <a:r>
              <a:rPr lang="en-US" dirty="0">
                <a:effectLst/>
                <a:latin typeface="Courier New" panose="02070309020205020404" pitchFamily="49" charset="0"/>
              </a:rPr>
              <a:t>Age</a:t>
            </a:r>
            <a:r>
              <a:rPr lang="en-US" dirty="0">
                <a:effectLst/>
              </a:rPr>
              <a:t>, </a:t>
            </a:r>
            <a:r>
              <a:rPr lang="en-US" dirty="0">
                <a:effectLst/>
                <a:latin typeface="Courier New" panose="02070309020205020404" pitchFamily="49" charset="0"/>
              </a:rPr>
              <a:t>Fare</a:t>
            </a:r>
            <a:r>
              <a:rPr lang="en-US" dirty="0">
                <a:effectLst/>
              </a:rPr>
              <a:t>, </a:t>
            </a:r>
            <a:r>
              <a:rPr lang="en-US" dirty="0">
                <a:effectLst/>
                <a:latin typeface="Courier New" panose="02070309020205020404" pitchFamily="49" charset="0"/>
              </a:rPr>
              <a:t>Sex</a:t>
            </a:r>
            <a:r>
              <a:rPr lang="en-US" dirty="0">
                <a:effectLst/>
              </a:rPr>
              <a:t>, </a:t>
            </a:r>
            <a:r>
              <a:rPr lang="en-US" dirty="0" err="1">
                <a:effectLst/>
                <a:latin typeface="Courier New" panose="02070309020205020404" pitchFamily="49" charset="0"/>
              </a:rPr>
              <a:t>Pclass</a:t>
            </a:r>
            <a:r>
              <a:rPr lang="en-US" dirty="0">
                <a:effectLst/>
              </a:rPr>
              <a:t>, </a:t>
            </a:r>
            <a:r>
              <a:rPr lang="en-US" dirty="0">
                <a:effectLst/>
                <a:latin typeface="Courier New" panose="02070309020205020404" pitchFamily="49" charset="0"/>
              </a:rPr>
              <a:t>Survived</a:t>
            </a:r>
            <a:r>
              <a:rPr lang="en-US" dirty="0">
                <a:effectLst/>
              </a:rPr>
              <a:t>).</a:t>
            </a:r>
            <a:endParaRPr lang="en-US" dirty="0"/>
          </a:p>
          <a:p>
            <a:r>
              <a:rPr lang="en-US" dirty="0"/>
              <a:t>python</a:t>
            </a:r>
          </a:p>
          <a:p>
            <a:r>
              <a:rPr lang="en-US" dirty="0">
                <a:effectLst/>
                <a:latin typeface="Courier New" panose="02070309020205020404" pitchFamily="49" charset="0"/>
              </a:rPr>
              <a:t>import seaborn as </a:t>
            </a:r>
            <a:r>
              <a:rPr lang="en-US" dirty="0" err="1">
                <a:effectLst/>
                <a:latin typeface="Courier New" panose="02070309020205020404" pitchFamily="49" charset="0"/>
              </a:rPr>
              <a:t>sns</a:t>
            </a:r>
            <a:endParaRPr lang="en-US" dirty="0">
              <a:effectLst/>
              <a:latin typeface="Courier New" panose="02070309020205020404" pitchFamily="49" charset="0"/>
            </a:endParaRPr>
          </a:p>
          <a:p>
            <a:r>
              <a:rPr lang="en-US" dirty="0" err="1">
                <a:effectLst/>
                <a:latin typeface="Courier New" panose="02070309020205020404" pitchFamily="49" charset="0"/>
              </a:rPr>
              <a:t>sns.heatmap</a:t>
            </a:r>
            <a:r>
              <a:rPr lang="en-US" dirty="0">
                <a:effectLst/>
                <a:latin typeface="Courier New" panose="02070309020205020404" pitchFamily="49" charset="0"/>
              </a:rPr>
              <a:t>(</a:t>
            </a:r>
            <a:r>
              <a:rPr lang="en-US" dirty="0" err="1">
                <a:effectLst/>
                <a:latin typeface="Courier New" panose="02070309020205020404" pitchFamily="49" charset="0"/>
              </a:rPr>
              <a:t>df</a:t>
            </a:r>
            <a:r>
              <a:rPr lang="en-US" dirty="0">
                <a:effectLst/>
                <a:latin typeface="Courier New" panose="02070309020205020404" pitchFamily="49" charset="0"/>
              </a:rPr>
              <a:t>[['Age','Fare','</a:t>
            </a:r>
            <a:r>
              <a:rPr lang="en-US" dirty="0" err="1">
                <a:effectLst/>
                <a:latin typeface="Courier New" panose="02070309020205020404" pitchFamily="49" charset="0"/>
              </a:rPr>
              <a:t>Pclass</a:t>
            </a:r>
            <a:r>
              <a:rPr lang="en-US" dirty="0">
                <a:effectLst/>
                <a:latin typeface="Courier New" panose="02070309020205020404" pitchFamily="49" charset="0"/>
              </a:rPr>
              <a:t>','Survived']].</a:t>
            </a:r>
            <a:r>
              <a:rPr lang="en-US" dirty="0" err="1">
                <a:effectLst/>
                <a:latin typeface="Courier New" panose="02070309020205020404" pitchFamily="49" charset="0"/>
              </a:rPr>
              <a:t>corr</a:t>
            </a:r>
            <a:r>
              <a:rPr lang="en-US" dirty="0">
                <a:effectLst/>
                <a:latin typeface="Courier New" panose="02070309020205020404" pitchFamily="49" charset="0"/>
              </a:rPr>
              <a:t>(), </a:t>
            </a:r>
            <a:r>
              <a:rPr lang="en-US" dirty="0" err="1">
                <a:effectLst/>
                <a:latin typeface="Courier New" panose="02070309020205020404" pitchFamily="49" charset="0"/>
              </a:rPr>
              <a:t>annot</a:t>
            </a:r>
            <a:r>
              <a:rPr lang="en-US" dirty="0">
                <a:effectLst/>
                <a:latin typeface="Courier New" panose="02070309020205020404" pitchFamily="49" charset="0"/>
              </a:rPr>
              <a:t>=True, </a:t>
            </a:r>
            <a:r>
              <a:rPr lang="en-US" dirty="0" err="1">
                <a:effectLst/>
                <a:latin typeface="Courier New" panose="02070309020205020404" pitchFamily="49" charset="0"/>
              </a:rPr>
              <a:t>cmap</a:t>
            </a:r>
            <a:r>
              <a:rPr lang="en-US" dirty="0">
                <a:effectLst/>
                <a:latin typeface="Courier New" panose="02070309020205020404" pitchFamily="49" charset="0"/>
              </a:rPr>
              <a:t>='</a:t>
            </a:r>
            <a:r>
              <a:rPr lang="en-US" dirty="0" err="1">
                <a:effectLst/>
                <a:latin typeface="Courier New" panose="02070309020205020404" pitchFamily="49" charset="0"/>
              </a:rPr>
              <a:t>coolwarm</a:t>
            </a:r>
            <a:r>
              <a:rPr lang="en-US" dirty="0">
                <a:effectLst/>
                <a:latin typeface="Courier New" panose="02070309020205020404" pitchFamily="49" charset="0"/>
              </a:rPr>
              <a:t>’)</a:t>
            </a:r>
          </a:p>
          <a:p>
            <a:pPr>
              <a:buFont typeface="+mj-lt"/>
              <a:buAutoNum type="arabicPeriod"/>
            </a:pPr>
            <a:endParaRPr lang="en-US" dirty="0">
              <a:effectLst/>
              <a:latin typeface="Courier New" panose="02070309020205020404" pitchFamily="49" charset="0"/>
            </a:endParaRPr>
          </a:p>
          <a:p>
            <a:pPr algn="ctr">
              <a:buNone/>
            </a:pPr>
            <a:r>
              <a:rPr lang="en-US" b="1" dirty="0">
                <a:solidFill>
                  <a:srgbClr val="FF0000"/>
                </a:solidFill>
                <a:latin typeface="Arial Black" panose="020B0A04020102020204" pitchFamily="34" charset="0"/>
              </a:rPr>
              <a:t>Part 3: Hypothesis Testing</a:t>
            </a:r>
          </a:p>
          <a:p>
            <a:pPr>
              <a:buNone/>
            </a:pPr>
            <a:endParaRPr lang="en-US" b="1" dirty="0"/>
          </a:p>
          <a:p>
            <a:pPr>
              <a:buNone/>
            </a:pPr>
            <a:r>
              <a:rPr lang="en-US" dirty="0">
                <a:effectLst/>
              </a:rPr>
              <a:t>Test whether women had a higher survival rate than men.</a:t>
            </a:r>
            <a:endParaRPr lang="en-US" dirty="0"/>
          </a:p>
          <a:p>
            <a:pPr>
              <a:buNone/>
            </a:pPr>
            <a:r>
              <a:rPr lang="en-US" dirty="0"/>
              <a:t>python</a:t>
            </a:r>
          </a:p>
          <a:p>
            <a:pPr>
              <a:buNone/>
            </a:pPr>
            <a:r>
              <a:rPr lang="en-US" dirty="0">
                <a:effectLst/>
                <a:latin typeface="Courier New" panose="02070309020205020404" pitchFamily="49" charset="0"/>
              </a:rPr>
              <a:t>from </a:t>
            </a:r>
            <a:r>
              <a:rPr lang="en-US" dirty="0" err="1">
                <a:effectLst/>
                <a:latin typeface="Courier New" panose="02070309020205020404" pitchFamily="49" charset="0"/>
              </a:rPr>
              <a:t>scipy.stats</a:t>
            </a:r>
            <a:r>
              <a:rPr lang="en-US" dirty="0">
                <a:effectLst/>
                <a:latin typeface="Courier New" panose="02070309020205020404" pitchFamily="49" charset="0"/>
              </a:rPr>
              <a:t> import </a:t>
            </a:r>
            <a:r>
              <a:rPr lang="en-US" dirty="0" err="1">
                <a:effectLst/>
                <a:latin typeface="Courier New" panose="02070309020205020404" pitchFamily="49" charset="0"/>
              </a:rPr>
              <a:t>ttest_ind</a:t>
            </a:r>
            <a:endParaRPr lang="en-US" dirty="0">
              <a:effectLst/>
              <a:latin typeface="Courier New" panose="02070309020205020404" pitchFamily="49" charset="0"/>
            </a:endParaRPr>
          </a:p>
          <a:p>
            <a:pPr>
              <a:buNone/>
            </a:pPr>
            <a:r>
              <a:rPr lang="en-US" dirty="0">
                <a:effectLst/>
                <a:latin typeface="Courier New" panose="02070309020205020404" pitchFamily="49" charset="0"/>
              </a:rPr>
              <a:t>male = </a:t>
            </a:r>
            <a:r>
              <a:rPr lang="en-US" dirty="0" err="1">
                <a:effectLst/>
                <a:latin typeface="Courier New" panose="02070309020205020404" pitchFamily="49" charset="0"/>
              </a:rPr>
              <a:t>df</a:t>
            </a:r>
            <a:r>
              <a:rPr lang="en-US" dirty="0">
                <a:effectLst/>
                <a:latin typeface="Courier New" panose="02070309020205020404" pitchFamily="49" charset="0"/>
              </a:rPr>
              <a:t>[</a:t>
            </a:r>
            <a:r>
              <a:rPr lang="en-US" dirty="0" err="1">
                <a:effectLst/>
                <a:latin typeface="Courier New" panose="02070309020205020404" pitchFamily="49" charset="0"/>
              </a:rPr>
              <a:t>df</a:t>
            </a:r>
            <a:r>
              <a:rPr lang="en-US" dirty="0">
                <a:effectLst/>
                <a:latin typeface="Courier New" panose="02070309020205020404" pitchFamily="49" charset="0"/>
              </a:rPr>
              <a:t>['Sex']=='male']['Survived']</a:t>
            </a:r>
          </a:p>
          <a:p>
            <a:pPr>
              <a:buNone/>
            </a:pPr>
            <a:r>
              <a:rPr lang="en-US" dirty="0">
                <a:effectLst/>
                <a:latin typeface="Courier New" panose="02070309020205020404" pitchFamily="49" charset="0"/>
              </a:rPr>
              <a:t>female = </a:t>
            </a:r>
            <a:r>
              <a:rPr lang="en-US" dirty="0" err="1">
                <a:effectLst/>
                <a:latin typeface="Courier New" panose="02070309020205020404" pitchFamily="49" charset="0"/>
              </a:rPr>
              <a:t>df</a:t>
            </a:r>
            <a:r>
              <a:rPr lang="en-US" dirty="0">
                <a:effectLst/>
                <a:latin typeface="Courier New" panose="02070309020205020404" pitchFamily="49" charset="0"/>
              </a:rPr>
              <a:t>[</a:t>
            </a:r>
            <a:r>
              <a:rPr lang="en-US" dirty="0" err="1">
                <a:effectLst/>
                <a:latin typeface="Courier New" panose="02070309020205020404" pitchFamily="49" charset="0"/>
              </a:rPr>
              <a:t>df</a:t>
            </a:r>
            <a:r>
              <a:rPr lang="en-US" dirty="0">
                <a:effectLst/>
                <a:latin typeface="Courier New" panose="02070309020205020404" pitchFamily="49" charset="0"/>
              </a:rPr>
              <a:t>['Sex']=='female']['Survived']</a:t>
            </a:r>
          </a:p>
          <a:p>
            <a:pPr>
              <a:buNone/>
            </a:pPr>
            <a:r>
              <a:rPr lang="en-US" dirty="0">
                <a:effectLst/>
                <a:latin typeface="Courier New" panose="02070309020205020404" pitchFamily="49" charset="0"/>
              </a:rPr>
              <a:t>print(</a:t>
            </a:r>
            <a:r>
              <a:rPr lang="en-US" dirty="0" err="1">
                <a:effectLst/>
                <a:latin typeface="Courier New" panose="02070309020205020404" pitchFamily="49" charset="0"/>
              </a:rPr>
              <a:t>ttest_ind</a:t>
            </a:r>
            <a:r>
              <a:rPr lang="en-US" dirty="0">
                <a:effectLst/>
                <a:latin typeface="Courier New" panose="02070309020205020404" pitchFamily="49" charset="0"/>
              </a:rPr>
              <a:t>(female, male))</a:t>
            </a:r>
          </a:p>
          <a:p>
            <a:pPr>
              <a:buNone/>
            </a:pPr>
            <a:r>
              <a:rPr lang="en-US" dirty="0">
                <a:effectLst/>
              </a:rPr>
              <a:t>Interpret the p‑value: if p &lt; 0.05, the difference is statistically significant.</a:t>
            </a:r>
            <a:endParaRPr lang="en-US" dirty="0"/>
          </a:p>
        </p:txBody>
      </p:sp>
    </p:spTree>
    <p:extLst>
      <p:ext uri="{BB962C8B-B14F-4D97-AF65-F5344CB8AC3E}">
        <p14:creationId xmlns:p14="http://schemas.microsoft.com/office/powerpoint/2010/main" val="3000329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A5E83-F811-4376-8320-091A699061B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1A74774-D0F9-4223-040C-F7F12813416A}"/>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9B7F019B-5ED3-E579-5255-406E74021914}"/>
              </a:ext>
            </a:extLst>
          </p:cNvPr>
          <p:cNvSpPr txBox="1"/>
          <p:nvPr/>
        </p:nvSpPr>
        <p:spPr>
          <a:xfrm>
            <a:off x="993057" y="935364"/>
            <a:ext cx="10205884" cy="400110"/>
          </a:xfrm>
          <a:prstGeom prst="rect">
            <a:avLst/>
          </a:prstGeom>
          <a:noFill/>
        </p:spPr>
        <p:txBody>
          <a:bodyPr wrap="square">
            <a:spAutoFit/>
          </a:bodyPr>
          <a:lstStyle/>
          <a:p>
            <a:r>
              <a:rPr lang="en-US" sz="2000" dirty="0">
                <a:latin typeface="Arial Black" panose="020B0A04020102020204" pitchFamily="34" charset="0"/>
              </a:rPr>
              <a:t>Hands‑On Exercise Sheet: “Exploring Statistics in the Titanic Dataset”</a:t>
            </a:r>
          </a:p>
        </p:txBody>
      </p:sp>
      <p:sp>
        <p:nvSpPr>
          <p:cNvPr id="5" name="TextBox 4">
            <a:extLst>
              <a:ext uri="{FF2B5EF4-FFF2-40B4-BE49-F238E27FC236}">
                <a16:creationId xmlns:a16="http://schemas.microsoft.com/office/drawing/2014/main" id="{A0AD2750-513E-968A-4C70-8DC13E3EADE7}"/>
              </a:ext>
            </a:extLst>
          </p:cNvPr>
          <p:cNvSpPr txBox="1"/>
          <p:nvPr/>
        </p:nvSpPr>
        <p:spPr>
          <a:xfrm>
            <a:off x="737419" y="1531925"/>
            <a:ext cx="10461522" cy="3416320"/>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Part 4: Regression</a:t>
            </a:r>
          </a:p>
          <a:p>
            <a:pPr>
              <a:buNone/>
            </a:pPr>
            <a:endParaRPr lang="en-US" b="1" dirty="0"/>
          </a:p>
          <a:p>
            <a:pPr>
              <a:buNone/>
            </a:pPr>
            <a:r>
              <a:rPr lang="en-US" dirty="0">
                <a:effectLst/>
              </a:rPr>
              <a:t>Build a simple logistic regression model to predict survival.</a:t>
            </a:r>
            <a:endParaRPr lang="en-US" dirty="0"/>
          </a:p>
          <a:p>
            <a:pPr>
              <a:buNone/>
            </a:pPr>
            <a:r>
              <a:rPr lang="en-US" dirty="0"/>
              <a:t>python</a:t>
            </a:r>
          </a:p>
          <a:p>
            <a:pPr>
              <a:buNone/>
            </a:pPr>
            <a:r>
              <a:rPr lang="en-US" dirty="0">
                <a:effectLst/>
                <a:latin typeface="Courier New" panose="02070309020205020404" pitchFamily="49" charset="0"/>
              </a:rPr>
              <a:t>from </a:t>
            </a:r>
            <a:r>
              <a:rPr lang="en-US" dirty="0" err="1">
                <a:effectLst/>
                <a:latin typeface="Courier New" panose="02070309020205020404" pitchFamily="49" charset="0"/>
              </a:rPr>
              <a:t>sklearn.linear_model</a:t>
            </a:r>
            <a:r>
              <a:rPr lang="en-US" dirty="0">
                <a:effectLst/>
                <a:latin typeface="Courier New" panose="02070309020205020404" pitchFamily="49" charset="0"/>
              </a:rPr>
              <a:t> import </a:t>
            </a:r>
            <a:r>
              <a:rPr lang="en-US" dirty="0" err="1">
                <a:effectLst/>
                <a:latin typeface="Courier New" panose="02070309020205020404" pitchFamily="49" charset="0"/>
              </a:rPr>
              <a:t>LogisticRegression</a:t>
            </a:r>
            <a:endParaRPr lang="en-US" dirty="0">
              <a:effectLst/>
              <a:latin typeface="Courier New" panose="02070309020205020404" pitchFamily="49" charset="0"/>
            </a:endParaRPr>
          </a:p>
          <a:p>
            <a:pPr>
              <a:buNone/>
            </a:pPr>
            <a:r>
              <a:rPr lang="en-US" dirty="0">
                <a:effectLst/>
                <a:latin typeface="Courier New" panose="02070309020205020404" pitchFamily="49" charset="0"/>
              </a:rPr>
              <a:t>from </a:t>
            </a:r>
            <a:r>
              <a:rPr lang="en-US" dirty="0" err="1">
                <a:effectLst/>
                <a:latin typeface="Courier New" panose="02070309020205020404" pitchFamily="49" charset="0"/>
              </a:rPr>
              <a:t>sklearn.preprocessing</a:t>
            </a:r>
            <a:r>
              <a:rPr lang="en-US" dirty="0">
                <a:effectLst/>
                <a:latin typeface="Courier New" panose="02070309020205020404" pitchFamily="49" charset="0"/>
              </a:rPr>
              <a:t> import </a:t>
            </a:r>
            <a:r>
              <a:rPr lang="en-US" dirty="0" err="1">
                <a:effectLst/>
                <a:latin typeface="Courier New" panose="02070309020205020404" pitchFamily="49" charset="0"/>
              </a:rPr>
              <a:t>LabelEncoder</a:t>
            </a:r>
            <a:endParaRPr lang="en-US" dirty="0">
              <a:effectLst/>
              <a:latin typeface="Courier New" panose="02070309020205020404" pitchFamily="49" charset="0"/>
            </a:endParaRPr>
          </a:p>
          <a:p>
            <a:pPr>
              <a:buNone/>
            </a:pPr>
            <a:r>
              <a:rPr lang="en-US" dirty="0">
                <a:effectLst/>
                <a:latin typeface="Courier New" panose="02070309020205020404" pitchFamily="49" charset="0"/>
              </a:rPr>
              <a:t>X = </a:t>
            </a:r>
            <a:r>
              <a:rPr lang="en-US" dirty="0" err="1">
                <a:effectLst/>
                <a:latin typeface="Courier New" panose="02070309020205020404" pitchFamily="49" charset="0"/>
              </a:rPr>
              <a:t>df</a:t>
            </a:r>
            <a:r>
              <a:rPr lang="en-US" dirty="0">
                <a:effectLst/>
                <a:latin typeface="Courier New" panose="02070309020205020404" pitchFamily="49" charset="0"/>
              </a:rPr>
              <a:t>[['Age','Fare','</a:t>
            </a:r>
            <a:r>
              <a:rPr lang="en-US" dirty="0" err="1">
                <a:effectLst/>
                <a:latin typeface="Courier New" panose="02070309020205020404" pitchFamily="49" charset="0"/>
              </a:rPr>
              <a:t>Pclass</a:t>
            </a:r>
            <a:r>
              <a:rPr lang="en-US" dirty="0">
                <a:effectLst/>
                <a:latin typeface="Courier New" panose="02070309020205020404" pitchFamily="49" charset="0"/>
              </a:rPr>
              <a:t>']]</a:t>
            </a:r>
          </a:p>
          <a:p>
            <a:pPr>
              <a:buNone/>
            </a:pPr>
            <a:r>
              <a:rPr lang="en-US" dirty="0">
                <a:effectLst/>
                <a:latin typeface="Courier New" panose="02070309020205020404" pitchFamily="49" charset="0"/>
              </a:rPr>
              <a:t>y = </a:t>
            </a:r>
            <a:r>
              <a:rPr lang="en-US" dirty="0" err="1">
                <a:effectLst/>
                <a:latin typeface="Courier New" panose="02070309020205020404" pitchFamily="49" charset="0"/>
              </a:rPr>
              <a:t>df</a:t>
            </a:r>
            <a:r>
              <a:rPr lang="en-US" dirty="0">
                <a:effectLst/>
                <a:latin typeface="Courier New" panose="02070309020205020404" pitchFamily="49" charset="0"/>
              </a:rPr>
              <a:t>['Survived']</a:t>
            </a:r>
          </a:p>
          <a:p>
            <a:pPr>
              <a:buNone/>
            </a:pPr>
            <a:r>
              <a:rPr lang="en-US" dirty="0">
                <a:effectLst/>
                <a:latin typeface="Courier New" panose="02070309020205020404" pitchFamily="49" charset="0"/>
              </a:rPr>
              <a:t>X = </a:t>
            </a:r>
            <a:r>
              <a:rPr lang="en-US" dirty="0" err="1">
                <a:effectLst/>
                <a:latin typeface="Courier New" panose="02070309020205020404" pitchFamily="49" charset="0"/>
              </a:rPr>
              <a:t>X.fillna</a:t>
            </a:r>
            <a:r>
              <a:rPr lang="en-US" dirty="0">
                <a:effectLst/>
                <a:latin typeface="Courier New" panose="02070309020205020404" pitchFamily="49" charset="0"/>
              </a:rPr>
              <a:t>(</a:t>
            </a:r>
            <a:r>
              <a:rPr lang="en-US" dirty="0" err="1">
                <a:effectLst/>
                <a:latin typeface="Courier New" panose="02070309020205020404" pitchFamily="49" charset="0"/>
              </a:rPr>
              <a:t>X.mean</a:t>
            </a:r>
            <a:r>
              <a:rPr lang="en-US" dirty="0">
                <a:effectLst/>
                <a:latin typeface="Courier New" panose="02070309020205020404" pitchFamily="49" charset="0"/>
              </a:rPr>
              <a:t>())</a:t>
            </a:r>
          </a:p>
          <a:p>
            <a:pPr>
              <a:buNone/>
            </a:pPr>
            <a:r>
              <a:rPr lang="en-US" dirty="0">
                <a:effectLst/>
                <a:latin typeface="Courier New" panose="02070309020205020404" pitchFamily="49" charset="0"/>
              </a:rPr>
              <a:t>model = </a:t>
            </a:r>
            <a:r>
              <a:rPr lang="en-US" dirty="0" err="1">
                <a:effectLst/>
                <a:latin typeface="Courier New" panose="02070309020205020404" pitchFamily="49" charset="0"/>
              </a:rPr>
              <a:t>LogisticRegression</a:t>
            </a:r>
            <a:r>
              <a:rPr lang="en-US" dirty="0">
                <a:effectLst/>
                <a:latin typeface="Courier New" panose="02070309020205020404" pitchFamily="49" charset="0"/>
              </a:rPr>
              <a:t>()</a:t>
            </a:r>
          </a:p>
          <a:p>
            <a:pPr>
              <a:buNone/>
            </a:pPr>
            <a:r>
              <a:rPr lang="en-US" dirty="0" err="1">
                <a:effectLst/>
                <a:latin typeface="Courier New" panose="02070309020205020404" pitchFamily="49" charset="0"/>
              </a:rPr>
              <a:t>model.fit</a:t>
            </a:r>
            <a:r>
              <a:rPr lang="en-US" dirty="0">
                <a:effectLst/>
                <a:latin typeface="Courier New" panose="02070309020205020404" pitchFamily="49" charset="0"/>
              </a:rPr>
              <a:t>(X, y)</a:t>
            </a:r>
          </a:p>
          <a:p>
            <a:pPr>
              <a:buNone/>
            </a:pPr>
            <a:r>
              <a:rPr lang="en-US" dirty="0">
                <a:effectLst/>
                <a:latin typeface="Courier New" panose="02070309020205020404" pitchFamily="49" charset="0"/>
              </a:rPr>
              <a:t>print(</a:t>
            </a:r>
            <a:r>
              <a:rPr lang="en-US" dirty="0" err="1">
                <a:effectLst/>
                <a:latin typeface="Courier New" panose="02070309020205020404" pitchFamily="49" charset="0"/>
              </a:rPr>
              <a:t>model.predict</a:t>
            </a:r>
            <a:r>
              <a:rPr lang="en-US" dirty="0">
                <a:effectLst/>
                <a:latin typeface="Courier New" panose="02070309020205020404" pitchFamily="49" charset="0"/>
              </a:rPr>
              <a:t>([[25, 50, 2]]))  # Example passenger</a:t>
            </a:r>
          </a:p>
        </p:txBody>
      </p:sp>
      <p:sp>
        <p:nvSpPr>
          <p:cNvPr id="8" name="TextBox 7">
            <a:extLst>
              <a:ext uri="{FF2B5EF4-FFF2-40B4-BE49-F238E27FC236}">
                <a16:creationId xmlns:a16="http://schemas.microsoft.com/office/drawing/2014/main" id="{4C22AF06-50A1-7DC5-3912-F74878B90740}"/>
              </a:ext>
            </a:extLst>
          </p:cNvPr>
          <p:cNvSpPr txBox="1"/>
          <p:nvPr/>
        </p:nvSpPr>
        <p:spPr>
          <a:xfrm>
            <a:off x="624348" y="4948245"/>
            <a:ext cx="10943302" cy="1754326"/>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Part 5: Reflection</a:t>
            </a:r>
          </a:p>
          <a:p>
            <a:pPr>
              <a:buNone/>
            </a:pPr>
            <a:endParaRPr lang="en-US" b="1" dirty="0"/>
          </a:p>
          <a:p>
            <a:pPr>
              <a:buNone/>
            </a:pPr>
            <a:r>
              <a:rPr lang="en-US" b="1" dirty="0">
                <a:effectLst/>
              </a:rPr>
              <a:t>Write a short paragraph (100–150 words) explaining</a:t>
            </a:r>
            <a:r>
              <a:rPr lang="en-US" dirty="0">
                <a:effectLst/>
              </a:rPr>
              <a:t>:</a:t>
            </a:r>
            <a:endParaRPr lang="en-US" dirty="0"/>
          </a:p>
          <a:p>
            <a:pPr marL="285750" indent="-285750">
              <a:buFont typeface="Arial" panose="020B0604020202020204" pitchFamily="34" charset="0"/>
              <a:buChar char="•"/>
            </a:pPr>
            <a:r>
              <a:rPr lang="en-US" dirty="0">
                <a:effectLst/>
              </a:rPr>
              <a:t>Which statistical measure gave the most insight?</a:t>
            </a:r>
            <a:endParaRPr lang="en-US" dirty="0"/>
          </a:p>
          <a:p>
            <a:pPr marL="285750" indent="-285750">
              <a:buFont typeface="Arial" panose="020B0604020202020204" pitchFamily="34" charset="0"/>
              <a:buChar char="•"/>
            </a:pPr>
            <a:r>
              <a:rPr lang="en-US" dirty="0">
                <a:effectLst/>
              </a:rPr>
              <a:t>How did hypothesis testing validate your assumptions?</a:t>
            </a:r>
            <a:endParaRPr lang="en-US" dirty="0"/>
          </a:p>
          <a:p>
            <a:pPr marL="285750" indent="-285750">
              <a:buFont typeface="Arial" panose="020B0604020202020204" pitchFamily="34" charset="0"/>
              <a:buChar char="•"/>
            </a:pPr>
            <a:r>
              <a:rPr lang="en-US" dirty="0">
                <a:effectLst/>
              </a:rPr>
              <a:t>How does regression connect statistics to ML prediction?</a:t>
            </a:r>
            <a:endParaRPr lang="en-US" dirty="0"/>
          </a:p>
        </p:txBody>
      </p:sp>
    </p:spTree>
    <p:extLst>
      <p:ext uri="{BB962C8B-B14F-4D97-AF65-F5344CB8AC3E}">
        <p14:creationId xmlns:p14="http://schemas.microsoft.com/office/powerpoint/2010/main" val="109541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7B2F9-3E7F-4D9F-6CB7-420903A1504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F6C6E99-38A1-4B44-B7C1-DD7E26293F74}"/>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4" name="TextBox 3">
            <a:extLst>
              <a:ext uri="{FF2B5EF4-FFF2-40B4-BE49-F238E27FC236}">
                <a16:creationId xmlns:a16="http://schemas.microsoft.com/office/drawing/2014/main" id="{A160CAD8-88AF-0737-5F9B-1412EBEA1246}"/>
              </a:ext>
            </a:extLst>
          </p:cNvPr>
          <p:cNvSpPr txBox="1"/>
          <p:nvPr/>
        </p:nvSpPr>
        <p:spPr>
          <a:xfrm>
            <a:off x="580103" y="854823"/>
            <a:ext cx="11120284" cy="4474174"/>
          </a:xfrm>
          <a:prstGeom prst="rect">
            <a:avLst/>
          </a:prstGeom>
          <a:noFill/>
        </p:spPr>
        <p:txBody>
          <a:bodyPr wrap="square">
            <a:spAutoFit/>
          </a:bodyPr>
          <a:lstStyle/>
          <a:p>
            <a:pPr marR="762000" algn="l">
              <a:buNone/>
            </a:pPr>
            <a:r>
              <a:rPr lang="en-US" b="1" i="0" dirty="0">
                <a:solidFill>
                  <a:srgbClr val="FF0000"/>
                </a:solidFill>
                <a:effectLst/>
                <a:latin typeface="Arial Black" panose="020B0A04020102020204" pitchFamily="34" charset="0"/>
              </a:rPr>
              <a:t>Data</a:t>
            </a:r>
          </a:p>
          <a:p>
            <a:pPr marR="762000" algn="l">
              <a:buNone/>
            </a:pPr>
            <a:endParaRPr lang="en-US" b="1" i="0" dirty="0">
              <a:solidFill>
                <a:srgbClr val="000000"/>
              </a:solidFill>
              <a:effectLst/>
              <a:latin typeface="Arial Black" panose="020B0A04020102020204" pitchFamily="34" charset="0"/>
            </a:endParaRPr>
          </a:p>
          <a:p>
            <a:pPr marL="285750" indent="-285750" algn="l">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The Titanic dataset used in this investigation is a well-known dataset widely available in the data science community.</a:t>
            </a:r>
          </a:p>
          <a:p>
            <a:pPr marL="285750" indent="-285750" algn="l">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The data was originally collected from passenger records of the RMS Titanic, which sank on </a:t>
            </a:r>
            <a:r>
              <a:rPr lang="en-US" b="0" i="0" dirty="0">
                <a:solidFill>
                  <a:srgbClr val="FF0000"/>
                </a:solidFill>
                <a:effectLst/>
                <a:latin typeface="Arial Black" panose="020B0A04020102020204" pitchFamily="34" charset="0"/>
              </a:rPr>
              <a:t>April 15, 1912.</a:t>
            </a:r>
          </a:p>
          <a:p>
            <a:pPr marL="285750" indent="-285750" algn="l">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The dataset includes information on various attributes of the passengers, such as age, sex, ticket class, fare, cabin, and survival status.</a:t>
            </a:r>
          </a:p>
          <a:p>
            <a:pPr marL="285750" indent="-285750" algn="l">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The dataset is publicly available and can be accessed from various sources, including online data repositories and libraries.</a:t>
            </a:r>
          </a:p>
          <a:p>
            <a:pPr marL="285750" indent="-285750" algn="l">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To replicate the data collection process, interested individuals can download the dataset from the source and access the raw data from </a:t>
            </a:r>
            <a:r>
              <a:rPr lang="en-US" b="0" i="0" dirty="0">
                <a:solidFill>
                  <a:srgbClr val="FF0000"/>
                </a:solidFill>
                <a:effectLst/>
                <a:latin typeface="Arial Black" panose="020B0A04020102020204" pitchFamily="34" charset="0"/>
              </a:rPr>
              <a:t>kaggle.com </a:t>
            </a:r>
            <a:r>
              <a:rPr lang="en-US" b="0" i="0" dirty="0">
                <a:solidFill>
                  <a:srgbClr val="000000"/>
                </a:solidFill>
                <a:effectLst/>
                <a:latin typeface="Arial Black" panose="020B0A04020102020204" pitchFamily="34" charset="0"/>
              </a:rPr>
              <a:t>by signing up.</a:t>
            </a:r>
          </a:p>
          <a:p>
            <a:pPr marL="285750" indent="-285750" algn="l">
              <a:lnSpc>
                <a:spcPts val="2520"/>
              </a:lnSpc>
              <a:buFont typeface="Arial" panose="020B0604020202020204" pitchFamily="34" charset="0"/>
              <a:buChar char="•"/>
            </a:pPr>
            <a:r>
              <a:rPr lang="en-US" b="0" i="0" dirty="0">
                <a:solidFill>
                  <a:srgbClr val="000000"/>
                </a:solidFill>
                <a:effectLst/>
                <a:latin typeface="Arial Black" panose="020B0A04020102020204" pitchFamily="34" charset="0"/>
              </a:rPr>
              <a:t>The sampling method used to collect the data is not explicitly mentioned, as the dataset represents a comprehensive record of passengers aboard the Titanic.</a:t>
            </a:r>
          </a:p>
        </p:txBody>
      </p:sp>
    </p:spTree>
    <p:extLst>
      <p:ext uri="{BB962C8B-B14F-4D97-AF65-F5344CB8AC3E}">
        <p14:creationId xmlns:p14="http://schemas.microsoft.com/office/powerpoint/2010/main" val="3211333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43DF8-B8AC-50D8-0142-281B97914F6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C2F835A-53CF-EB45-B471-D5D5D72F87E4}"/>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0D426694-7861-6568-3C10-124B6DAA6771}"/>
              </a:ext>
            </a:extLst>
          </p:cNvPr>
          <p:cNvSpPr txBox="1"/>
          <p:nvPr/>
        </p:nvSpPr>
        <p:spPr>
          <a:xfrm>
            <a:off x="737420" y="1155823"/>
            <a:ext cx="10972799" cy="5435975"/>
          </a:xfrm>
          <a:prstGeom prst="rect">
            <a:avLst/>
          </a:prstGeom>
          <a:noFill/>
        </p:spPr>
        <p:txBody>
          <a:bodyPr wrap="square">
            <a:spAutoFit/>
          </a:bodyPr>
          <a:lstStyle/>
          <a:p>
            <a:pPr algn="just">
              <a:buNone/>
            </a:pPr>
            <a:r>
              <a:rPr lang="en-US" b="0" i="0" dirty="0">
                <a:solidFill>
                  <a:srgbClr val="000000"/>
                </a:solidFill>
                <a:effectLst/>
                <a:latin typeface="Arial Black" panose="020B0A04020102020204" pitchFamily="34" charset="0"/>
              </a:rPr>
              <a:t>In the Titanic dataset, there are several important variables that provide information about the passengers. Here are the key variables and their explanations:</a:t>
            </a:r>
          </a:p>
          <a:p>
            <a:pPr algn="just">
              <a:lnSpc>
                <a:spcPts val="2520"/>
              </a:lnSpc>
              <a:buFont typeface="+mj-lt"/>
              <a:buAutoNum type="arabicPeriod"/>
            </a:pPr>
            <a:r>
              <a:rPr lang="en-US" b="0" i="0" dirty="0">
                <a:solidFill>
                  <a:srgbClr val="FF0000"/>
                </a:solidFill>
                <a:effectLst/>
                <a:latin typeface="Arial Black" panose="020B0A04020102020204" pitchFamily="34" charset="0"/>
              </a:rPr>
              <a:t>Survived: </a:t>
            </a:r>
            <a:r>
              <a:rPr lang="en-US" b="0" i="0" dirty="0">
                <a:solidFill>
                  <a:srgbClr val="000000"/>
                </a:solidFill>
                <a:effectLst/>
                <a:latin typeface="Arial Black" panose="020B0A04020102020204" pitchFamily="34" charset="0"/>
              </a:rPr>
              <a:t>This variable indicates whether a passenger survived or not. It is a binary variable, where 0 represents not survived and 1 represents survived.</a:t>
            </a:r>
          </a:p>
          <a:p>
            <a:pPr algn="just">
              <a:lnSpc>
                <a:spcPts val="2520"/>
              </a:lnSpc>
              <a:buFont typeface="+mj-lt"/>
              <a:buAutoNum type="arabicPeriod"/>
            </a:pPr>
            <a:r>
              <a:rPr lang="en-US" b="0" i="0" dirty="0" err="1">
                <a:solidFill>
                  <a:srgbClr val="FF0000"/>
                </a:solidFill>
                <a:effectLst/>
                <a:latin typeface="Arial Black" panose="020B0A04020102020204" pitchFamily="34" charset="0"/>
              </a:rPr>
              <a:t>Pclass</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The passenger class represents the ticket class of the passenger. It is an ordinal variable with three levels: 1, 2 and 3. Where each number is denoting the class of the passenger.</a:t>
            </a:r>
          </a:p>
          <a:p>
            <a:pPr algn="just">
              <a:lnSpc>
                <a:spcPts val="2520"/>
              </a:lnSpc>
              <a:buFont typeface="+mj-lt"/>
              <a:buAutoNum type="arabicPeriod"/>
            </a:pPr>
            <a:r>
              <a:rPr lang="en-US" b="0" i="0" dirty="0">
                <a:solidFill>
                  <a:srgbClr val="FF0000"/>
                </a:solidFill>
                <a:effectLst/>
                <a:latin typeface="Arial Black" panose="020B0A04020102020204" pitchFamily="34" charset="0"/>
              </a:rPr>
              <a:t>Sex: </a:t>
            </a:r>
            <a:r>
              <a:rPr lang="en-US" b="0" i="0" dirty="0">
                <a:solidFill>
                  <a:srgbClr val="000000"/>
                </a:solidFill>
                <a:effectLst/>
                <a:latin typeface="Arial Black" panose="020B0A04020102020204" pitchFamily="34" charset="0"/>
              </a:rPr>
              <a:t>This variable denotes the gender of the passenger. It is a categorical variable with two levels: Male and Female.</a:t>
            </a:r>
          </a:p>
          <a:p>
            <a:pPr algn="just">
              <a:lnSpc>
                <a:spcPts val="2520"/>
              </a:lnSpc>
              <a:buFont typeface="+mj-lt"/>
              <a:buAutoNum type="arabicPeriod"/>
            </a:pPr>
            <a:r>
              <a:rPr lang="en-US" b="0" i="0" dirty="0">
                <a:solidFill>
                  <a:srgbClr val="FF0000"/>
                </a:solidFill>
                <a:effectLst/>
                <a:latin typeface="Arial Black" panose="020B0A04020102020204" pitchFamily="34" charset="0"/>
              </a:rPr>
              <a:t>Age: </a:t>
            </a:r>
            <a:r>
              <a:rPr lang="en-US" b="0" i="0" dirty="0">
                <a:solidFill>
                  <a:srgbClr val="000000"/>
                </a:solidFill>
                <a:effectLst/>
                <a:latin typeface="Arial Black" panose="020B0A04020102020204" pitchFamily="34" charset="0"/>
              </a:rPr>
              <a:t>The age variable represents the age of the passengers. It is a numeric variable measured in years. The youngest passenger on board was about 5 months old and the oldest passengers was 80 years old.</a:t>
            </a:r>
          </a:p>
          <a:p>
            <a:pPr algn="just">
              <a:lnSpc>
                <a:spcPts val="2520"/>
              </a:lnSpc>
              <a:buFont typeface="+mj-lt"/>
              <a:buAutoNum type="arabicPeriod"/>
            </a:pPr>
            <a:r>
              <a:rPr lang="en-US" b="0" i="0" dirty="0">
                <a:solidFill>
                  <a:srgbClr val="FF0000"/>
                </a:solidFill>
                <a:effectLst/>
                <a:latin typeface="Arial Black" panose="020B0A04020102020204" pitchFamily="34" charset="0"/>
              </a:rPr>
              <a:t>Parch and </a:t>
            </a:r>
            <a:r>
              <a:rPr lang="en-US" b="0" i="0" dirty="0" err="1">
                <a:solidFill>
                  <a:srgbClr val="FF0000"/>
                </a:solidFill>
                <a:effectLst/>
                <a:latin typeface="Arial Black" panose="020B0A04020102020204" pitchFamily="34" charset="0"/>
              </a:rPr>
              <a:t>SibSp</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They stand for “Number of Parents/Children Aboard” and “Number of Siblings/Spouses Aboard”. They are both discrete numeric variables.</a:t>
            </a:r>
          </a:p>
          <a:p>
            <a:pPr algn="just">
              <a:lnSpc>
                <a:spcPts val="2520"/>
              </a:lnSpc>
              <a:buFont typeface="+mj-lt"/>
              <a:buAutoNum type="arabicPeriod"/>
            </a:pPr>
            <a:r>
              <a:rPr lang="en-US" b="0" i="0" dirty="0">
                <a:solidFill>
                  <a:srgbClr val="FF0000"/>
                </a:solidFill>
                <a:effectLst/>
                <a:latin typeface="Arial Black" panose="020B0A04020102020204" pitchFamily="34" charset="0"/>
              </a:rPr>
              <a:t>Embarked: </a:t>
            </a:r>
            <a:r>
              <a:rPr lang="en-US" b="0" i="0" dirty="0">
                <a:solidFill>
                  <a:srgbClr val="000000"/>
                </a:solidFill>
                <a:effectLst/>
                <a:latin typeface="Arial Black" panose="020B0A04020102020204" pitchFamily="34" charset="0"/>
              </a:rPr>
              <a:t>This variable represents the port of embarkation for each passenger. It is a categorical variable with three levels: </a:t>
            </a:r>
            <a:r>
              <a:rPr lang="en-US" b="0" i="0" dirty="0">
                <a:solidFill>
                  <a:srgbClr val="FF0000"/>
                </a:solidFill>
                <a:effectLst/>
                <a:latin typeface="Arial Black" panose="020B0A04020102020204" pitchFamily="34" charset="0"/>
              </a:rPr>
              <a:t>C: Represents Cherbourg, Q: Represents Queenstown, S: Represents Southampton.</a:t>
            </a:r>
          </a:p>
        </p:txBody>
      </p:sp>
    </p:spTree>
    <p:extLst>
      <p:ext uri="{BB962C8B-B14F-4D97-AF65-F5344CB8AC3E}">
        <p14:creationId xmlns:p14="http://schemas.microsoft.com/office/powerpoint/2010/main" val="1899502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1C9E0-6B62-ABE3-DCC6-40A40BE66BA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872B7D-35E2-2ABB-26CC-65042A9F3A26}"/>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4" name="TextBox 3">
            <a:extLst>
              <a:ext uri="{FF2B5EF4-FFF2-40B4-BE49-F238E27FC236}">
                <a16:creationId xmlns:a16="http://schemas.microsoft.com/office/drawing/2014/main" id="{E5F1841A-A662-5B01-86A2-96A22F6C97B6}"/>
              </a:ext>
            </a:extLst>
          </p:cNvPr>
          <p:cNvSpPr txBox="1"/>
          <p:nvPr/>
        </p:nvSpPr>
        <p:spPr>
          <a:xfrm>
            <a:off x="639097" y="854998"/>
            <a:ext cx="10402529" cy="2031325"/>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“Statistics as the Language of AI”</a:t>
            </a:r>
          </a:p>
          <a:p>
            <a:pPr algn="ctr">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Descriptive statistics</a:t>
            </a:r>
            <a:r>
              <a:rPr lang="en-US" dirty="0">
                <a:effectLst/>
                <a:latin typeface="Arial Black" panose="020B0A04020102020204" pitchFamily="34" charset="0"/>
              </a:rPr>
              <a:t> help machines </a:t>
            </a:r>
            <a:r>
              <a:rPr lang="en-US" i="1" dirty="0">
                <a:effectLst/>
                <a:latin typeface="Arial Black" panose="020B0A04020102020204" pitchFamily="34" charset="0"/>
              </a:rPr>
              <a:t>see</a:t>
            </a:r>
            <a:r>
              <a:rPr lang="en-US" dirty="0">
                <a:effectLst/>
                <a:latin typeface="Arial Black" panose="020B0A04020102020204" pitchFamily="34" charset="0"/>
              </a:rPr>
              <a:t> data.</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Inferential statistics</a:t>
            </a:r>
            <a:r>
              <a:rPr lang="en-US" dirty="0">
                <a:effectLst/>
                <a:latin typeface="Arial Black" panose="020B0A04020102020204" pitchFamily="34" charset="0"/>
              </a:rPr>
              <a:t> help them </a:t>
            </a:r>
            <a:r>
              <a:rPr lang="en-US" i="1" dirty="0">
                <a:effectLst/>
                <a:latin typeface="Arial Black" panose="020B0A04020102020204" pitchFamily="34" charset="0"/>
              </a:rPr>
              <a:t>reason</a:t>
            </a:r>
            <a:r>
              <a:rPr lang="en-US" dirty="0">
                <a:effectLst/>
                <a:latin typeface="Arial Black" panose="020B0A04020102020204" pitchFamily="34" charset="0"/>
              </a:rPr>
              <a:t> from samples.</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effectLst/>
                <a:latin typeface="Arial Black" panose="020B0A04020102020204" pitchFamily="34" charset="0"/>
              </a:rPr>
              <a:t>Probability theory</a:t>
            </a:r>
            <a:r>
              <a:rPr lang="en-US" dirty="0">
                <a:effectLst/>
                <a:latin typeface="Arial Black" panose="020B0A04020102020204" pitchFamily="34" charset="0"/>
              </a:rPr>
              <a:t> helps them </a:t>
            </a:r>
            <a:r>
              <a:rPr lang="en-US" i="1" dirty="0">
                <a:effectLst/>
                <a:latin typeface="Arial Black" panose="020B0A04020102020204" pitchFamily="34" charset="0"/>
              </a:rPr>
              <a:t>decide</a:t>
            </a:r>
            <a:r>
              <a:rPr lang="en-US" dirty="0">
                <a:effectLst/>
                <a:latin typeface="Arial Black" panose="020B0A04020102020204" pitchFamily="34" charset="0"/>
              </a:rPr>
              <a:t> under uncertainty. It is said that : </a:t>
            </a:r>
            <a:r>
              <a:rPr lang="en-US" i="1" dirty="0">
                <a:effectLst/>
                <a:latin typeface="Arial Black" panose="020B0A04020102020204" pitchFamily="34" charset="0"/>
              </a:rPr>
              <a:t>“</a:t>
            </a:r>
            <a:r>
              <a:rPr lang="en-US" i="1" dirty="0">
                <a:solidFill>
                  <a:srgbClr val="FF0000"/>
                </a:solidFill>
                <a:effectLst/>
                <a:latin typeface="Arial Black" panose="020B0A04020102020204" pitchFamily="34" charset="0"/>
              </a:rPr>
              <a:t>Every ML algorithm is a statistical hypothesis — a model that learns patterns and tests them against reality.”</a:t>
            </a:r>
            <a:endParaRPr lang="en-US" dirty="0">
              <a:solidFill>
                <a:srgbClr val="FF0000"/>
              </a:solidFill>
              <a:latin typeface="Arial Black" panose="020B0A04020102020204" pitchFamily="34" charset="0"/>
            </a:endParaRPr>
          </a:p>
        </p:txBody>
      </p:sp>
      <p:sp>
        <p:nvSpPr>
          <p:cNvPr id="7" name="TextBox 6">
            <a:extLst>
              <a:ext uri="{FF2B5EF4-FFF2-40B4-BE49-F238E27FC236}">
                <a16:creationId xmlns:a16="http://schemas.microsoft.com/office/drawing/2014/main" id="{358439AA-E595-7796-C291-02E1727C8B22}"/>
              </a:ext>
            </a:extLst>
          </p:cNvPr>
          <p:cNvSpPr txBox="1"/>
          <p:nvPr/>
        </p:nvSpPr>
        <p:spPr>
          <a:xfrm>
            <a:off x="3913238" y="2982126"/>
            <a:ext cx="3667433" cy="369332"/>
          </a:xfrm>
          <a:prstGeom prst="rect">
            <a:avLst/>
          </a:prstGeom>
          <a:noFill/>
        </p:spPr>
        <p:txBody>
          <a:bodyPr wrap="square">
            <a:spAutoFit/>
          </a:bodyPr>
          <a:lstStyle/>
          <a:p>
            <a:r>
              <a:rPr lang="en-US" dirty="0">
                <a:solidFill>
                  <a:srgbClr val="FF0000"/>
                </a:solidFill>
                <a:latin typeface="Arial Black" panose="020B0A04020102020204" pitchFamily="34" charset="0"/>
              </a:rPr>
              <a:t>Bridge to Machine Learning</a:t>
            </a:r>
          </a:p>
        </p:txBody>
      </p:sp>
      <p:graphicFrame>
        <p:nvGraphicFramePr>
          <p:cNvPr id="8" name="Table 7">
            <a:extLst>
              <a:ext uri="{FF2B5EF4-FFF2-40B4-BE49-F238E27FC236}">
                <a16:creationId xmlns:a16="http://schemas.microsoft.com/office/drawing/2014/main" id="{2DD8D8C2-6589-21DB-DB94-1D22084F889E}"/>
              </a:ext>
            </a:extLst>
          </p:cNvPr>
          <p:cNvGraphicFramePr>
            <a:graphicFrameLocks noGrp="1"/>
          </p:cNvGraphicFramePr>
          <p:nvPr>
            <p:extLst>
              <p:ext uri="{D42A27DB-BD31-4B8C-83A1-F6EECF244321}">
                <p14:modId xmlns:p14="http://schemas.microsoft.com/office/powerpoint/2010/main" val="3328391447"/>
              </p:ext>
            </p:extLst>
          </p:nvPr>
        </p:nvGraphicFramePr>
        <p:xfrm>
          <a:off x="838199" y="3429000"/>
          <a:ext cx="10515600" cy="2987040"/>
        </p:xfrm>
        <a:graphic>
          <a:graphicData uri="http://schemas.openxmlformats.org/drawingml/2006/table">
            <a:tbl>
              <a:tblPr/>
              <a:tblGrid>
                <a:gridCol w="3505200">
                  <a:extLst>
                    <a:ext uri="{9D8B030D-6E8A-4147-A177-3AD203B41FA5}">
                      <a16:colId xmlns:a16="http://schemas.microsoft.com/office/drawing/2014/main" val="447839661"/>
                    </a:ext>
                  </a:extLst>
                </a:gridCol>
                <a:gridCol w="3505200">
                  <a:extLst>
                    <a:ext uri="{9D8B030D-6E8A-4147-A177-3AD203B41FA5}">
                      <a16:colId xmlns:a16="http://schemas.microsoft.com/office/drawing/2014/main" val="2853704609"/>
                    </a:ext>
                  </a:extLst>
                </a:gridCol>
                <a:gridCol w="3505200">
                  <a:extLst>
                    <a:ext uri="{9D8B030D-6E8A-4147-A177-3AD203B41FA5}">
                      <a16:colId xmlns:a16="http://schemas.microsoft.com/office/drawing/2014/main" val="2356070757"/>
                    </a:ext>
                  </a:extLst>
                </a:gridCol>
              </a:tblGrid>
              <a:tr h="0">
                <a:tc>
                  <a:txBody>
                    <a:bodyPr/>
                    <a:lstStyle/>
                    <a:p>
                      <a:pPr>
                        <a:buNone/>
                      </a:pPr>
                      <a:r>
                        <a:rPr lang="en-US" sz="1600">
                          <a:solidFill>
                            <a:srgbClr val="FF0000"/>
                          </a:solidFill>
                          <a:latin typeface="Arial Black" panose="020B0A04020102020204" pitchFamily="34" charset="0"/>
                        </a:rPr>
                        <a:t>Statistical Concept</a:t>
                      </a:r>
                    </a:p>
                  </a:txBody>
                  <a:tcPr anchor="ctr">
                    <a:lnL>
                      <a:noFill/>
                    </a:lnL>
                    <a:lnR>
                      <a:noFill/>
                    </a:lnR>
                    <a:lnT>
                      <a:noFill/>
                    </a:lnT>
                    <a:lnB>
                      <a:noFill/>
                    </a:lnB>
                    <a:noFill/>
                  </a:tcPr>
                </a:tc>
                <a:tc>
                  <a:txBody>
                    <a:bodyPr/>
                    <a:lstStyle/>
                    <a:p>
                      <a:pPr>
                        <a:buNone/>
                      </a:pPr>
                      <a:r>
                        <a:rPr lang="en-US" sz="1600">
                          <a:solidFill>
                            <a:srgbClr val="FF0000"/>
                          </a:solidFill>
                          <a:latin typeface="Arial Black" panose="020B0A04020102020204" pitchFamily="34" charset="0"/>
                        </a:rPr>
                        <a:t>ML Equivalent</a:t>
                      </a:r>
                    </a:p>
                  </a:txBody>
                  <a:tcPr anchor="ctr">
                    <a:lnL>
                      <a:noFill/>
                    </a:lnL>
                    <a:lnR>
                      <a:noFill/>
                    </a:lnR>
                    <a:lnT>
                      <a:noFill/>
                    </a:lnT>
                    <a:lnB>
                      <a:noFill/>
                    </a:lnB>
                    <a:noFill/>
                  </a:tcPr>
                </a:tc>
                <a:tc>
                  <a:txBody>
                    <a:bodyPr/>
                    <a:lstStyle/>
                    <a:p>
                      <a:pPr>
                        <a:buNone/>
                      </a:pPr>
                      <a:r>
                        <a:rPr lang="en-US" sz="1600" dirty="0">
                          <a:solidFill>
                            <a:srgbClr val="FF0000"/>
                          </a:solidFill>
                          <a:latin typeface="Arial Black" panose="020B0A04020102020204" pitchFamily="34" charset="0"/>
                        </a:rPr>
                        <a:t>Example</a:t>
                      </a:r>
                    </a:p>
                  </a:txBody>
                  <a:tcPr anchor="ctr">
                    <a:lnL>
                      <a:noFill/>
                    </a:lnL>
                    <a:lnR>
                      <a:noFill/>
                    </a:lnR>
                    <a:lnT>
                      <a:noFill/>
                    </a:lnT>
                    <a:lnB>
                      <a:noFill/>
                    </a:lnB>
                    <a:noFill/>
                  </a:tcPr>
                </a:tc>
                <a:extLst>
                  <a:ext uri="{0D108BD9-81ED-4DB2-BD59-A6C34878D82A}">
                    <a16:rowId xmlns:a16="http://schemas.microsoft.com/office/drawing/2014/main" val="1456882755"/>
                  </a:ext>
                </a:extLst>
              </a:tr>
              <a:tr h="0">
                <a:tc>
                  <a:txBody>
                    <a:bodyPr/>
                    <a:lstStyle/>
                    <a:p>
                      <a:pPr>
                        <a:buNone/>
                      </a:pPr>
                      <a:r>
                        <a:rPr lang="en-US" sz="1600">
                          <a:latin typeface="Arial Black" panose="020B0A04020102020204" pitchFamily="34" charset="0"/>
                        </a:rPr>
                        <a:t>Mean &amp; Variance</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Feature scaling, normalization</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Standardizing Titanic features</a:t>
                      </a:r>
                    </a:p>
                  </a:txBody>
                  <a:tcPr anchor="ctr">
                    <a:lnL>
                      <a:noFill/>
                    </a:lnL>
                    <a:lnR>
                      <a:noFill/>
                    </a:lnR>
                    <a:lnT>
                      <a:noFill/>
                    </a:lnT>
                    <a:lnB>
                      <a:noFill/>
                    </a:lnB>
                    <a:noFill/>
                  </a:tcPr>
                </a:tc>
                <a:extLst>
                  <a:ext uri="{0D108BD9-81ED-4DB2-BD59-A6C34878D82A}">
                    <a16:rowId xmlns:a16="http://schemas.microsoft.com/office/drawing/2014/main" val="1672723060"/>
                  </a:ext>
                </a:extLst>
              </a:tr>
              <a:tr h="0">
                <a:tc>
                  <a:txBody>
                    <a:bodyPr/>
                    <a:lstStyle/>
                    <a:p>
                      <a:pPr>
                        <a:buNone/>
                      </a:pPr>
                      <a:r>
                        <a:rPr lang="en-US" sz="1600">
                          <a:latin typeface="Arial Black" panose="020B0A04020102020204" pitchFamily="34" charset="0"/>
                        </a:rPr>
                        <a:t>Correlation</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Feature selection</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Removing redundant predictors</a:t>
                      </a:r>
                    </a:p>
                  </a:txBody>
                  <a:tcPr anchor="ctr">
                    <a:lnL>
                      <a:noFill/>
                    </a:lnL>
                    <a:lnR>
                      <a:noFill/>
                    </a:lnR>
                    <a:lnT>
                      <a:noFill/>
                    </a:lnT>
                    <a:lnB>
                      <a:noFill/>
                    </a:lnB>
                    <a:noFill/>
                  </a:tcPr>
                </a:tc>
                <a:extLst>
                  <a:ext uri="{0D108BD9-81ED-4DB2-BD59-A6C34878D82A}">
                    <a16:rowId xmlns:a16="http://schemas.microsoft.com/office/drawing/2014/main" val="355592594"/>
                  </a:ext>
                </a:extLst>
              </a:tr>
              <a:tr h="0">
                <a:tc>
                  <a:txBody>
                    <a:bodyPr/>
                    <a:lstStyle/>
                    <a:p>
                      <a:pPr>
                        <a:buNone/>
                      </a:pPr>
                      <a:r>
                        <a:rPr lang="en-US" sz="1600">
                          <a:latin typeface="Arial Black" panose="020B0A04020102020204" pitchFamily="34" charset="0"/>
                        </a:rPr>
                        <a:t>Probability</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Naïve Bayes, Bayesian inference</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Predicting survival likelihood</a:t>
                      </a:r>
                    </a:p>
                  </a:txBody>
                  <a:tcPr anchor="ctr">
                    <a:lnL>
                      <a:noFill/>
                    </a:lnL>
                    <a:lnR>
                      <a:noFill/>
                    </a:lnR>
                    <a:lnT>
                      <a:noFill/>
                    </a:lnT>
                    <a:lnB>
                      <a:noFill/>
                    </a:lnB>
                    <a:noFill/>
                  </a:tcPr>
                </a:tc>
                <a:extLst>
                  <a:ext uri="{0D108BD9-81ED-4DB2-BD59-A6C34878D82A}">
                    <a16:rowId xmlns:a16="http://schemas.microsoft.com/office/drawing/2014/main" val="985790918"/>
                  </a:ext>
                </a:extLst>
              </a:tr>
              <a:tr h="0">
                <a:tc>
                  <a:txBody>
                    <a:bodyPr/>
                    <a:lstStyle/>
                    <a:p>
                      <a:pPr>
                        <a:buNone/>
                      </a:pPr>
                      <a:r>
                        <a:rPr lang="en-US" sz="1600">
                          <a:latin typeface="Arial Black" panose="020B0A04020102020204" pitchFamily="34" charset="0"/>
                        </a:rPr>
                        <a:t>Regression</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Linear/Logistic models</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Survival prediction</a:t>
                      </a:r>
                    </a:p>
                  </a:txBody>
                  <a:tcPr anchor="ctr">
                    <a:lnL>
                      <a:noFill/>
                    </a:lnL>
                    <a:lnR>
                      <a:noFill/>
                    </a:lnR>
                    <a:lnT>
                      <a:noFill/>
                    </a:lnT>
                    <a:lnB>
                      <a:noFill/>
                    </a:lnB>
                    <a:noFill/>
                  </a:tcPr>
                </a:tc>
                <a:extLst>
                  <a:ext uri="{0D108BD9-81ED-4DB2-BD59-A6C34878D82A}">
                    <a16:rowId xmlns:a16="http://schemas.microsoft.com/office/drawing/2014/main" val="2149821153"/>
                  </a:ext>
                </a:extLst>
              </a:tr>
              <a:tr h="0">
                <a:tc>
                  <a:txBody>
                    <a:bodyPr/>
                    <a:lstStyle/>
                    <a:p>
                      <a:pPr>
                        <a:buNone/>
                      </a:pPr>
                      <a:r>
                        <a:rPr lang="en-US" sz="1600">
                          <a:latin typeface="Arial Black" panose="020B0A04020102020204" pitchFamily="34" charset="0"/>
                        </a:rPr>
                        <a:t>Hypothesis Testing</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Model validation</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Comparing model accuracy across samples</a:t>
                      </a:r>
                    </a:p>
                  </a:txBody>
                  <a:tcPr anchor="ctr">
                    <a:lnL>
                      <a:noFill/>
                    </a:lnL>
                    <a:lnR>
                      <a:noFill/>
                    </a:lnR>
                    <a:lnT>
                      <a:noFill/>
                    </a:lnT>
                    <a:lnB>
                      <a:noFill/>
                    </a:lnB>
                    <a:noFill/>
                  </a:tcPr>
                </a:tc>
                <a:extLst>
                  <a:ext uri="{0D108BD9-81ED-4DB2-BD59-A6C34878D82A}">
                    <a16:rowId xmlns:a16="http://schemas.microsoft.com/office/drawing/2014/main" val="2080422563"/>
                  </a:ext>
                </a:extLst>
              </a:tr>
            </a:tbl>
          </a:graphicData>
        </a:graphic>
      </p:graphicFrame>
    </p:spTree>
    <p:extLst>
      <p:ext uri="{BB962C8B-B14F-4D97-AF65-F5344CB8AC3E}">
        <p14:creationId xmlns:p14="http://schemas.microsoft.com/office/powerpoint/2010/main" val="3683098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0548F-5808-4D03-5198-5DB5B0F9993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37A4397-939A-5D6E-6950-115239F4E992}"/>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pic>
        <p:nvPicPr>
          <p:cNvPr id="3" name="Picture 2">
            <a:extLst>
              <a:ext uri="{FF2B5EF4-FFF2-40B4-BE49-F238E27FC236}">
                <a16:creationId xmlns:a16="http://schemas.microsoft.com/office/drawing/2014/main" id="{05DD2FB3-F4B6-B99C-4A36-406BB13644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410" y="759195"/>
            <a:ext cx="8369709" cy="5579806"/>
          </a:xfrm>
          <a:prstGeom prst="rect">
            <a:avLst/>
          </a:prstGeom>
        </p:spPr>
      </p:pic>
      <p:sp>
        <p:nvSpPr>
          <p:cNvPr id="9" name="TextBox 8">
            <a:extLst>
              <a:ext uri="{FF2B5EF4-FFF2-40B4-BE49-F238E27FC236}">
                <a16:creationId xmlns:a16="http://schemas.microsoft.com/office/drawing/2014/main" id="{05ADD459-E485-0664-1CA7-6DBF9AA448F4}"/>
              </a:ext>
            </a:extLst>
          </p:cNvPr>
          <p:cNvSpPr txBox="1"/>
          <p:nvPr/>
        </p:nvSpPr>
        <p:spPr>
          <a:xfrm>
            <a:off x="8889590" y="1887397"/>
            <a:ext cx="3048000" cy="2585323"/>
          </a:xfrm>
          <a:prstGeom prst="rect">
            <a:avLst/>
          </a:prstGeom>
          <a:noFill/>
        </p:spPr>
        <p:txBody>
          <a:bodyPr wrap="square">
            <a:spAutoFit/>
          </a:bodyPr>
          <a:lstStyle/>
          <a:p>
            <a:pPr algn="just"/>
            <a:r>
              <a:rPr lang="en-US" dirty="0">
                <a:latin typeface="Arial Black" panose="020B0A04020102020204" pitchFamily="34" charset="0"/>
              </a:rPr>
              <a:t>“As we sail from the Titanic dataset to the galaxies of AI, remember — statistics is not just a tool, it is the soul that gives machine learning its power to reason, decide, and inspire.”</a:t>
            </a:r>
          </a:p>
        </p:txBody>
      </p:sp>
    </p:spTree>
    <p:extLst>
      <p:ext uri="{BB962C8B-B14F-4D97-AF65-F5344CB8AC3E}">
        <p14:creationId xmlns:p14="http://schemas.microsoft.com/office/powerpoint/2010/main" val="1148770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D923E-751A-EE6D-2893-00C98BB3CDC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E275C6C-1DC4-C7BF-CDBA-A84705AA97E3}"/>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4" name="TextBox 3">
            <a:extLst>
              <a:ext uri="{FF2B5EF4-FFF2-40B4-BE49-F238E27FC236}">
                <a16:creationId xmlns:a16="http://schemas.microsoft.com/office/drawing/2014/main" id="{31F4B811-3A0C-E3A8-9EE1-6805D440DF04}"/>
              </a:ext>
            </a:extLst>
          </p:cNvPr>
          <p:cNvSpPr txBox="1"/>
          <p:nvPr/>
        </p:nvSpPr>
        <p:spPr>
          <a:xfrm>
            <a:off x="904567" y="1446299"/>
            <a:ext cx="10353367" cy="3970318"/>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Reflection Activity: “From Numbers to Wisdom”</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latin typeface="Arial Black" panose="020B0A04020102020204" pitchFamily="34" charset="0"/>
              </a:rPr>
              <a:t>Thought Question — The Bridge</a:t>
            </a:r>
          </a:p>
          <a:p>
            <a:pPr algn="just">
              <a:buNone/>
            </a:pPr>
            <a:r>
              <a:rPr lang="en-US" i="1" dirty="0">
                <a:effectLst/>
                <a:latin typeface="Arial Black" panose="020B0A04020102020204" pitchFamily="34" charset="0"/>
              </a:rPr>
              <a:t>How does statistical reasoning transform raw data into intelligent decisions in AI?</a:t>
            </a:r>
            <a:r>
              <a:rPr lang="en-US" dirty="0">
                <a:effectLst/>
                <a:latin typeface="Arial Black" panose="020B0A04020102020204" pitchFamily="34" charset="0"/>
              </a:rPr>
              <a:t> → Encourage students to connect descriptive statistics (seeing patterns) with inferential reasoning (making predictions).</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latin typeface="Arial Black" panose="020B0A04020102020204" pitchFamily="34" charset="0"/>
              </a:rPr>
              <a:t>Thought Question — The Balance</a:t>
            </a:r>
          </a:p>
          <a:p>
            <a:pPr algn="just">
              <a:buNone/>
            </a:pPr>
            <a:r>
              <a:rPr lang="en-US" i="1" dirty="0">
                <a:effectLst/>
                <a:latin typeface="Arial Black" panose="020B0A04020102020204" pitchFamily="34" charset="0"/>
              </a:rPr>
              <a:t>Why is fairness a statistical concept as much as an ethical one?</a:t>
            </a:r>
            <a:r>
              <a:rPr lang="en-US" dirty="0">
                <a:effectLst/>
                <a:latin typeface="Arial Black" panose="020B0A04020102020204" pitchFamily="34" charset="0"/>
              </a:rPr>
              <a:t> → Discuss bias, variance, and how sampling errors can lead to unfair AI outcomes.</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latin typeface="Arial Black" panose="020B0A04020102020204" pitchFamily="34" charset="0"/>
              </a:rPr>
              <a:t>Thought Question — The Future</a:t>
            </a:r>
          </a:p>
          <a:p>
            <a:pPr algn="just">
              <a:buNone/>
            </a:pPr>
            <a:r>
              <a:rPr lang="en-US" i="1" dirty="0">
                <a:effectLst/>
                <a:latin typeface="Arial Black" panose="020B0A04020102020204" pitchFamily="34" charset="0"/>
              </a:rPr>
              <a:t>If AI learns from data, who ensures it learns truthfully?</a:t>
            </a:r>
            <a:r>
              <a:rPr lang="en-US" dirty="0">
                <a:effectLst/>
                <a:latin typeface="Arial Black" panose="020B0A04020102020204" pitchFamily="34" charset="0"/>
              </a:rPr>
              <a:t> → Inspire reflection on interpretability, transparency, and responsibility in AI systems.</a:t>
            </a:r>
            <a:endParaRPr lang="en-US" dirty="0">
              <a:latin typeface="Arial Black" panose="020B0A04020102020204" pitchFamily="34" charset="0"/>
            </a:endParaRPr>
          </a:p>
        </p:txBody>
      </p:sp>
    </p:spTree>
    <p:extLst>
      <p:ext uri="{BB962C8B-B14F-4D97-AF65-F5344CB8AC3E}">
        <p14:creationId xmlns:p14="http://schemas.microsoft.com/office/powerpoint/2010/main" val="1841526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75B4C-ABD5-A8DD-FFB4-DB463C43BC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BDB2CFE-933E-EA43-B4ED-6F5E0EC99F54}"/>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2" name="TextBox 1">
            <a:extLst>
              <a:ext uri="{FF2B5EF4-FFF2-40B4-BE49-F238E27FC236}">
                <a16:creationId xmlns:a16="http://schemas.microsoft.com/office/drawing/2014/main" id="{854FF5F6-8E5B-F468-DDC8-3BF6F67416D7}"/>
              </a:ext>
            </a:extLst>
          </p:cNvPr>
          <p:cNvSpPr txBox="1"/>
          <p:nvPr/>
        </p:nvSpPr>
        <p:spPr>
          <a:xfrm>
            <a:off x="1474839" y="1995948"/>
            <a:ext cx="8535029" cy="2031325"/>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Black" panose="020B0A04020102020204" pitchFamily="34" charset="0"/>
              </a:rPr>
              <a:t>What have you learnt from the </a:t>
            </a:r>
            <a:r>
              <a:rPr lang="en-US" u="sng" dirty="0">
                <a:latin typeface="Arial Black" panose="020B0A04020102020204" pitchFamily="34" charset="0"/>
              </a:rPr>
              <a:t>Titanic Disaster</a:t>
            </a:r>
            <a:r>
              <a:rPr lang="en-US" dirty="0">
                <a:latin typeface="Arial Black" panose="020B0A04020102020204" pitchFamily="34" charset="0"/>
              </a:rPr>
              <a:t>?</a:t>
            </a:r>
          </a:p>
          <a:p>
            <a:pPr marL="285750" indent="-285750">
              <a:buFont typeface="Arial" panose="020B0604020202020204" pitchFamily="34" charset="0"/>
              <a:buChar char="•"/>
            </a:pPr>
            <a:r>
              <a:rPr lang="en-US" b="1" dirty="0">
                <a:latin typeface="Arial Black" panose="020B0A04020102020204" pitchFamily="34" charset="0"/>
              </a:rPr>
              <a:t>Distractions are dangerous, </a:t>
            </a:r>
            <a:r>
              <a:rPr lang="en-US" b="1" dirty="0">
                <a:solidFill>
                  <a:srgbClr val="FF0000"/>
                </a:solidFill>
                <a:latin typeface="Arial Black" panose="020B0A04020102020204" pitchFamily="34" charset="0"/>
              </a:rPr>
              <a:t>elaborate</a:t>
            </a:r>
          </a:p>
          <a:p>
            <a:pPr marL="285750" indent="-285750">
              <a:buFont typeface="Arial" panose="020B0604020202020204" pitchFamily="34" charset="0"/>
              <a:buChar char="•"/>
            </a:pPr>
            <a:r>
              <a:rPr lang="en-US" b="1" dirty="0">
                <a:latin typeface="Arial Black" panose="020B0A04020102020204" pitchFamily="34" charset="0"/>
              </a:rPr>
              <a:t>Stakeholders should be kept informed, </a:t>
            </a:r>
            <a:r>
              <a:rPr lang="en-US" b="1" dirty="0">
                <a:solidFill>
                  <a:srgbClr val="FF0000"/>
                </a:solidFill>
                <a:latin typeface="Arial Black" panose="020B0A04020102020204" pitchFamily="34" charset="0"/>
              </a:rPr>
              <a:t>yes/no</a:t>
            </a:r>
          </a:p>
          <a:p>
            <a:pPr marL="285750" indent="-285750">
              <a:buFont typeface="Arial" panose="020B0604020202020204" pitchFamily="34" charset="0"/>
              <a:buChar char="•"/>
            </a:pPr>
            <a:r>
              <a:rPr lang="en-US" b="1" dirty="0">
                <a:latin typeface="Arial Black" panose="020B0A04020102020204" pitchFamily="34" charset="0"/>
              </a:rPr>
              <a:t>Traceability is essential, </a:t>
            </a:r>
            <a:r>
              <a:rPr lang="en-US" b="1" dirty="0">
                <a:solidFill>
                  <a:srgbClr val="FF0000"/>
                </a:solidFill>
                <a:latin typeface="Arial Black" panose="020B0A04020102020204" pitchFamily="34" charset="0"/>
              </a:rPr>
              <a:t>what do you think?</a:t>
            </a:r>
          </a:p>
          <a:p>
            <a:pPr marL="285750" indent="-285750">
              <a:buFont typeface="Arial" panose="020B0604020202020204" pitchFamily="34" charset="0"/>
              <a:buChar char="•"/>
            </a:pPr>
            <a:r>
              <a:rPr lang="en-US" b="1" dirty="0">
                <a:latin typeface="Arial Black" panose="020B0A04020102020204" pitchFamily="34" charset="0"/>
              </a:rPr>
              <a:t>Documentation may have lasting benefits, </a:t>
            </a:r>
            <a:r>
              <a:rPr lang="en-US" b="1" dirty="0">
                <a:solidFill>
                  <a:srgbClr val="FF0000"/>
                </a:solidFill>
                <a:latin typeface="Arial Black" panose="020B0A04020102020204" pitchFamily="34" charset="0"/>
              </a:rPr>
              <a:t>true or false and why</a:t>
            </a:r>
          </a:p>
          <a:p>
            <a:pPr marL="285750" indent="-285750">
              <a:buFont typeface="Arial" panose="020B0604020202020204" pitchFamily="34" charset="0"/>
              <a:buChar char="•"/>
            </a:pPr>
            <a:endParaRPr lang="en-US" b="1" dirty="0">
              <a:latin typeface="Arial Black" panose="020B0A04020102020204" pitchFamily="34" charset="0"/>
            </a:endParaRPr>
          </a:p>
          <a:p>
            <a:pPr marL="285750" indent="-285750">
              <a:buFont typeface="Arial" panose="020B0604020202020204" pitchFamily="34" charset="0"/>
              <a:buChar char="•"/>
            </a:pPr>
            <a:endParaRPr lang="en-US" dirty="0">
              <a:latin typeface="Arial Black" panose="020B0A04020102020204" pitchFamily="34" charset="0"/>
            </a:endParaRPr>
          </a:p>
        </p:txBody>
      </p:sp>
      <p:sp>
        <p:nvSpPr>
          <p:cNvPr id="3" name="TextBox 2">
            <a:extLst>
              <a:ext uri="{FF2B5EF4-FFF2-40B4-BE49-F238E27FC236}">
                <a16:creationId xmlns:a16="http://schemas.microsoft.com/office/drawing/2014/main" id="{99C0AA08-1F26-A56F-8DA1-7BF6824760E5}"/>
              </a:ext>
            </a:extLst>
          </p:cNvPr>
          <p:cNvSpPr txBox="1"/>
          <p:nvPr/>
        </p:nvSpPr>
        <p:spPr>
          <a:xfrm>
            <a:off x="3785419" y="1091380"/>
            <a:ext cx="4964116" cy="369332"/>
          </a:xfrm>
          <a:prstGeom prst="rect">
            <a:avLst/>
          </a:prstGeom>
          <a:noFill/>
        </p:spPr>
        <p:txBody>
          <a:bodyPr wrap="none" rtlCol="0">
            <a:spAutoFit/>
          </a:bodyPr>
          <a:lstStyle/>
          <a:p>
            <a:r>
              <a:rPr lang="en-US" dirty="0">
                <a:solidFill>
                  <a:srgbClr val="FF0000"/>
                </a:solidFill>
                <a:latin typeface="Arial Black" panose="020B0A04020102020204" pitchFamily="34" charset="0"/>
              </a:rPr>
              <a:t>Questions for today, the 18 June 2026</a:t>
            </a:r>
          </a:p>
        </p:txBody>
      </p:sp>
      <p:sp>
        <p:nvSpPr>
          <p:cNvPr id="7" name="TextBox 6">
            <a:extLst>
              <a:ext uri="{FF2B5EF4-FFF2-40B4-BE49-F238E27FC236}">
                <a16:creationId xmlns:a16="http://schemas.microsoft.com/office/drawing/2014/main" id="{0A4E5640-42C6-A12A-657A-DC90385378E7}"/>
              </a:ext>
            </a:extLst>
          </p:cNvPr>
          <p:cNvSpPr txBox="1"/>
          <p:nvPr/>
        </p:nvSpPr>
        <p:spPr>
          <a:xfrm>
            <a:off x="519760" y="4193177"/>
            <a:ext cx="11152477" cy="369332"/>
          </a:xfrm>
          <a:prstGeom prst="rect">
            <a:avLst/>
          </a:prstGeom>
          <a:noFill/>
        </p:spPr>
        <p:txBody>
          <a:bodyPr wrap="none" rtlCol="0">
            <a:spAutoFit/>
          </a:bodyPr>
          <a:lstStyle/>
          <a:p>
            <a:r>
              <a:rPr lang="en-US" dirty="0">
                <a:solidFill>
                  <a:srgbClr val="FF0000"/>
                </a:solidFill>
                <a:latin typeface="Arial Black" panose="020B0A04020102020204" pitchFamily="34" charset="0"/>
              </a:rPr>
              <a:t>Kindly answer the above  and submit the same to my mail id on or before 20 June 2026</a:t>
            </a:r>
          </a:p>
        </p:txBody>
      </p:sp>
    </p:spTree>
    <p:extLst>
      <p:ext uri="{BB962C8B-B14F-4D97-AF65-F5344CB8AC3E}">
        <p14:creationId xmlns:p14="http://schemas.microsoft.com/office/powerpoint/2010/main" val="2625457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5C3C3-6982-4C8B-0051-7D9072CD15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A7EBDC4-9328-ABC1-85A9-B1E8EFD36A43}"/>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5" name="TextBox 4">
            <a:extLst>
              <a:ext uri="{FF2B5EF4-FFF2-40B4-BE49-F238E27FC236}">
                <a16:creationId xmlns:a16="http://schemas.microsoft.com/office/drawing/2014/main" id="{7936A887-4D6C-4F58-6AD7-FD2BA39B692A}"/>
              </a:ext>
            </a:extLst>
          </p:cNvPr>
          <p:cNvSpPr txBox="1"/>
          <p:nvPr/>
        </p:nvSpPr>
        <p:spPr>
          <a:xfrm>
            <a:off x="1047134" y="1611753"/>
            <a:ext cx="10097729" cy="3970318"/>
          </a:xfrm>
          <a:prstGeom prst="rect">
            <a:avLst/>
          </a:prstGeom>
          <a:noFill/>
        </p:spPr>
        <p:txBody>
          <a:bodyPr wrap="square">
            <a:spAutoFit/>
          </a:bodyPr>
          <a:lstStyle/>
          <a:p>
            <a:pPr algn="just">
              <a:buNone/>
            </a:pPr>
            <a:r>
              <a:rPr lang="en-US" dirty="0">
                <a:effectLst/>
                <a:latin typeface="Arial Black" panose="020B0A04020102020204" pitchFamily="34" charset="0"/>
              </a:rPr>
              <a:t>As we reach the end of today’s journey, let us remember that statistics is not merely a collection of formulas or graphs — it is the </a:t>
            </a:r>
            <a:r>
              <a:rPr lang="en-US" i="1" dirty="0">
                <a:effectLst/>
                <a:latin typeface="Arial Black" panose="020B0A04020102020204" pitchFamily="34" charset="0"/>
              </a:rPr>
              <a:t>heartbeat</a:t>
            </a:r>
            <a:r>
              <a:rPr lang="en-US" dirty="0">
                <a:effectLst/>
                <a:latin typeface="Arial Black" panose="020B0A04020102020204" pitchFamily="34" charset="0"/>
              </a:rPr>
              <a:t> of artificial intelligence. Every algorithm we design, every prediction we make, and every insight we uncover begins with the language of numbers. Statistics gives AI its ability to perceive patterns, quantify uncertainty, and transform data into decisions. It is the invisible compass guiding machines toward understanding the world as we do — through evidence, probability, and reason.</a:t>
            </a:r>
          </a:p>
          <a:p>
            <a:pPr algn="just">
              <a:buNone/>
            </a:pPr>
            <a:endParaRPr lang="en-US" dirty="0">
              <a:latin typeface="Arial Black" panose="020B0A04020102020204" pitchFamily="34" charset="0"/>
            </a:endParaRPr>
          </a:p>
          <a:p>
            <a:pPr algn="just">
              <a:buNone/>
            </a:pPr>
            <a:r>
              <a:rPr lang="en-US" dirty="0">
                <a:effectLst/>
                <a:latin typeface="Arial Black" panose="020B0A04020102020204" pitchFamily="34" charset="0"/>
              </a:rPr>
              <a:t>In the Titanic case study, we saw how simple statistical measures — mean, variance, correlation, and hypothesis testing — evolve into the foundation of machine learning models. What began as descriptive summaries of survival rates became predictive insights into human behavior under uncertainty. This transformation mirrors the essence of AI itself: learning from the past to anticipate the future.</a:t>
            </a:r>
            <a:endParaRPr lang="en-US" dirty="0">
              <a:latin typeface="Arial Black" panose="020B0A04020102020204" pitchFamily="34" charset="0"/>
            </a:endParaRPr>
          </a:p>
        </p:txBody>
      </p:sp>
      <p:sp>
        <p:nvSpPr>
          <p:cNvPr id="8" name="TextBox 7">
            <a:extLst>
              <a:ext uri="{FF2B5EF4-FFF2-40B4-BE49-F238E27FC236}">
                <a16:creationId xmlns:a16="http://schemas.microsoft.com/office/drawing/2014/main" id="{F03F9BA3-FC4D-7C19-8310-7C476F2CE164}"/>
              </a:ext>
            </a:extLst>
          </p:cNvPr>
          <p:cNvSpPr txBox="1"/>
          <p:nvPr/>
        </p:nvSpPr>
        <p:spPr>
          <a:xfrm>
            <a:off x="4542503" y="954641"/>
            <a:ext cx="2485039" cy="461665"/>
          </a:xfrm>
          <a:prstGeom prst="rect">
            <a:avLst/>
          </a:prstGeom>
          <a:noFill/>
        </p:spPr>
        <p:txBody>
          <a:bodyPr wrap="none" rtlCol="0">
            <a:spAutoFit/>
          </a:bodyPr>
          <a:lstStyle/>
          <a:p>
            <a:r>
              <a:rPr lang="en-US" sz="2400" dirty="0">
                <a:solidFill>
                  <a:srgbClr val="0070C0"/>
                </a:solidFill>
                <a:latin typeface="Arial Black" panose="020B0A04020102020204" pitchFamily="34" charset="0"/>
              </a:rPr>
              <a:t>CONCLUSION</a:t>
            </a:r>
          </a:p>
        </p:txBody>
      </p:sp>
    </p:spTree>
    <p:extLst>
      <p:ext uri="{BB962C8B-B14F-4D97-AF65-F5344CB8AC3E}">
        <p14:creationId xmlns:p14="http://schemas.microsoft.com/office/powerpoint/2010/main" val="812722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FF6C0-FF7F-819C-EC27-12317C2D4A3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B1C948A-E580-B68D-A1B3-7B8D17109196}"/>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4DD22A93-F6EF-0A82-74A5-74413014284F}"/>
              </a:ext>
            </a:extLst>
          </p:cNvPr>
          <p:cNvSpPr txBox="1"/>
          <p:nvPr/>
        </p:nvSpPr>
        <p:spPr>
          <a:xfrm>
            <a:off x="727587" y="1584799"/>
            <a:ext cx="10087897" cy="3139321"/>
          </a:xfrm>
          <a:prstGeom prst="rect">
            <a:avLst/>
          </a:prstGeom>
          <a:noFill/>
        </p:spPr>
        <p:txBody>
          <a:bodyPr wrap="square">
            <a:spAutoFit/>
          </a:bodyPr>
          <a:lstStyle/>
          <a:p>
            <a:pPr algn="just">
              <a:buNone/>
            </a:pPr>
            <a:r>
              <a:rPr lang="en-US" dirty="0">
                <a:effectLst/>
                <a:latin typeface="Arial Black" panose="020B0A04020102020204" pitchFamily="34" charset="0"/>
              </a:rPr>
              <a:t>Beyond computation, statistics teaches us humility — that every dataset carries bias, every model carries assumptions, and every prediction carries uncertainty. It reminds us that intelligence, whether human or artificial, must be tempered with fairness, transparency, and interpretability. In this sense, statistics is not just the </a:t>
            </a:r>
            <a:r>
              <a:rPr lang="en-US" i="1" dirty="0">
                <a:effectLst/>
                <a:latin typeface="Arial Black" panose="020B0A04020102020204" pitchFamily="34" charset="0"/>
              </a:rPr>
              <a:t>science</a:t>
            </a:r>
            <a:r>
              <a:rPr lang="en-US" dirty="0">
                <a:effectLst/>
                <a:latin typeface="Arial Black" panose="020B0A04020102020204" pitchFamily="34" charset="0"/>
              </a:rPr>
              <a:t> behind AI; it is its </a:t>
            </a:r>
            <a:r>
              <a:rPr lang="en-US" i="1" dirty="0">
                <a:effectLst/>
                <a:latin typeface="Arial Black" panose="020B0A04020102020204" pitchFamily="34" charset="0"/>
              </a:rPr>
              <a:t>soul</a:t>
            </a:r>
            <a:r>
              <a:rPr lang="en-US" dirty="0">
                <a:effectLst/>
                <a:latin typeface="Arial Black" panose="020B0A04020102020204" pitchFamily="34" charset="0"/>
              </a:rPr>
              <a:t> — ensuring that our pursuit of knowledge remains anchored in truth and ethics.</a:t>
            </a:r>
          </a:p>
          <a:p>
            <a:pPr algn="just">
              <a:buNone/>
            </a:pPr>
            <a:endParaRPr lang="en-US" dirty="0">
              <a:latin typeface="Arial Black" panose="020B0A04020102020204" pitchFamily="34" charset="0"/>
            </a:endParaRPr>
          </a:p>
          <a:p>
            <a:pPr algn="just">
              <a:buNone/>
            </a:pPr>
            <a:r>
              <a:rPr lang="en-US" dirty="0">
                <a:effectLst/>
                <a:latin typeface="Arial Black" panose="020B0A04020102020204" pitchFamily="34" charset="0"/>
              </a:rPr>
              <a:t>So, as you step forward into the world of machine learning, remember: numbers may power the algorithms, but understanding powers the mind. Statistics is where insight becomes intelligence — and where analysis transforms into wisdom.</a:t>
            </a:r>
            <a:endParaRPr lang="en-US" dirty="0">
              <a:latin typeface="Arial Black" panose="020B0A04020102020204" pitchFamily="34" charset="0"/>
            </a:endParaRPr>
          </a:p>
        </p:txBody>
      </p:sp>
    </p:spTree>
    <p:extLst>
      <p:ext uri="{BB962C8B-B14F-4D97-AF65-F5344CB8AC3E}">
        <p14:creationId xmlns:p14="http://schemas.microsoft.com/office/powerpoint/2010/main" val="1227917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DC64D-C72D-6FF7-73F5-B1CCC8AE955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3833EFD-8B93-83DA-D85E-75B8540EA3F8}"/>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pic>
        <p:nvPicPr>
          <p:cNvPr id="4" name="Picture 3">
            <a:extLst>
              <a:ext uri="{FF2B5EF4-FFF2-40B4-BE49-F238E27FC236}">
                <a16:creationId xmlns:a16="http://schemas.microsoft.com/office/drawing/2014/main" id="{4CEA8A33-8F4F-DDC1-D2D3-3B0B9C2920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35168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843F-3F25-B817-F43D-F9EAD45A6EB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D8D7508-FC07-40C8-A967-5D703B74C332}"/>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sp>
        <p:nvSpPr>
          <p:cNvPr id="3" name="TextBox 2">
            <a:extLst>
              <a:ext uri="{FF2B5EF4-FFF2-40B4-BE49-F238E27FC236}">
                <a16:creationId xmlns:a16="http://schemas.microsoft.com/office/drawing/2014/main" id="{A7CDF358-0499-8766-71C0-68EEE4F0F808}"/>
              </a:ext>
            </a:extLst>
          </p:cNvPr>
          <p:cNvSpPr txBox="1"/>
          <p:nvPr/>
        </p:nvSpPr>
        <p:spPr>
          <a:xfrm>
            <a:off x="648928" y="946321"/>
            <a:ext cx="10962967" cy="646331"/>
          </a:xfrm>
          <a:prstGeom prst="rect">
            <a:avLst/>
          </a:prstGeom>
          <a:noFill/>
        </p:spPr>
        <p:txBody>
          <a:bodyPr wrap="square">
            <a:spAutoFit/>
          </a:bodyPr>
          <a:lstStyle/>
          <a:p>
            <a:pPr algn="ctr"/>
            <a:r>
              <a:rPr lang="en-US" dirty="0">
                <a:solidFill>
                  <a:srgbClr val="FF0000"/>
                </a:solidFill>
                <a:latin typeface="Arial Black" panose="020B0A04020102020204" pitchFamily="34" charset="0"/>
              </a:rPr>
              <a:t>“From the Titanic dataset to the rocket of AI, statistics is the engine that transforms curiosity into discovery.”</a:t>
            </a:r>
          </a:p>
        </p:txBody>
      </p:sp>
      <p:pic>
        <p:nvPicPr>
          <p:cNvPr id="7" name="Picture 6">
            <a:extLst>
              <a:ext uri="{FF2B5EF4-FFF2-40B4-BE49-F238E27FC236}">
                <a16:creationId xmlns:a16="http://schemas.microsoft.com/office/drawing/2014/main" id="{5FB201D6-28BA-8D67-5492-6FABAA498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929" y="1779778"/>
            <a:ext cx="10962967" cy="4510549"/>
          </a:xfrm>
          <a:prstGeom prst="rect">
            <a:avLst/>
          </a:prstGeom>
        </p:spPr>
      </p:pic>
    </p:spTree>
    <p:extLst>
      <p:ext uri="{BB962C8B-B14F-4D97-AF65-F5344CB8AC3E}">
        <p14:creationId xmlns:p14="http://schemas.microsoft.com/office/powerpoint/2010/main" val="231546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7C179-C0EE-5D28-3638-F32D482D083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E65BFEE-42B8-989D-0D2E-01099BD58342}"/>
              </a:ext>
            </a:extLst>
          </p:cNvPr>
          <p:cNvSpPr txBox="1"/>
          <p:nvPr/>
        </p:nvSpPr>
        <p:spPr>
          <a:xfrm>
            <a:off x="2926189" y="235975"/>
            <a:ext cx="6339621" cy="523220"/>
          </a:xfrm>
          <a:prstGeom prst="rect">
            <a:avLst/>
          </a:prstGeom>
          <a:noFill/>
        </p:spPr>
        <p:txBody>
          <a:bodyPr wrap="none" rtlCol="0">
            <a:spAutoFit/>
          </a:bodyPr>
          <a:lstStyle/>
          <a:p>
            <a:r>
              <a:rPr lang="en-US" sz="2800" dirty="0">
                <a:latin typeface="Arial Black" panose="020B0A04020102020204" pitchFamily="34" charset="0"/>
              </a:rPr>
              <a:t>Statistics for Machine Learning</a:t>
            </a:r>
          </a:p>
        </p:txBody>
      </p:sp>
      <p:pic>
        <p:nvPicPr>
          <p:cNvPr id="4" name="Picture 3">
            <a:extLst>
              <a:ext uri="{FF2B5EF4-FFF2-40B4-BE49-F238E27FC236}">
                <a16:creationId xmlns:a16="http://schemas.microsoft.com/office/drawing/2014/main" id="{59B7BEBC-F0FE-DDC8-417B-245D069CD2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167167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TotalTime>
  <Words>3067</Words>
  <Application>Microsoft Office PowerPoint</Application>
  <PresentationFormat>Widescreen</PresentationFormat>
  <Paragraphs>303</Paragraphs>
  <Slides>29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Aptos</vt:lpstr>
      <vt:lpstr>Aptos Display</vt:lpstr>
      <vt:lpstr>Arial</vt:lpstr>
      <vt:lpstr>Arial Black</vt:lpstr>
      <vt:lpstr>Consolas</vt:lpstr>
      <vt:lpstr>Courier New</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2026-06-18T04:05:11Z</dcterms:created>
  <dcterms:modified xsi:type="dcterms:W3CDTF">2026-06-18T08:55:54Z</dcterms:modified>
</cp:coreProperties>
</file>